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algun Gothic"/>
        <a:ea typeface="Malgun Gothic"/>
        <a:cs typeface="Malgun Gothic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algun Gothic"/>
          <a:ea typeface="Malgun Gothic"/>
          <a:cs typeface="Malgun Gothic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Malgun Gothic"/>
        <a:buChar char="•"/>
        <a:defRPr sz="32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742950" indent="-285750" algn="l" defTabSz="457200" rtl="0" eaLnBrk="1" latinLnBrk="0" hangingPunct="1">
        <a:spcBef>
          <a:spcPct val="20000"/>
        </a:spcBef>
        <a:buFont typeface="Malgun Gothic"/>
        <a:buChar char="–"/>
        <a:defRPr sz="2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1143000" indent="-228600" algn="l" defTabSz="457200" rtl="0" eaLnBrk="1" latinLnBrk="0" hangingPunct="1">
        <a:spcBef>
          <a:spcPct val="20000"/>
        </a:spcBef>
        <a:buFont typeface="Malgun Gothic"/>
        <a:buChar char="•"/>
        <a:defRPr sz="24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600200" indent="-228600" algn="l" defTabSz="457200" rtl="0" eaLnBrk="1" latinLnBrk="0" hangingPunct="1">
        <a:spcBef>
          <a:spcPct val="20000"/>
        </a:spcBef>
        <a:buFont typeface="Malgun Gothic"/>
        <a:buChar char="–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2057400" indent="-228600" algn="l" defTabSz="457200" rtl="0" eaLnBrk="1" latinLnBrk="0" hangingPunct="1">
        <a:spcBef>
          <a:spcPct val="20000"/>
        </a:spcBef>
        <a:buFont typeface="Malgun Gothic"/>
        <a:buChar char="»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5146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9718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4290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886200" indent="-228600" algn="l" defTabSz="457200" rtl="0" eaLnBrk="1" latinLnBrk="0" hangingPunct="1">
        <a:spcBef>
          <a:spcPct val="20000"/>
        </a:spcBef>
        <a:buFont typeface="Malgun Gothic"/>
        <a:buChar char="•"/>
        <a:defRPr sz="20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algun Gothic"/>
          <a:ea typeface="Malgun Gothic"/>
          <a:cs typeface="Malgun Gothic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8.png"/><Relationship Id="rId4" Type="http://schemas.openxmlformats.org/officeDocument/2006/relationships/hyperlink" Target="https://e-boiler.se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e-boiler.se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e-boiler.se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e-boiler.se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e-boiler.se/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e-boiler.se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e-boiler.se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bzaoIhKtXHw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7.jpg"/><Relationship Id="rId4" Type="http://schemas.openxmlformats.org/officeDocument/2006/relationships/image" Target="../media/image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7.jpg"/><Relationship Id="rId4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8.png"/><Relationship Id="rId4" Type="http://schemas.openxmlformats.org/officeDocument/2006/relationships/image" Target="../media/image24.jpg"/><Relationship Id="rId5" Type="http://schemas.openxmlformats.org/officeDocument/2006/relationships/hyperlink" Target="https://www.youtube.com/watch?v=ZrSNmCcJCUI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58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"/>
            <a:ext cx="9144000" cy="504496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5270500"/>
            <a:ext cx="609600" cy="3175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511800"/>
            <a:ext cx="822960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전극형 보일러 기술자료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96000"/>
            <a:ext cx="82296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강준서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01 / 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저항식·전극식 보일러의</a:t>
            </a:r>
          </a:p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원리와 성능 비교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8161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457200" y="2006600"/>
            <a:ext cx="3860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전기보일러(저항식)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89200"/>
            <a:ext cx="3860800" cy="584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열선에 전류 → 발열 → 물로 열 전달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니크롬선 등을 이용한 간접가열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400" y="1816100"/>
            <a:ext cx="3962400" cy="13081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27600" y="2006600"/>
            <a:ext cx="3556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전극보일러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7600" y="2489200"/>
            <a:ext cx="3556000" cy="584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물속 전극 사이에 직접 전류 인가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물 자체의 저항을 이용한 직접가열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76600"/>
          <a:ext cx="8229600" cy="3009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0800"/>
                <a:gridCol w="3200400"/>
                <a:gridCol w="3708400"/>
              </a:tblGrid>
              <a:tr h="4699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전기보일러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전극보일러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효율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높음(일부 열손실)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매우 높음(거의 100%)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용량 규모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소·중용량(가정, 소형 건물)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중~대용량(산업, 지역난방)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제어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열선 개수·On/Off · 제한적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 조절 · 정밀하고 빠른 제어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부하 응답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느림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빠름(급격한 변동 대응 우수)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02 /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설치와 유지관리 관점의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27200"/>
          <a:ext cx="8229600" cy="401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0800"/>
                <a:gridCol w="3200400"/>
                <a:gridCol w="3708400"/>
              </a:tblGrid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전기보일러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전극보일러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7035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수질 관리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덜 민감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전기전도도 관리 필수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35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스케일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열선 부착 시 효율 저하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 스케일·부식 영향으로</a:t>
                      </a:r>
                    </a:p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수질 관리 중요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35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설치·구조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단순 · 설치 용이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복잡 · 전문 관리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35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비용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소용량은 높고 대용량부터 경제적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35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용도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가정용 난방·온수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산업 스팀·지역난방·대형시설</a:t>
                      </a:r>
                    </a:p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국방·원자력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56300"/>
            <a:ext cx="82296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가정·소규모: 구조가 단순한 저항식  |  대용량·산업용: 효율·제어가 우수한 전극식(수질 관리 필요)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03 /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저항식 전기보일러의 열손실 원인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9900"/>
            <a:ext cx="50038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01  열선 → 물 전달 손실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84400"/>
            <a:ext cx="5003800" cy="812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시스(sheath)·절연재를 거치며 접촉 열저항 발생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칼슘·마그네슘 스케일은 열전달을 줄이고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열선 온도만 과잉 상승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59100"/>
            <a:ext cx="50038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02  본체 방열 손실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03600"/>
            <a:ext cx="5003800" cy="812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탱크·배관·외벽의 복사·대류 손실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단열재 두께와 품질에 따라 손실 발생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51300"/>
            <a:ext cx="50038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03  대기·배기 손실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95800"/>
            <a:ext cx="5003800" cy="812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압력 릴리프 밸브·팽창탱크에서 증기나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온수가 방출될 때 일부 열손실 발생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43500"/>
            <a:ext cx="50038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04  전기적 손실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88000"/>
            <a:ext cx="5003800" cy="812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전원선·열선 사이 배선 저항의 손실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컨트롤러·센서·순환펌프 등 부속장치의 소비전력</a:t>
            </a:r>
          </a:p>
        </p:txBody>
      </p:sp>
      <p:pic>
        <p:nvPicPr>
          <p:cNvPr id="12" name="Picture 11" descr="p40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550" y="1689100"/>
            <a:ext cx="1955800" cy="1955800"/>
          </a:xfrm>
          <a:prstGeom prst="rect">
            <a:avLst/>
          </a:prstGeom>
        </p:spPr>
      </p:pic>
      <p:pic>
        <p:nvPicPr>
          <p:cNvPr id="13" name="Picture 12" descr="p40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300" y="3837457"/>
            <a:ext cx="2984500" cy="19008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02300" y="5994400"/>
            <a:ext cx="29845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원본 열선 사진 및 단면도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04 / 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6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저항식 보일러의 전압·시간비례 제어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41500"/>
            <a:ext cx="3962400" cy="433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41500"/>
            <a:ext cx="396240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33600"/>
            <a:ext cx="3505200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SCR 위상제어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49600"/>
            <a:ext cx="3505200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실효전압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4000500"/>
            <a:ext cx="3505200" cy="0"/>
          </a:xfrm>
          <a:prstGeom prst="line">
            <a:avLst/>
          </a:prstGeom>
          <a:ln w="8255">
            <a:solidFill>
              <a:srgbClr val="D5DDD5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85800" y="4318000"/>
            <a:ext cx="350520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사이리스터로 교류 파형 일부를 통과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실효전압을 연속 조절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산업용 정밀 히터에 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400" y="1841500"/>
            <a:ext cx="3962400" cy="4330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400" y="1841500"/>
            <a:ext cx="396240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3000" y="2133600"/>
            <a:ext cx="3505200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SSR 시간비례제어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3000" y="3149600"/>
            <a:ext cx="3505200" cy="635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평균출력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53000" y="4000500"/>
            <a:ext cx="3505200" cy="0"/>
          </a:xfrm>
          <a:prstGeom prst="line">
            <a:avLst/>
          </a:prstGeom>
          <a:ln w="8255">
            <a:solidFill>
              <a:srgbClr val="D5DDD5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953000" y="4318000"/>
            <a:ext cx="350520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열선을 초 단위 On/Off하여 평균출력 조절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예: 60% On → 평균 60% 출력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05 / 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난방·온수용에서 정밀제어 적용이</a:t>
            </a:r>
          </a:p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제한되는 이유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54200"/>
          <a:ext cx="8229600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1200"/>
                <a:gridCol w="62484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비용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SCR·SSR은 접촉기(마그네틱 스위치)보다 고가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필요성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난방·온수는 계단식 제어만으로도 필요한 정밀도 충족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발열체 특성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열선의 큰 열용량과 느린 반응이 정밀제어의 이점을 상쇄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품질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SCR 위상제어 시 고조파 등 전력품질 문제 가능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내구성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잦은 스위칭은 접점·소자의 수명에 불리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06 /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저항식·전극식 보일러의 장단점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16100"/>
            <a:ext cx="3962400" cy="20320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400" y="2032000"/>
            <a:ext cx="33020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저항식 | 장점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578100"/>
            <a:ext cx="35560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구조가 단순하고 설치가 쉬움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초기 비용이 낮음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가정·소규모 시설에 적합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유지보수가 상대적으로 쉬움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00" y="2044700"/>
            <a:ext cx="304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A3CF6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24400" y="18161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724400" y="2032000"/>
            <a:ext cx="3708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저항식 | 단점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2578100"/>
            <a:ext cx="39624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열선 → 물 전달 과정의 열손실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열선 개수 조합에 따른 계단식 제어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대용량 확장에 불리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열선 스케일 부착 시 효율 저하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4200" y="2044700"/>
            <a:ext cx="304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40894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57200" y="4305300"/>
            <a:ext cx="3708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전극식 | 장점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1400"/>
            <a:ext cx="39624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효율이 매우 높음 · 거의 100%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전압 조절로 정밀 출력 제어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빠른 부하 변동 대응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대용량·산업용에서 경제적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7000" y="4318000"/>
            <a:ext cx="304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24400" y="40894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4724400" y="4305300"/>
            <a:ext cx="3708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전극식 | 단점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400" y="4851400"/>
            <a:ext cx="396240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수질·전기전도도 관리 필수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 부식·스케일 관리 필요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소용량의 높은 초기 비용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전문 유지보수 인력 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4200" y="4318000"/>
            <a:ext cx="304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07 / 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물 자체를 가열하는 직접 저항가열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63700"/>
            <a:ext cx="8229600" cy="584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전극에 전압 인가 → 물의 전기저항 → 줄열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38400"/>
            <a:ext cx="822960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물속 전극 사이로 전류를 직접 흘려 물 자체의 전기저항으로 발열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별도 열선 없이 전극에 전압을 인가하고, 전류가 흐르는 물에서 줄열 발생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33782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457200" y="3556000"/>
            <a:ext cx="3962400" cy="520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거의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3700"/>
            <a:ext cx="39624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열전달 과정이 없어 높은 효율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24400" y="33782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4724400" y="3556000"/>
            <a:ext cx="3962400" cy="520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전압 조절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4203700"/>
            <a:ext cx="39624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공급전압 조절로 정밀 출력 제어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49657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57200" y="5143500"/>
            <a:ext cx="3962400" cy="520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전기전도도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91200"/>
            <a:ext cx="39624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발열량에 직접 영향 → 수질 관리 필수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24400" y="49657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724400" y="5143500"/>
            <a:ext cx="3962400" cy="520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대용량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5791200"/>
            <a:ext cx="39624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산업용 스팀·지역난방 등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큰 출력과 정밀 부하 대응에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08 / 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6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전극보일러의 운전 과정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전극 침수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230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2230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금속봉·판을 보일러 용기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내부 물에 침수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905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905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145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15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교류 인가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15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272415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고전압 교류 인가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양이온·음이온이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전기장 방향으로 이동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090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090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330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전해질 저항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2600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82600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이온이 녹아 있는 물의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전기저항에서 줄열 발생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275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275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515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785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60 Hz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785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진동·충돌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2785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692785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교류 주파수에 따라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이온이 극을 오가며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진동·충돌로 열 생산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09 / 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전극보일러의 3상 전극 구조</a:t>
            </a:r>
          </a:p>
        </p:txBody>
      </p:sp>
      <p:pic>
        <p:nvPicPr>
          <p:cNvPr id="4" name="Picture 3" descr="p4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9160"/>
            <a:ext cx="5334000" cy="35250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97600" y="1714500"/>
            <a:ext cx="248920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716"/>
              </a:lnSpc>
              <a:spcBef>
                <a:spcPts val="0"/>
              </a:spcBef>
              <a:spcAft>
                <a:spcPts val="0"/>
              </a:spcAft>
            </a:pPr>
            <a:r>
              <a:rPr sz="38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120°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7600" y="2616200"/>
            <a:ext cx="2489200" cy="647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3상 전원(R·S·T)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위상차로 인가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97600" y="3454400"/>
            <a:ext cx="2489200" cy="0"/>
          </a:xfrm>
          <a:prstGeom prst="line">
            <a:avLst/>
          </a:prstGeom>
          <a:ln w="6985">
            <a:solidFill>
              <a:srgbClr val="D5DDD5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197600" y="3581400"/>
            <a:ext cx="248920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물에 잠긴 3상 금속판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7600" y="4152900"/>
            <a:ext cx="2489200" cy="0"/>
          </a:xfrm>
          <a:prstGeom prst="line">
            <a:avLst/>
          </a:prstGeom>
          <a:ln w="6985">
            <a:solidFill>
              <a:srgbClr val="D5DDD5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197600" y="4279900"/>
            <a:ext cx="248920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인접 전극 사이에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전기장(전위차) 형성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7600" y="5118100"/>
            <a:ext cx="2489200" cy="0"/>
          </a:xfrm>
          <a:prstGeom prst="line">
            <a:avLst/>
          </a:prstGeom>
          <a:ln w="6985">
            <a:solidFill>
              <a:srgbClr val="D5DDD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6197600" y="5245100"/>
            <a:ext cx="248920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찬물 유입 → 온수 배출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80100"/>
            <a:ext cx="5334000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인접 전극 사이의 전위차로 전기장이 형성되는 구조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10 / 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전해질 이온이 전류와 저항을 만듭니다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03400"/>
            <a:ext cx="3175000" cy="40767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95500"/>
            <a:ext cx="271780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순수한 물은</a:t>
            </a:r>
          </a:p>
          <a:p>
            <a:pPr algn="l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절연체에</a:t>
            </a:r>
          </a:p>
          <a:p>
            <a:pPr algn="l">
              <a:lnSpc>
                <a:spcPts val="323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가까움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35400"/>
            <a:ext cx="2717800" cy="165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전해질 이온이 전류의 이동과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저항체 역할을 가능하게 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66900"/>
            <a:ext cx="4572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01  전해질 이온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13000"/>
            <a:ext cx="4572000" cy="156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전해질(탄산나트륨·인산염 등)을 첨가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양이온(Na⁺·Ca²⁺), 음이온(CO₃²⁻·PO₄³⁻) 형성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이온 농도(전도도, µS/cm)가 저항 R을 결정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전도도 ↑ → R ↓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4241800"/>
            <a:ext cx="45720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4114800" y="4483100"/>
            <a:ext cx="4572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02  전기장 속 이동·충돌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041900"/>
            <a:ext cx="4572000" cy="1168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양이온은 음극, 음이온은 양극 방향으로 가속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물 분자와 끊임없이 충돌하여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드리프트 속도 이상으로 가속되지 못함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11 / 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전류가 흐르는 물 전체에서 줄열 발생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5000" y="266700"/>
            <a:ext cx="4318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ko-KR">
                <a:solidFill>
                  <a:srgbClr val="A3CF6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9900"/>
            <a:ext cx="5257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58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 = I²Rt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4400" y="1816100"/>
            <a:ext cx="2692400" cy="876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A3CF60"/>
                </a:solidFill>
                <a:latin typeface="Malgun Gothic"/>
                <a:ea typeface="Malgun Gothic"/>
                <a:cs typeface="Malgun Gothic"/>
              </a:rPr>
              <a:t>Q 열량 · I 전류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A3CF60"/>
                </a:solidFill>
                <a:latin typeface="Malgun Gothic"/>
                <a:ea typeface="Malgun Gothic"/>
                <a:cs typeface="Malgun Gothic"/>
              </a:rPr>
              <a:t>R 저항 · t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33700"/>
            <a:ext cx="822960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충돌로 운동에너지가 분자의 무작위 진동, 즉 열에너지로 전환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전극 표면뿐 아니라 전류가 흐르는 물 전체 부피에서 동시에 발열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89400"/>
            <a:ext cx="3962400" cy="210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4305300"/>
            <a:ext cx="3556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직류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" y="4889500"/>
            <a:ext cx="3556000" cy="1092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이온이 한쪽으로 쌓여 전기분해 발생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불순물 발생·전극 부식 유발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400" y="4089400"/>
            <a:ext cx="3962400" cy="210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27600" y="4305300"/>
            <a:ext cx="35560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교류(60 Hz)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7600" y="4889500"/>
            <a:ext cx="3556000" cy="1092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극성을 빠르게 반전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왕복 진동과 발열 유지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전기분해 부작용 최소화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12 /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3상 교류의 위상과 전류 방향</a:t>
            </a:r>
          </a:p>
        </p:txBody>
      </p:sp>
      <p:pic>
        <p:nvPicPr>
          <p:cNvPr id="4" name="Picture 3" descr="p4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4426"/>
            <a:ext cx="5448300" cy="42768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24600" y="1689100"/>
            <a:ext cx="2362200" cy="698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736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120°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2565400"/>
            <a:ext cx="23622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R·S·T 세 파형은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서로 다른 타이밍으로 존재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3505200"/>
            <a:ext cx="2362200" cy="1028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어느 순간이든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하나는 가장 높고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하나는 가장 낮음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24600" y="4749800"/>
            <a:ext cx="2362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324600" y="4953000"/>
            <a:ext cx="2362200" cy="60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60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5702300"/>
            <a:ext cx="23622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t₁ → t₂ → t₃의 흐름이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1초에 60번 발생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13 /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6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발열량을 좌우하는 실제 설계변수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R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전도도 증가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230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2230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전해질 농도와 전도도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전도도 ↑ → R 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905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905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145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R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15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거리 L 증가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15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272415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 간 거리 L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거리 ↑ → R 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090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090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330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R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면적 A 증가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2600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82600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유효 접촉면적 A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면적 ↑ → R 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275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275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515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R 조절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785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785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침수 깊이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· 분사량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2785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692785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유효 저항 경로를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실시간으로 조절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5905500"/>
            <a:ext cx="8229600" cy="0"/>
          </a:xfrm>
          <a:prstGeom prst="line">
            <a:avLst/>
          </a:prstGeom>
          <a:ln w="8255">
            <a:solidFill>
              <a:srgbClr val="A3CF60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457200" y="6045200"/>
            <a:ext cx="8229600" cy="33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 = V² / R  |  전압 V 일정 → 침수 깊이·분사량으로 R 조절 → 필요한 출력 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14 / 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전극 간 거리·면적과 저항의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38300"/>
            <a:ext cx="3962400" cy="647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R = ρ × (L / A)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8700" y="2794000"/>
            <a:ext cx="2514600" cy="1943100"/>
          </a:xfrm>
          <a:prstGeom prst="rect">
            <a:avLst/>
          </a:prstGeom>
          <a:solidFill>
            <a:srgbClr val="F0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7100" y="2565400"/>
            <a:ext cx="101600" cy="2413000"/>
          </a:xfrm>
          <a:prstGeom prst="rect">
            <a:avLst/>
          </a:prstGeom>
          <a:solidFill>
            <a:srgbClr val="2447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43300" y="2565400"/>
            <a:ext cx="101600" cy="2413000"/>
          </a:xfrm>
          <a:prstGeom prst="rect">
            <a:avLst/>
          </a:prstGeom>
          <a:solidFill>
            <a:srgbClr val="2447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8800" y="2311400"/>
            <a:ext cx="914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전극판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2300" y="2311400"/>
            <a:ext cx="9144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전극판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05200"/>
            <a:ext cx="22860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전해질(물) 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4100" y="5219700"/>
            <a:ext cx="2463800" cy="0"/>
          </a:xfrm>
          <a:prstGeom prst="line">
            <a:avLst/>
          </a:prstGeom>
          <a:ln w="12700">
            <a:solidFill>
              <a:srgbClr val="356F4A"/>
            </a:solidFill>
            <a:tailEnd type="triangle" w="sm" len="sm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092200" y="5270500"/>
            <a:ext cx="23622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L · 전극 간 거리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900" y="3619500"/>
            <a:ext cx="2794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1739900"/>
            <a:ext cx="39624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ρ | 비저항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2260600"/>
            <a:ext cx="396240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전해질 농도 ↑ → ρ ↓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전도도 상승 · 저항 감소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400" y="3022600"/>
            <a:ext cx="39624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L | 전극 간 거리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3543300"/>
            <a:ext cx="396240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 사이 거리가 멀수록 저항 증가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400" y="4114800"/>
            <a:ext cx="39624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A | 전류가 통과하는 면적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400" y="4635500"/>
            <a:ext cx="396240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면적이 넓을수록 저항 감소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전극판형 설계로 A를 넓혀 저항을 낮춤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53100"/>
            <a:ext cx="8229600" cy="558800"/>
          </a:xfrm>
          <a:prstGeom prst="rect">
            <a:avLst/>
          </a:prstGeom>
          <a:solidFill>
            <a:srgbClr val="F0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300" y="5816600"/>
            <a:ext cx="7899400" cy="469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 표면 근처는 전류밀도가 높아 국부 발열·마모가 집중됨</a:t>
            </a:r>
          </a:p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→ 전극 표면적 확대 및 내식성 코팅 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15 /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발열량을 좌우하는</a:t>
            </a:r>
          </a:p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실제 설계변수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565400"/>
            <a:ext cx="3962400" cy="0"/>
          </a:xfrm>
          <a:prstGeom prst="line">
            <a:avLst/>
          </a:prstGeom>
          <a:ln w="8890">
            <a:solidFill>
              <a:srgbClr val="A3CF60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457200" y="2794000"/>
            <a:ext cx="396240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전도도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06800"/>
            <a:ext cx="3962400" cy="596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물의 전기저항을 결정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24400" y="2565400"/>
            <a:ext cx="3962400" cy="0"/>
          </a:xfrm>
          <a:prstGeom prst="line">
            <a:avLst/>
          </a:prstGeom>
          <a:ln w="8890">
            <a:solidFill>
              <a:srgbClr val="A3CF60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724400" y="2794000"/>
            <a:ext cx="396240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거리 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3606800"/>
            <a:ext cx="3962400" cy="596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전극 사이의 저항 경로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4572000"/>
            <a:ext cx="3962400" cy="0"/>
          </a:xfrm>
          <a:prstGeom prst="line">
            <a:avLst/>
          </a:prstGeom>
          <a:ln w="8890">
            <a:solidFill>
              <a:srgbClr val="A3CF60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457200" y="4800600"/>
            <a:ext cx="396240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면적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13400"/>
            <a:ext cx="3962400" cy="596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전류가 통과하는 유효 접촉면적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24400" y="4572000"/>
            <a:ext cx="3962400" cy="0"/>
          </a:xfrm>
          <a:prstGeom prst="line">
            <a:avLst/>
          </a:prstGeom>
          <a:ln w="8890">
            <a:solidFill>
              <a:srgbClr val="A3CF60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4724400" y="4800600"/>
            <a:ext cx="396240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접촉조건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5613400"/>
            <a:ext cx="3962400" cy="596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침수 깊이·분사량으로 운전 중 조절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16 /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Elpanneteknik · 회사 개요와 적용 분야</a:t>
            </a:r>
          </a:p>
        </p:txBody>
      </p:sp>
      <p:pic>
        <p:nvPicPr>
          <p:cNvPr id="4" name="Picture 3" descr="p50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4883"/>
            <a:ext cx="3505200" cy="16702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95800" y="1765300"/>
            <a:ext cx="4191000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Elpanneteknik Sweden 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95800" y="2374900"/>
            <a:ext cx="4191000" cy="1181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본사: 스웨덴 예테보리(Göteborg)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공장: 뉘셰핑(Nyköping)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고전압 전극보일러 전문 제조사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02100"/>
            <a:ext cx="8229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주요 사업 분야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711700"/>
            <a:ext cx="192405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57200" y="4927600"/>
            <a:ext cx="1924050" cy="749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지역난방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59050" y="4711700"/>
            <a:ext cx="192405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2559050" y="4927600"/>
            <a:ext cx="1924050" cy="749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산업용 열원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0900" y="4711700"/>
            <a:ext cx="192405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660900" y="4927600"/>
            <a:ext cx="1924050" cy="749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원자력발전소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열원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62750" y="4711700"/>
            <a:ext cx="192405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762750" y="4927600"/>
            <a:ext cx="1924050" cy="749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열저장·P2H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5727700"/>
            <a:ext cx="192405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열에너지 저장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전력망 주파수 조정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17 / 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8000" y="6565900"/>
            <a:ext cx="59563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  <a:hlinkClick r:id="rId4"/>
              </a:rPr>
              <a:t>출처: Elpanneteknik | https://e-boiler.se/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실제 기술 사례와 제조사 소개 성능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7653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457200" y="1981200"/>
            <a:ext cx="3962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링할스 원전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16200"/>
            <a:ext cx="39624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20 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43300"/>
            <a:ext cx="396240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ETSH35 전극증기보일러 공급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24400" y="17653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724400" y="1981200"/>
            <a:ext cx="3962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레닌그라드 원전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2616200"/>
            <a:ext cx="39624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4기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3543300"/>
            <a:ext cx="396240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고전압 전극보일러 커미셔닝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08500"/>
            <a:ext cx="2590800" cy="1739900"/>
          </a:xfrm>
          <a:prstGeom prst="rect">
            <a:avLst/>
          </a:prstGeom>
          <a:solidFill>
            <a:srgbClr val="F0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699000"/>
            <a:ext cx="22860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거의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461000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효율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76600" y="4508500"/>
            <a:ext cx="2590800" cy="1739900"/>
          </a:xfrm>
          <a:prstGeom prst="rect">
            <a:avLst/>
          </a:prstGeom>
          <a:solidFill>
            <a:srgbClr val="F0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699000"/>
            <a:ext cx="22860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30초 이내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461000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최소~최대부하 전환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0" y="4508500"/>
            <a:ext cx="2590800" cy="1739900"/>
          </a:xfrm>
          <a:prstGeom prst="rect">
            <a:avLst/>
          </a:prstGeom>
          <a:solidFill>
            <a:srgbClr val="F0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0" y="4699000"/>
            <a:ext cx="22860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3개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5461000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튜브형 중성점 전극과 상전극 사이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전류 유효면적으로 출력 결정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18 / 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8000" y="6565900"/>
            <a:ext cx="59563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온수보일러의 저전압·고전압 제품군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76400"/>
          <a:ext cx="8229600" cy="4610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0800"/>
                <a:gridCol w="3200400"/>
                <a:gridCol w="3708400"/>
              </a:tblGrid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저전압 온수보일러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고전압 온수보일러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방식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주로 엘리먼트(발열체)식</a:t>
                      </a:r>
                    </a:p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필요에 따라 전극식 선택 가능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전극식 · 직접가열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용량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18~6,000 kW</a:t>
                      </a:r>
                    </a:p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자료: 400~6,000 kW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4~60 MW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400~690 V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6~15 kV · 3상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최대 온도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120°C (초과 시</a:t>
                      </a:r>
                    </a:p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스팀보일러+열교환기 조합)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효율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99.9%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용도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소·중규모 산업 열원·건물 난방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지역난방·산업 열원</a:t>
                      </a:r>
                    </a:p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전력망 주파수 조정·열저장(P2H)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19 / 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8000" y="6565900"/>
            <a:ext cx="59563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고전압 온수보일러의</a:t>
            </a:r>
          </a:p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노출면적 제어와 충수·수질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17700"/>
            <a:ext cx="3962400" cy="19685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400" y="2133600"/>
            <a:ext cx="33020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고정 전극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679700"/>
            <a:ext cx="3556000" cy="1079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Y결선 상전극을 용기 천장에 설치</a:t>
            </a:r>
          </a:p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고정된 튜브 3개의 중성점 전극과 통전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7000" y="2146300"/>
            <a:ext cx="304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A3CF6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24400" y="19177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724400" y="2133600"/>
            <a:ext cx="3708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노출면적·출력 제어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2679700"/>
            <a:ext cx="3962400" cy="1079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절연 조절식 차폐판을 상하로 이동</a:t>
            </a:r>
          </a:p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 노출면적과 출력을 제어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4200" y="2146300"/>
            <a:ext cx="3048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43053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57200" y="4495800"/>
            <a:ext cx="3962400" cy="647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≤10 µS/cm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83200"/>
            <a:ext cx="3962400" cy="850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충수 시 탈염 처리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25°C 기준 · pH ≥7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24400" y="43053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724400" y="4495800"/>
            <a:ext cx="3962400" cy="647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pH 8.5~9.5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5283200"/>
            <a:ext cx="3962400" cy="850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인산삼나트륨(Na₃PO₄) 주입으로 조정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20 / 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8000" y="6565900"/>
            <a:ext cx="59563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증기보일러의 제품군과 침지형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76400"/>
            <a:ext cx="3962400" cy="10160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400" y="1854200"/>
            <a:ext cx="35560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전극보일러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298700"/>
            <a:ext cx="3556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6~14 kV / 6~60 MW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24400" y="16764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724400" y="1854200"/>
            <a:ext cx="35560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전기저항보일러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2298700"/>
            <a:ext cx="3556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380~690 V / 최대 6 MW</a:t>
            </a:r>
          </a:p>
        </p:txBody>
      </p:sp>
      <p:pic>
        <p:nvPicPr>
          <p:cNvPr id="10" name="Picture 9" descr="p65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54864"/>
            <a:ext cx="4343400" cy="23738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1600" y="3048000"/>
            <a:ext cx="35052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침지형 구조와 증기 발생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600" y="3606800"/>
            <a:ext cx="3505200" cy="181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외조·내조의 이중 용기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내조는 외조와 전기적으로 절연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물-전극 사이 옴저항으로 발열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순환량:증발량 ≈ 10:1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80100"/>
            <a:ext cx="82296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증기는 용기 상부에서 주 증기 밸브로 배출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21 / 52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8000" y="6565900"/>
            <a:ext cx="59563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  <a:hlinkClick r:id="rId4"/>
              </a:rPr>
              <a:t>출처: Elpanneteknik | https://e-boiler.se/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6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수위·증기압·전도도로</a:t>
            </a:r>
          </a:p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운전을 관리합니다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1500"/>
            <a:ext cx="3962400" cy="850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0~100%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95600"/>
            <a:ext cx="3962400" cy="774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내조 전극의 침수 접촉량을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수위·조절밸브로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400" y="1841500"/>
            <a:ext cx="3962400" cy="850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7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0.1% 미만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400" y="2895600"/>
            <a:ext cx="3962400" cy="774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열회수장치 적용 시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블로우다운 효율 손실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79900"/>
            <a:ext cx="2590800" cy="196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495800"/>
            <a:ext cx="2286000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증기압 초과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1435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증기압이 초과하면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출력 자동 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4279900"/>
            <a:ext cx="2590800" cy="196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4495800"/>
            <a:ext cx="2286000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전도도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51435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자동 표면 블로우다운으로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적정 전도도 유지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0" y="4279900"/>
            <a:ext cx="2590800" cy="196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4495800"/>
            <a:ext cx="2286000" cy="406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수질·전기 안정성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400" y="514350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탈염 급수·엄격한 전도도 관리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거품이나 아크가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거의 없다고 소개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22 / 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8000" y="6565900"/>
            <a:ext cx="59563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6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4000"/>
            <a:ext cx="82296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Elpanneteknik · 고전압 온수보일러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876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주요 사양으로 보는</a:t>
            </a:r>
          </a:p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고전압 온수보일러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1209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4–60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27178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" y="3200400"/>
            <a:ext cx="159385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용량 범위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2300" y="3695700"/>
            <a:ext cx="1593850" cy="0"/>
          </a:xfrm>
          <a:prstGeom prst="line">
            <a:avLst/>
          </a:prstGeom>
          <a:ln w="8255">
            <a:solidFill>
              <a:srgbClr val="D5DDD5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22300" y="3924300"/>
            <a:ext cx="159385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지역난방·산업 열원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전력망 조정·열저장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905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905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1450" y="21209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6–15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150" y="27178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3200400"/>
            <a:ext cx="159385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공급 전압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150" y="3695700"/>
            <a:ext cx="1593850" cy="0"/>
          </a:xfrm>
          <a:prstGeom prst="line">
            <a:avLst/>
          </a:prstGeom>
          <a:ln w="8255">
            <a:solidFill>
              <a:srgbClr val="D5DDD5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2724150" y="3924300"/>
            <a:ext cx="159385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3상 전원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Y결선 상전극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090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090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3300" y="21209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0" y="27178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°C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0" y="3200400"/>
            <a:ext cx="159385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최대 온도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26000" y="3695700"/>
            <a:ext cx="1593850" cy="0"/>
          </a:xfrm>
          <a:prstGeom prst="line">
            <a:avLst/>
          </a:prstGeom>
          <a:ln w="8255">
            <a:solidFill>
              <a:srgbClr val="D5DDD5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826000" y="3924300"/>
            <a:ext cx="159385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수명 최대 60년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275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275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5150" y="21209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99.9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7850" y="27178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7850" y="3200400"/>
            <a:ext cx="159385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효율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27850" y="3695700"/>
            <a:ext cx="1593850" cy="0"/>
          </a:xfrm>
          <a:prstGeom prst="line">
            <a:avLst/>
          </a:prstGeom>
          <a:ln w="8255">
            <a:solidFill>
              <a:srgbClr val="D5DDD5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6927850" y="3924300"/>
            <a:ext cx="159385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무오염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연료 취급 불필요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빠른 기동·정밀 제어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낮은 유지보수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5905500"/>
            <a:ext cx="8229600" cy="0"/>
          </a:xfrm>
          <a:prstGeom prst="line">
            <a:avLst/>
          </a:prstGeom>
          <a:ln w="8255">
            <a:solidFill>
              <a:srgbClr val="A3CF60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457200" y="6045200"/>
            <a:ext cx="21463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30초 이내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41600" y="6108700"/>
            <a:ext cx="60452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최소~최대부하 전환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23 / 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66700"/>
            <a:ext cx="82296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75807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Elpanneteknik · 고전압 온수보일러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전극 노출면적과 전도도로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출력을 조절합니다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43100"/>
            <a:ext cx="3962400" cy="18542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400" y="2171700"/>
            <a:ext cx="32639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Y결선·중성점 전극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705100"/>
            <a:ext cx="3530600" cy="800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상전극을 애자로 용기 천장에 설치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고정 튜브형 중성점 전극 3개와 통전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87800" y="2184400"/>
            <a:ext cx="2921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A3CF60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24400" y="1943100"/>
            <a:ext cx="3962400" cy="0"/>
          </a:xfrm>
          <a:prstGeom prst="line">
            <a:avLst/>
          </a:prstGeom>
          <a:ln w="11430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724400" y="2171700"/>
            <a:ext cx="3530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차폐판 이동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6600" y="2197100"/>
            <a:ext cx="3302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2705100"/>
            <a:ext cx="3962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절연 차폐판(control shield)을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공용 요크(yoke)로 상하 이동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유효 노출면적 조절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4165600"/>
            <a:ext cx="3962400" cy="0"/>
          </a:xfrm>
          <a:prstGeom prst="line">
            <a:avLst/>
          </a:prstGeom>
          <a:ln w="11430">
            <a:solidFill>
              <a:srgbClr val="356F4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457200" y="4406900"/>
            <a:ext cx="3530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노출면적과 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9400" y="4432300"/>
            <a:ext cx="3302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65700"/>
            <a:ext cx="3962400" cy="800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전극 완전 노출 → 최대출력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많이 차폐 → 출력 감소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24400" y="4165600"/>
            <a:ext cx="3962400" cy="0"/>
          </a:xfrm>
          <a:prstGeom prst="line">
            <a:avLst/>
          </a:prstGeom>
          <a:ln w="11430">
            <a:solidFill>
              <a:srgbClr val="356F4A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4724400" y="4406900"/>
            <a:ext cx="3530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473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수질·전도도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600" y="4432300"/>
            <a:ext cx="3302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356F4A"/>
                </a:solidFill>
                <a:latin typeface="Malgun Gothic"/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400" y="4940300"/>
            <a:ext cx="39624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출력 과다 → 물 교체·희석 → 전도도 ↓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3A4B42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출력 부족 → 약품 정량 주입 → 전도도 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24400" y="5626100"/>
            <a:ext cx="3962400" cy="0"/>
          </a:xfrm>
          <a:prstGeom prst="line">
            <a:avLst/>
          </a:prstGeom>
          <a:ln w="6350">
            <a:solidFill>
              <a:srgbClr val="D5DDD5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4724400" y="5765800"/>
            <a:ext cx="39624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75807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충수 ≤10 µS/cm (25°C), pH ≥7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lang="ko-KR">
                <a:solidFill>
                  <a:srgbClr val="758078"/>
                </a:solidFill>
                <a:latin typeface="Malgun Gothic"/>
                <a:latin typeface="Malgun Gothic"/>
                <a:ea typeface="Malgun Gothic"/>
                <a:cs typeface="Malgun Gothic"/>
              </a:rPr>
              <a:t>Na₃PO₄ 주입 후 pH 8.5~9.5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24 / 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고전압 온수 시스템의 구성과 운전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51000"/>
            <a:ext cx="8229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주요 구성설비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2298700"/>
            <a:ext cx="192405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457200" y="2425700"/>
            <a:ext cx="192405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30500"/>
            <a:ext cx="19240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탈염필터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59050" y="2298700"/>
            <a:ext cx="192405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2559050" y="2425700"/>
            <a:ext cx="192405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9050" y="2730500"/>
            <a:ext cx="19240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전극보일러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60900" y="2298700"/>
            <a:ext cx="192405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660900" y="2425700"/>
            <a:ext cx="192405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0900" y="2730500"/>
            <a:ext cx="19240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팽창탱크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62750" y="2298700"/>
            <a:ext cx="192405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762750" y="2425700"/>
            <a:ext cx="192405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2730500"/>
            <a:ext cx="192405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가압펌프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32893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57200" y="3416300"/>
            <a:ext cx="25908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21100"/>
            <a:ext cx="25908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순환펌프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76600" y="32893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3276600" y="3416300"/>
            <a:ext cx="25908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6600" y="3721100"/>
            <a:ext cx="25908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열교환기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0" y="32893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096000" y="3416300"/>
            <a:ext cx="25908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0" y="3721100"/>
            <a:ext cx="25908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냉각탱크(시료)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10100"/>
            <a:ext cx="3962400" cy="16510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400" y="4826000"/>
            <a:ext cx="33020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가압펌프 2대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400" y="5372100"/>
            <a:ext cx="35560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1대 예비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팽창탱크의 물을 공급해 운전압력 유지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24400" y="46101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4724400" y="4826000"/>
            <a:ext cx="3708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압력 상승 시 환수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4400" y="5372100"/>
            <a:ext cx="396240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압력이 계속 높아지면 오버플로밸브 개방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팽창탱크로 물을 되돌림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25 / 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78000" y="6565900"/>
            <a:ext cx="59563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  <a:hlinkClick r:id="rId3"/>
              </a:rPr>
              <a:t>출처: Elpanneteknik | https://e-boiler.se/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침지형 증기보일러의 운전 원리</a:t>
            </a:r>
          </a:p>
        </p:txBody>
      </p:sp>
      <p:pic>
        <p:nvPicPr>
          <p:cNvPr id="4" name="Picture 3" descr="p65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2209"/>
            <a:ext cx="4470400" cy="24432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2400" y="1689100"/>
            <a:ext cx="3175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2300" y="1651000"/>
            <a:ext cx="29845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급수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02300" y="2095500"/>
            <a:ext cx="298450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탈염·탈기수 → 외조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2400" y="2489200"/>
            <a:ext cx="3175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2300" y="2451100"/>
            <a:ext cx="29845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순환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2300" y="2895600"/>
            <a:ext cx="298450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펌프 2대 · 고장 시 자동 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2400" y="3289300"/>
            <a:ext cx="317500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02300" y="3251200"/>
            <a:ext cx="29845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출력 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2300" y="3695700"/>
            <a:ext cx="298450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내조 수위·밸브로 0~100% 조절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43942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57200" y="4572000"/>
            <a:ext cx="2590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전도도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67300"/>
            <a:ext cx="2590800" cy="78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자동 표면 블로우다운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열회수 적용 시 효율 손실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0.1% 미만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76600" y="43942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3276600" y="4572000"/>
            <a:ext cx="2590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전력망 연계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6600" y="5067300"/>
            <a:ext cx="2590800" cy="78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중성점 절연 설계로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상용 전력망에 직접 연계 가능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6000" y="43942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096000" y="4572000"/>
            <a:ext cx="2590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운전 안정성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5067300"/>
            <a:ext cx="2590800" cy="787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거품·아크가 적어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변압기·차단기 수명에 유리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원전 보조증기 신뢰성 강조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43600"/>
            <a:ext cx="8229600" cy="368300"/>
          </a:xfrm>
          <a:prstGeom prst="rect">
            <a:avLst/>
          </a:prstGeom>
          <a:solidFill>
            <a:srgbClr val="F0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6900" y="5994400"/>
            <a:ext cx="79502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탈기기 포함 급수탱크 → 급수펌프 → 전극증기보일러 → 순환펌프 → 분리기 → 소음기/보호케이지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26 / 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침지형·분사형 증기보일러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90700"/>
            <a:ext cx="34290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회사 측 비교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81300"/>
            <a:ext cx="3429000" cy="850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99.5%+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73500"/>
            <a:ext cx="3200400" cy="1066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침지형 증기 품질</a:t>
            </a:r>
          </a:p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높음(회사 측 비교 기준)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0" y="1765300"/>
          <a:ext cx="4572000" cy="441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/>
                <a:gridCol w="1333500"/>
                <a:gridCol w="13335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침지형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분사형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신뢰성·가용성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낮음~중간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정비 용이성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낮음~중간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그리드 연계성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증기 품질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(99.5%+)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증기 순도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7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27 / 52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6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납품 사례와 참고 제안 예시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16100"/>
            <a:ext cx="2590800" cy="443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16100"/>
            <a:ext cx="259080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2300" y="2057400"/>
            <a:ext cx="2260600" cy="673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Olkiluoto 3 원전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2895600"/>
            <a:ext cx="2260600" cy="66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2 ×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" y="3568700"/>
            <a:ext cx="22606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MW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300" y="4089400"/>
            <a:ext cx="226060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보조증기(gland steam)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2300" y="4762500"/>
            <a:ext cx="2260600" cy="0"/>
          </a:xfrm>
          <a:prstGeom prst="line">
            <a:avLst/>
          </a:prstGeom>
          <a:ln w="6985">
            <a:solidFill>
              <a:srgbClr val="D5DDD5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622300" y="4978400"/>
            <a:ext cx="2260600" cy="1104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10 kV · 12 bar(g)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192°C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증기량 46,000 kg/h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816100"/>
            <a:ext cx="2590800" cy="443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6600" y="1816100"/>
            <a:ext cx="259080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1700" y="2057400"/>
            <a:ext cx="2260600" cy="673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AstraZeneca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1700" y="2895600"/>
            <a:ext cx="2260600" cy="66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1700" y="3568700"/>
            <a:ext cx="22606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1700" y="4089400"/>
            <a:ext cx="226060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제약공정용 증기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41700" y="4762500"/>
            <a:ext cx="2260600" cy="0"/>
          </a:xfrm>
          <a:prstGeom prst="line">
            <a:avLst/>
          </a:prstGeom>
          <a:ln w="6985">
            <a:solidFill>
              <a:srgbClr val="D5DDD5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3441700" y="4978400"/>
            <a:ext cx="2260600" cy="1104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11 kV · 32 bar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설계 240°C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증기량 38,000 kg/h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0" y="1816100"/>
            <a:ext cx="2590800" cy="443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0" y="1816100"/>
            <a:ext cx="259080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1100" y="2057400"/>
            <a:ext cx="2260600" cy="673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ETSH10Mi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1100" y="2895600"/>
            <a:ext cx="2260600" cy="66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9.1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1100" y="3568700"/>
            <a:ext cx="22606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1100" y="4089400"/>
            <a:ext cx="226060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참고 제안 예시 · 세탁공장용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61100" y="4762500"/>
            <a:ext cx="2260600" cy="0"/>
          </a:xfrm>
          <a:prstGeom prst="line">
            <a:avLst/>
          </a:prstGeom>
          <a:ln w="6985">
            <a:solidFill>
              <a:srgbClr val="D5DDD5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261100" y="4978400"/>
            <a:ext cx="2260600" cy="1104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11 kV · 12 bar(g)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순증기량 13 t/h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직경 2.3 m × 높이 5.2 m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충수중량 약 14 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28 / 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급수탱크와 탈기기</a:t>
            </a:r>
          </a:p>
        </p:txBody>
      </p:sp>
      <p:pic>
        <p:nvPicPr>
          <p:cNvPr id="4" name="Picture 3" descr="p56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49" y="1676400"/>
            <a:ext cx="4506801" cy="260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0" y="1689100"/>
            <a:ext cx="33528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급수탱크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2222500"/>
            <a:ext cx="3352800" cy="1092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보일러 급수를 임시 저장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응축수와 보충수가 모인 뒤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급수펌프를 통해 본체로 공급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34000" y="3556000"/>
            <a:ext cx="3352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334000" y="3771900"/>
            <a:ext cx="33528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탈기기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4305300"/>
            <a:ext cx="3352800" cy="1130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급수의 용존산소(O₂)와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이산화탄소(CO₂)를 제거하여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보일러·배관의 산화부식 방지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48200"/>
            <a:ext cx="45085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통합 구성과 탈기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81600"/>
            <a:ext cx="4508500" cy="1092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두 설비는 탈기기 부착 급수탱크로 결합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탱크 상부 타워에 증기를 공급해 물을 가열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분리된 기체를 외부로 배출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29 / 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8000" y="6565900"/>
            <a:ext cx="59563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  <a:hlinkClick r:id="rId4"/>
              </a:rPr>
              <a:t>출처: https://www.youtube.com/watch?v=bzaoIhKtXHw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급수펌프의 역할과 운전 방식</a:t>
            </a:r>
          </a:p>
        </p:txBody>
      </p:sp>
      <p:pic>
        <p:nvPicPr>
          <p:cNvPr id="4" name="Picture 3" descr="p57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0079"/>
            <a:ext cx="4318000" cy="2398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81600" y="1714500"/>
            <a:ext cx="3505200" cy="736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768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토출압력 &gt;</a:t>
            </a:r>
          </a:p>
          <a:p>
            <a:pPr algn="l">
              <a:lnSpc>
                <a:spcPts val="2768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보일러 내부압력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1600" y="2717800"/>
            <a:ext cx="3505200" cy="157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급수탱크·탈기기의 물을 고온·고압 보일러로 공급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증발량을 보충하여 수위·안전 유지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배압을 극복해 공가열(Dry Firing)·과열·파손 방지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경우에 따라 수십~수백 bar 이상 형성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6863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57200" y="4902200"/>
            <a:ext cx="3708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On/Off · 단순 수위 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8300"/>
            <a:ext cx="396240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플로트에 따라 기동·정지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단순·저렴하나 찬물 유입의 열충격과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잦은 기동이 부담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24400" y="46863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4724400" y="4902200"/>
            <a:ext cx="3708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비례·변속 제어(VFD)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5448300"/>
            <a:ext cx="396240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증기 배출량·수위 감지로 회전수 조절</a:t>
            </a:r>
          </a:p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연속·완만한 급수로 열효율·수명 개선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30 / 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6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급수펌프의 종류와 적용 특성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30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30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다단 원심펌프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230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2230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여러 임펠러를 직렬 연결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단계적으로 승압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산업용에서 주로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905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5905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145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15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15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수평형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15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272415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대용량·고온·고압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유지보수 용이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설치면적이 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090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090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330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600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수직형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2600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82600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좁은 설치면적에 유리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소형~중형 패키지에 사용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2750" y="1816100"/>
            <a:ext cx="1924050" cy="384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2750" y="1816100"/>
            <a:ext cx="1924050" cy="508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5150" y="2082800"/>
            <a:ext cx="161925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7850" y="2692400"/>
            <a:ext cx="159385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7850" y="3149600"/>
            <a:ext cx="159385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용적식·왕복동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27850" y="3937000"/>
            <a:ext cx="1593850" cy="0"/>
          </a:xfrm>
          <a:prstGeom prst="line">
            <a:avLst/>
          </a:prstGeom>
          <a:ln w="7620">
            <a:solidFill>
              <a:srgbClr val="D5DDD5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6927850" y="4152900"/>
            <a:ext cx="1593850" cy="1308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피스톤·플런저로 토출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소유량·초고압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정밀유량 특수공정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31 / 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전극보일러 설비 외관</a:t>
            </a:r>
          </a:p>
        </p:txBody>
      </p:sp>
      <p:pic>
        <p:nvPicPr>
          <p:cNvPr id="4" name="Picture 3" descr="p58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98" y="1562100"/>
            <a:ext cx="8229203" cy="4540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32 /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순환펌프의 역할과 급수펌프 비교</a:t>
            </a:r>
          </a:p>
        </p:txBody>
      </p:sp>
      <p:pic>
        <p:nvPicPr>
          <p:cNvPr id="4" name="Picture 3" descr="p59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4513"/>
            <a:ext cx="3429000" cy="18868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67200" y="1701800"/>
            <a:ext cx="4419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계통의 물을 계속 순환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7200" y="2247900"/>
            <a:ext cx="44196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보일러·지역난방·HVAC 배관의 물이나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열매체유를 강제로 순환시켜 필요한 곳으로 열 전달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급수펌프는 외부의 새 물을 공급하고,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순환펌프는 이미 채워진 물을 계속 순환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886200"/>
          <a:ext cx="8229600" cy="2400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0800"/>
                <a:gridCol w="3454400"/>
                <a:gridCol w="3454400"/>
              </a:tblGrid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급수펌프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순환펌프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역할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외부의 물을 고압 보일러 내부로 주입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 가열된 물을 난방·배관으로 순환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 압력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매우 높음 · 보일러 내부압력 극복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비교적 낮음 · 배관 마찰저항 극복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 방식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수위에 따라 간헐적 또는 비례 운전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온도 유지를 위해 대개 연속 운전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33 /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도징 스테이션 · 정밀 약품 주입</a:t>
            </a:r>
          </a:p>
        </p:txBody>
      </p:sp>
      <p:pic>
        <p:nvPicPr>
          <p:cNvPr id="4" name="Picture 3" descr="p60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2796"/>
            <a:ext cx="3810000" cy="21008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24400" y="1689100"/>
            <a:ext cx="396240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정확하고 지속적인</a:t>
            </a:r>
          </a:p>
          <a:p>
            <a:pPr algn="l">
              <a:lnSpc>
                <a:spcPts val="266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정량 공급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400" y="2616200"/>
            <a:ext cx="3962400" cy="143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화학약품·첨가제를 농도·비율에 맞춰 공급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계량펌프 + 저장탱크 + 컨트롤러 + 센서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유량·pH·농도 감지로 투입량 자동 조절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445000"/>
            <a:ext cx="192405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57200" y="4660900"/>
            <a:ext cx="192405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수처리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8300"/>
            <a:ext cx="192405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염소·응집제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pH 조절제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59050" y="4445000"/>
            <a:ext cx="192405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2559050" y="4660900"/>
            <a:ext cx="192405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식음료·제약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9050" y="5448300"/>
            <a:ext cx="192405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특정 성분을 정확한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비율로 배합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0900" y="4445000"/>
            <a:ext cx="192405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4660900" y="4660900"/>
            <a:ext cx="192405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농업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0900" y="5448300"/>
            <a:ext cx="192405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비료·농약을 관수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계통에 정밀 혼합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62750" y="4445000"/>
            <a:ext cx="192405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6762750" y="4660900"/>
            <a:ext cx="1924050" cy="711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수영장·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산업공정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2750" y="5448300"/>
            <a:ext cx="1924050" cy="76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염소·소독제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세척액·첨가제·방부제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자동 주입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97600"/>
            <a:ext cx="82296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수동 계량보다 정확하고 일관된 지속 공급으로 품질 관리·효율 향상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34 / 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플래시탱크의 작동 원리와 주요 용도</a:t>
            </a:r>
          </a:p>
        </p:txBody>
      </p:sp>
      <p:pic>
        <p:nvPicPr>
          <p:cNvPr id="4" name="Picture 3" descr="p6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7505"/>
            <a:ext cx="3860800" cy="21186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24400" y="1701800"/>
            <a:ext cx="3962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감압 후 일부 액체가 즉시 증발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400" y="2260600"/>
            <a:ext cx="3962400" cy="154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해당 압력의 포화온도보다 온도가 높아져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일부가 즉시 증발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증기는 위쪽으로, 응축수는 아래쪽으로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분리·배출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0767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57200" y="41910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감압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974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고압 응축수 유입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7200" y="4381500"/>
            <a:ext cx="279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27400" y="40767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3327400" y="41910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플래시 증발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7400" y="45974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일부 액체가 증기로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400" y="4381500"/>
            <a:ext cx="279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7600" y="40767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197600" y="41910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상분리·회수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7600" y="45974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증기 / 응축수 분리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94300"/>
            <a:ext cx="39624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주요 사용처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4200"/>
            <a:ext cx="396240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스팀·보일러: 저압 증기 회수</a:t>
            </a:r>
          </a:p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냉동·냉각: 냉매의 감압 상분리</a:t>
            </a:r>
          </a:p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석유화학·지열발전: 감압 증기 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4400" y="5194300"/>
            <a:ext cx="39624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핵심 목적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400" y="5664200"/>
            <a:ext cx="396240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고압 응축수의 열에너지 재사용</a:t>
            </a:r>
          </a:p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증기·액체를 분리하여 각각 활용</a:t>
            </a:r>
          </a:p>
          <a:p>
            <a:pPr algn="l">
              <a:lnSpc>
                <a:spcPts val="175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급격한 압력변화·워터해머 문제 방지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35 / 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급수의 용존산소 제거와 운전 관리</a:t>
            </a:r>
          </a:p>
        </p:txBody>
      </p:sp>
      <p:pic>
        <p:nvPicPr>
          <p:cNvPr id="4" name="Picture 3" descr="p62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83699"/>
            <a:ext cx="4495800" cy="25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0" y="1663700"/>
            <a:ext cx="33528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01  기계적 탈기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2209800"/>
            <a:ext cx="203200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7–10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0" y="2476500"/>
            <a:ext cx="9525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ppb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3048000"/>
            <a:ext cx="33528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도달 수준 · 설계에 따라 상이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3429000"/>
            <a:ext cx="335280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스프레이·트레이형 탈기기로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증기 가열 후 용존가스 방출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57700"/>
            <a:ext cx="44958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02  화학적 산소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91100"/>
            <a:ext cx="4495800" cy="60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도징 스테이션에서 미량 약품을 주입하여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잔류산소 제거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4000" y="4406900"/>
            <a:ext cx="3352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5334000" y="4610100"/>
            <a:ext cx="3352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운전 중 관리 항목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0" y="5143500"/>
            <a:ext cx="3352800" cy="1181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DO를 ppb 단위로 실시간 측정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도징펌프 투입량 자동 조절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부하·운전조건별 탈기 성능 변화 확인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압력·배관 재질별 허용기준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16600"/>
            <a:ext cx="44958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약품 과다 투입 시 슬러지·부식 위험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정량 투입 관리가 중요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36 / 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산소 제거제별 특성과 사용 고려사항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11300"/>
          <a:ext cx="8229600" cy="4775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/>
                <a:gridCol w="4800600"/>
              </a:tblGrid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4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산소 제거제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4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8559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아황산나트륨</a:t>
                      </a:r>
                    </a:p>
                    <a:p>
                      <a:pPr algn="ctr">
                        <a:lnSpc>
                          <a:spcPts val="15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ko-KR">
                          <a:solidFill>
                            <a:srgbClr val="7580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Sodium Sulfite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저압 보일러에 일반적</a:t>
                      </a:r>
                    </a:p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TDS(물에 녹아 있는 염류) 증가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59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하이드라진</a:t>
                      </a:r>
                    </a:p>
                    <a:p>
                      <a:pPr algn="ctr">
                        <a:lnSpc>
                          <a:spcPts val="15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ko-KR">
                          <a:solidFill>
                            <a:srgbClr val="7580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Hydrazine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효과적이나 발암 우려로</a:t>
                      </a:r>
                    </a:p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감소 추세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59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카보하이드라진</a:t>
                      </a:r>
                    </a:p>
                    <a:p>
                      <a:pPr algn="ctr">
                        <a:lnSpc>
                          <a:spcPts val="15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ko-KR">
                          <a:solidFill>
                            <a:srgbClr val="7580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Carbohydrazide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하이드라진 대체 · 부산물 적음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59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DEHA</a:t>
                      </a:r>
                    </a:p>
                    <a:p>
                      <a:pPr algn="ctr">
                        <a:lnSpc>
                          <a:spcPts val="15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ko-KR">
                          <a:solidFill>
                            <a:srgbClr val="7580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Diethylhydroxylamine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휘발성이 있어 배관 전체 보호 가능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598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에리소르빈산</a:t>
                      </a:r>
                    </a:p>
                    <a:p>
                      <a:pPr algn="ctr">
                        <a:lnSpc>
                          <a:spcPts val="155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i="0" lang="ko-KR">
                          <a:solidFill>
                            <a:srgbClr val="75807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Erythorbic acid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식품·제약 등 비독성 요구 시 사용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37 / 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급수펌프 이중화와 자동 절체</a:t>
            </a:r>
          </a:p>
        </p:txBody>
      </p:sp>
      <p:pic>
        <p:nvPicPr>
          <p:cNvPr id="4" name="Picture 3" descr="p63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2039"/>
            <a:ext cx="3886200" cy="21585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1701800"/>
            <a:ext cx="38862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1 Duty + 1 Standby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2222500"/>
            <a:ext cx="3886200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2×100% · 평상시 1대 운전, 1대 대기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유지보수 중에도 운전 지속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060700"/>
            <a:ext cx="38862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2×50% 또는 3×50%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3581400"/>
            <a:ext cx="3886200" cy="533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부하 분산 · 고장 시 부분용량 유지</a:t>
            </a:r>
          </a:p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대용량 시스템에 유리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241800"/>
          <a:ext cx="8229600" cy="2095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9200"/>
                <a:gridCol w="5740400"/>
              </a:tblGrid>
              <a:tr h="4445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기동·절체 조건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41275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압력 저하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운전 중 토출압력이 설정치 이하로 하락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펌프 트립·고장 신호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모터 과부하·진동·베어링 온도 이상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드럼 레벨 저하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보일러 드럼 수위 하락 → 급수량 부족 판단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정기 순환 절체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균등 마모를 위해 주기적으로 Duty/Standby 교대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38 / 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증기보일러의 순환계통과 제어밸브</a:t>
            </a:r>
          </a:p>
        </p:txBody>
      </p:sp>
      <p:pic>
        <p:nvPicPr>
          <p:cNvPr id="4" name="Picture 3" descr="p64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45" y="1816100"/>
            <a:ext cx="5709708" cy="3162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77000" y="1905000"/>
            <a:ext cx="2209800" cy="66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보일러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순환펌프 회로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0" y="2768600"/>
            <a:ext cx="2209800" cy="774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물의 순환을 담당하는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펌프 계통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77000" y="3746500"/>
            <a:ext cx="2209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477000" y="3975100"/>
            <a:ext cx="2209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증기배관</a:t>
            </a:r>
          </a:p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제어밸브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4851400"/>
            <a:ext cx="2209800" cy="774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증기배관에 설치된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제어밸브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16600"/>
            <a:ext cx="5715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순환펌프 회로 + 증기배관 제어밸브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39 / 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보일러 내부 구조와 순환 경로</a:t>
            </a:r>
          </a:p>
        </p:txBody>
      </p:sp>
      <p:pic>
        <p:nvPicPr>
          <p:cNvPr id="4" name="Picture 3" descr="p65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3081"/>
            <a:ext cx="3962400" cy="2165636"/>
          </a:xfrm>
          <a:prstGeom prst="rect">
            <a:avLst/>
          </a:prstGeom>
        </p:spPr>
      </p:pic>
      <p:pic>
        <p:nvPicPr>
          <p:cNvPr id="5" name="Picture 4" descr="p65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641351"/>
            <a:ext cx="3962400" cy="22290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241800"/>
            <a:ext cx="8229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물의 순환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978400"/>
            <a:ext cx="2489200" cy="9779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" y="50927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외실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4991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물 공급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7200" y="5283200"/>
            <a:ext cx="279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27400" y="49784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3327400" y="50927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분배배관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7400" y="54991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이송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400" y="5283200"/>
            <a:ext cx="279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7600" y="49784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197600" y="50927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내실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7600" y="54991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 주변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40 / 52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케이지형 전극의 구조와 설계 목적</a:t>
            </a:r>
          </a:p>
        </p:txBody>
      </p:sp>
      <p:pic>
        <p:nvPicPr>
          <p:cNvPr id="4" name="Picture 3" descr="p65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19763"/>
            <a:ext cx="3048000" cy="1665873"/>
          </a:xfrm>
          <a:prstGeom prst="rect">
            <a:avLst/>
          </a:prstGeom>
        </p:spPr>
      </p:pic>
      <p:pic>
        <p:nvPicPr>
          <p:cNvPr id="5" name="Picture 4" descr="p65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01954"/>
            <a:ext cx="3048000" cy="17146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62400" y="1739900"/>
            <a:ext cx="47244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접촉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2400" y="2260600"/>
            <a:ext cx="4724400" cy="60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고정 침수 대신 펌프 유량·분사량으로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전극과 물의 유효 접촉량·저항을 빠르게 조절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2400" y="2857500"/>
            <a:ext cx="47244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마모 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2400" y="3378200"/>
            <a:ext cx="4724400" cy="60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흐르는 물이 전극을 스치며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국부 스케일·전식이 덜함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2400" y="3975100"/>
            <a:ext cx="47244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플래시탱크 연계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2400" y="4495800"/>
            <a:ext cx="4724400" cy="60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가열수·증기를 보내 상분리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대용량·산업용에 적합한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2400" y="5092700"/>
            <a:ext cx="47244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이중 용기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5613400"/>
            <a:ext cx="4724400" cy="60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고전압 내조와 외조 사이 절연 공간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누설전류·감전 방지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41 / 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기존 고정 구조와 케이지형 구조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78000"/>
          <a:ext cx="8229600" cy="3835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5600"/>
                <a:gridCol w="3302000"/>
                <a:gridCol w="33020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고정 구조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케이지형 구조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8255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 상태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물속 고정 침지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상부 케이지형 구조, 분사형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제어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침수 깊이 조절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유량·분사량 조절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물의 상태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탱크 전체 충수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하단 일부 충수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구조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동심 N상 파이프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이중 용기(내/외조)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918200"/>
            <a:ext cx="8229600" cy="381000"/>
          </a:xfrm>
          <a:prstGeom prst="rect">
            <a:avLst/>
          </a:prstGeom>
          <a:solidFill>
            <a:srgbClr val="F0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2300" y="5969000"/>
            <a:ext cx="78994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침수 깊이 조절과 유량·분사량 조절의 구조적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42 / 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보일러수 순환과 전도도</a:t>
            </a:r>
          </a:p>
        </p:txBody>
      </p:sp>
      <p:pic>
        <p:nvPicPr>
          <p:cNvPr id="4" name="Picture 3" descr="p67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16733"/>
            <a:ext cx="4622800" cy="25736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0" y="1727200"/>
            <a:ext cx="32004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순환 목적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47900"/>
            <a:ext cx="3200400" cy="1041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물속 염분을 고르게 분포시켜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증기 생산에 필요한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물의 전도성을 높임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3556000"/>
            <a:ext cx="32004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486400" y="3784600"/>
            <a:ext cx="32004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순환 목적 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305300"/>
            <a:ext cx="3200400" cy="825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전극의 증기 기포를 제거하여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전극의 작동조건 개선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283200"/>
            <a:ext cx="8229600" cy="10160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00" y="5461000"/>
            <a:ext cx="7823200" cy="749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보일러 출력은 내실 수위와 물의 전도도에 따라 달라짐</a:t>
            </a:r>
          </a:p>
          <a:p>
            <a:pPr algn="l">
              <a:lnSpc>
                <a:spcPts val="19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전도도는 염분 함량과 관련됨</a:t>
            </a:r>
          </a:p>
          <a:p>
            <a:pPr algn="l">
              <a:lnSpc>
                <a:spcPts val="1925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보일러수의 염분 함량을 높이려면 화학 약품을 첨가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43 / 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플래시탱크를 이용한 증기·물 분리</a:t>
            </a:r>
          </a:p>
        </p:txBody>
      </p:sp>
      <p:pic>
        <p:nvPicPr>
          <p:cNvPr id="4" name="Picture 3" descr="p68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9" y="1562100"/>
            <a:ext cx="6959580" cy="3822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15000"/>
            <a:ext cx="8229600" cy="609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내부 용기의 내용물을 플래시탱크로 보내고,</a:t>
            </a:r>
          </a:p>
          <a:p>
            <a:pPr algn="l">
              <a:lnSpc>
                <a:spcPts val="2152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플래시탱크에서 증기와 물을 분리합니다.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44 / 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출력 증가 · 내실 수위 상승</a:t>
            </a:r>
          </a:p>
        </p:txBody>
      </p:sp>
      <p:pic>
        <p:nvPicPr>
          <p:cNvPr id="4" name="Picture 3" descr="p69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44" y="1498600"/>
            <a:ext cx="6958710" cy="381000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57200" y="54610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457200" y="55753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밸브 동시 조작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17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순환 쪽 열기 / 용기 하단 닫기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7200" y="5765800"/>
            <a:ext cx="279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27400" y="54610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3327400" y="55753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내실 수위 상승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7400" y="59817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전극의 침수량 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5765800"/>
            <a:ext cx="279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97600" y="54610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197600" y="55753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출력 증가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7600" y="59817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45 / 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출력 감소 · 내실 수위 하강</a:t>
            </a:r>
          </a:p>
        </p:txBody>
      </p:sp>
      <p:pic>
        <p:nvPicPr>
          <p:cNvPr id="4" name="Picture 3" descr="p70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505527"/>
            <a:ext cx="6959600" cy="3796145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457200" y="54610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457200" y="55753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밸브 동시 조작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17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순환 쪽 닫기 / 용기 하단 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7200" y="5765800"/>
            <a:ext cx="279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27400" y="54610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3327400" y="55753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내실 수위 하강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7400" y="59817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전극의 침수량 감소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5765800"/>
            <a:ext cx="2794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97600" y="5461000"/>
            <a:ext cx="24892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197600" y="5575300"/>
            <a:ext cx="2286000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출력 감소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7600" y="5981700"/>
            <a:ext cx="2286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46 / 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증기 건도의 정의</a:t>
            </a:r>
          </a:p>
        </p:txBody>
      </p:sp>
      <p:pic>
        <p:nvPicPr>
          <p:cNvPr id="4" name="Picture 3" descr="p7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16870"/>
            <a:ext cx="3962400" cy="20780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00600" y="1739900"/>
            <a:ext cx="38862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증기 건도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2286000"/>
            <a:ext cx="3886200" cy="1054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포화증기 중 기체 상태 증기의 질량 비율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일부 액적(물방울)이 섞여 있을 수 있음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530600"/>
            <a:ext cx="3886200" cy="812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x = 증기 질량 /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(증기 질량 + 물방울 질량)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610100"/>
            <a:ext cx="396240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57200" y="4838700"/>
            <a:ext cx="3556000" cy="66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x =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02300"/>
            <a:ext cx="35560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완전 건포화증기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400" y="4610100"/>
            <a:ext cx="3962400" cy="167640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27600" y="4838700"/>
            <a:ext cx="3556000" cy="66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x = 0.95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7600" y="5702300"/>
            <a:ext cx="35560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증기 95% · 물 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47 / 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건도 저하의 영향과 주요 원인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01800"/>
          <a:ext cx="8229600" cy="3035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600"/>
                <a:gridCol w="6096000"/>
              </a:tblGrid>
              <a:tr h="4953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 항목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20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건도 저하 시 영향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열전달 효율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물방울 함량이 높으면 실제 사용 가능한 잠열 감소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터빈 블레이드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물방울의 충돌로 터빈 블레이드 침식 유발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공정 품질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제지·섬유·식품 등에서 제품 오염·불균일한 열처리 원인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배관 수격현상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과도한 수분 → 응축수 축적 → 수격현상 위험 증가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50673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457200" y="5283200"/>
            <a:ext cx="2590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Carryover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78500"/>
            <a:ext cx="25908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드럼 수위·TDS 과다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물방울이 증기와 함께 배관 유입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76600" y="50673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3276600" y="5283200"/>
            <a:ext cx="2590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Priming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600" y="5778500"/>
            <a:ext cx="25908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격렬한 비등으로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물이 증기와 함께 튀어 나감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6000" y="50673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6096000" y="5283200"/>
            <a:ext cx="2590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배관 방열 손실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5778500"/>
            <a:ext cx="2590800" cy="571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포화증기 이송 중 열손실</a:t>
            </a:r>
          </a:p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일부 재응축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48 /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고전압 설계에서 전극 간 거리가 큰 이유</a:t>
            </a:r>
          </a:p>
        </p:txBody>
      </p:sp>
      <p:pic>
        <p:nvPicPr>
          <p:cNvPr id="4" name="Picture 3" descr="p7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6533"/>
            <a:ext cx="3810000" cy="1998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24400" y="1778000"/>
            <a:ext cx="3962400" cy="88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고전압에서는</a:t>
            </a:r>
          </a:p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저항 설계가 중요합니다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4400" y="2908300"/>
            <a:ext cx="39624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R = ρ × (L / A)</a:t>
            </a:r>
          </a:p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P = V² /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4400" y="4178300"/>
            <a:ext cx="3962400" cy="990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6~15 kV에서 거리가 너무 짧으면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저항 R이 작아져</a:t>
            </a:r>
          </a:p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전류·전력이 커짐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4356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457200" y="5600700"/>
            <a:ext cx="2590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과전류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07100"/>
            <a:ext cx="25908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저항이 작아져 과전류 발생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76600" y="54356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3276600" y="5600700"/>
            <a:ext cx="2590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아크 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6600" y="6007100"/>
            <a:ext cx="25908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국부 전류밀도가 높아져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아크 발생 위험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6000" y="5435600"/>
            <a:ext cx="2590800" cy="0"/>
          </a:xfrm>
          <a:prstGeom prst="line">
            <a:avLst/>
          </a:prstGeom>
          <a:ln w="9525">
            <a:solidFill>
              <a:srgbClr val="356F4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096000" y="5600700"/>
            <a:ext cx="25908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설비 손상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6007100"/>
            <a:ext cx="2590800" cy="393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순간적인 큰 전류로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ko-KR">
                <a:solidFill>
                  <a:srgbClr val="3A4B42"/>
                </a:solidFill>
                <a:latin typeface="Malgun Gothic"/>
                <a:ea typeface="Malgun Gothic"/>
                <a:cs typeface="Malgun Gothic"/>
              </a:rPr>
              <a:t>전극·변압기 손상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49 / 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4000"/>
            <a:ext cx="558800" cy="30480"/>
          </a:xfrm>
          <a:prstGeom prst="rect">
            <a:avLst/>
          </a:prstGeom>
          <a:solidFill>
            <a:srgbClr val="356F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58800"/>
            <a:ext cx="8229600" cy="965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전압에 따른 전극 간 거리와 설계 고려사항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14500"/>
          <a:ext cx="8229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4800"/>
                <a:gridCol w="1409700"/>
                <a:gridCol w="1917700"/>
                <a:gridCol w="3327400"/>
              </a:tblGrid>
              <a:tr h="5334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전압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 간 거리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8255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</a:tr>
              <a:tr h="11049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가정용·저전압</a:t>
                      </a:r>
                    </a:p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전극보일러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220~690 V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매우 가까움</a:t>
                      </a:r>
                    </a:p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(수 cm)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충분한 전류를 얻기 위해</a:t>
                      </a:r>
                    </a:p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거리·저항을 작게 해야 함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5080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04900"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i="0" lang="ko-KR">
                          <a:solidFill>
                            <a:srgbClr val="24473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Elpanneteknik</a:t>
                      </a:r>
                    </a:p>
                    <a:p>
                      <a:pPr algn="ctr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고전압 보일러</a:t>
                      </a:r>
                    </a:p>
                  </a:txBody>
                  <a:tcPr marL="127000" marR="127000" marT="76200" marB="76200" anchor="ctr">
                    <a:lnL w="8255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0F4E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6~15 kV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상대적으로 멂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5080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저항을 키워 전류를</a:t>
                      </a:r>
                    </a:p>
                    <a:p>
                      <a:pPr algn="l">
                        <a:lnSpc>
                          <a:spcPts val="182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0" i="0" lang="ko-KR">
                          <a:solidFill>
                            <a:srgbClr val="3A4B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적정 수준으로 맞춤</a:t>
                      </a:r>
                    </a:p>
                  </a:txBody>
                  <a:tcPr marL="127000" marR="127000" marT="76200" marB="76200" anchor="ctr">
                    <a:lnL w="5080" cap="flat" cmpd="sng" algn="ctr">
                      <a:solidFill>
                        <a:srgbClr val="000000"/>
                      </a:solidFill>
                      <a:prstDash val="solid"/>
                    </a:lnL>
                    <a:lnR w="8255" cap="flat" cmpd="sng" algn="ctr">
                      <a:solidFill>
                        <a:srgbClr val="000000"/>
                      </a:solidFill>
                      <a:prstDash val="solid"/>
                    </a:lnR>
                    <a:lnT w="5080" cap="flat" cmpd="sng" algn="ctr">
                      <a:solidFill>
                        <a:srgbClr val="000000"/>
                      </a:solidFill>
                      <a:prstDash val="solid"/>
                    </a:lnT>
                    <a:lnB w="825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26000"/>
            <a:ext cx="8229600" cy="482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ko-KR">
                <a:solidFill>
                  <a:srgbClr val="244738"/>
                </a:solidFill>
                <a:latin typeface="Malgun Gothic"/>
                <a:ea typeface="Malgun Gothic"/>
                <a:cs typeface="Malgun Gothic"/>
              </a:rPr>
              <a:t>고전압에 맞춰 저항값을 적절한 수준으로 맞추기 위한 네 가지 고려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5499100"/>
            <a:ext cx="192405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457200" y="5727700"/>
            <a:ext cx="192405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전압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59050" y="5499100"/>
            <a:ext cx="192405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2559050" y="5727700"/>
            <a:ext cx="192405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거리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0900" y="5499100"/>
            <a:ext cx="192405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4660900" y="5727700"/>
            <a:ext cx="192405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전도도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62750" y="5499100"/>
            <a:ext cx="1924050" cy="0"/>
          </a:xfrm>
          <a:prstGeom prst="line">
            <a:avLst/>
          </a:prstGeom>
          <a:ln w="10160">
            <a:solidFill>
              <a:srgbClr val="356F4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762750" y="5727700"/>
            <a:ext cx="1924050" cy="546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lang="ko-KR">
                <a:solidFill>
                  <a:srgbClr val="356F4A"/>
                </a:solidFill>
                <a:latin typeface="Malgun Gothic"/>
                <a:ea typeface="Malgun Gothic"/>
                <a:cs typeface="Malgun Gothic"/>
              </a:rPr>
              <a:t>접촉면적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50 / 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E3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df73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759" y="0"/>
            <a:ext cx="3979241" cy="6426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06400"/>
            <a:ext cx="4191000" cy="31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A3CF60"/>
                </a:solidFill>
                <a:latin typeface="Malgun Gothic"/>
                <a:latin typeface="Malgun Gothic"/>
                <a:ea typeface="Malgun Gothic"/>
                <a:cs typeface="Malgun Gothic"/>
              </a:rPr>
              <a:t>VAPEC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39800"/>
            <a:ext cx="838200" cy="0"/>
          </a:xfrm>
          <a:prstGeom prst="line">
            <a:avLst/>
          </a:prstGeom>
          <a:ln w="27940">
            <a:solidFill>
              <a:srgbClr val="A3CF60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457200" y="1333500"/>
            <a:ext cx="4419600" cy="1346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중전압 분사형</a:t>
            </a:r>
          </a:p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전극보일러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44800"/>
            <a:ext cx="4419600" cy="368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CO₂ 무배출 증기 생산용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40200"/>
            <a:ext cx="4191000" cy="292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A3CF60"/>
                </a:solidFill>
                <a:latin typeface="Malgun Gothic"/>
                <a:latin typeface="Malgun Gothic"/>
                <a:ea typeface="Malgun Gothic"/>
                <a:cs typeface="Malgun Gothic"/>
              </a:rPr>
              <a:t>대당 최대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700" y="4432300"/>
            <a:ext cx="2298700" cy="1282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94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8000" y="5092700"/>
            <a:ext cx="1270000" cy="5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lang="ko-KR">
                <a:solidFill>
                  <a:srgbClr val="FFFFFF"/>
                </a:solidFill>
                <a:latin typeface="Malgun Gothic"/>
                <a:latin typeface="Malgun Gothic"/>
                <a:ea typeface="Malgun Gothic"/>
                <a:cs typeface="Malgun Gothic"/>
              </a:rPr>
              <a:t>MW</a:t>
            </a:r>
          </a:p>
        </p:txBody>
      </p:sp>
      <p:pic>
        <p:nvPicPr>
          <p:cNvPr id="10" name="Picture 9" descr="p73_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3620930"/>
            <a:ext cx="1778000" cy="21307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51 / 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8000" y="6565900"/>
            <a:ext cx="59563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  <a:hlinkClick r:id="rId5"/>
              </a:rPr>
              <a:t>출처: https://www.youtube.com/watch?v=ZrSNmCcJCUI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774700"/>
            <a:ext cx="838200" cy="38100"/>
          </a:xfrm>
          <a:prstGeom prst="rect">
            <a:avLst/>
          </a:prstGeom>
          <a:solidFill>
            <a:srgbClr val="A3CF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917700"/>
            <a:ext cx="8229600" cy="977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655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lang="ko-KR">
                <a:solidFill>
                  <a:srgbClr val="A3CF60"/>
                </a:solidFill>
                <a:latin typeface="Malgun Gothic"/>
                <a:ea typeface="Malgun Gothic"/>
                <a:cs typeface="Malgun Gothic"/>
              </a:rPr>
              <a:t>강준서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5346700"/>
            <a:ext cx="8229600" cy="0"/>
          </a:xfrm>
          <a:prstGeom prst="line">
            <a:avLst/>
          </a:prstGeom>
          <a:ln w="7620">
            <a:solidFill>
              <a:srgbClr val="A3CF60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457200" y="563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lang="ko-KR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전극형 보일러 기술자료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26200"/>
            <a:ext cx="9144000" cy="431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477000"/>
            <a:ext cx="1214120" cy="3631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74000" y="6553200"/>
            <a:ext cx="8128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ko-KR">
                <a:solidFill>
                  <a:srgbClr val="758078"/>
                </a:solidFill>
                <a:latin typeface="Malgun Gothic"/>
                <a:ea typeface="Malgun Gothic"/>
                <a:cs typeface="Malgun Gothic"/>
              </a:rPr>
              <a:t>52 / 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8078"/>
      </a:hlink>
      <a:folHlink>
        <a:srgbClr val="758078"/>
      </a:folHlink>
    </a:clrScheme>
    <a:fontScheme name="Office">
      <a:maj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ajorFont>
      <a:minorFont>
        <a:latin typeface="Malgun Gothic"/>
        <a:ea typeface="Malgun Gothic"/>
        <a:cs typeface="Malgun Gothic"/>
        <a:font script="Jpan" typeface="Malgun Gothic"/>
        <a:font script="Hang" typeface="Malgun Gothic"/>
        <a:font script="Hans" typeface="Malgun Gothic"/>
        <a:font script="Hant" typeface="Malgun Gothic"/>
        <a:font script="Arab" typeface="Malgun Gothic"/>
        <a:font script="Hebr" typeface="Malgun Gothic"/>
        <a:font script="Thai" typeface="Malgun Gothic"/>
        <a:font script="Ethi" typeface="Malgun Gothic"/>
        <a:font script="Beng" typeface="Malgun Gothic"/>
        <a:font script="Gujr" typeface="Malgun Gothic"/>
        <a:font script="Khmr" typeface="Malgun Gothic"/>
        <a:font script="Knda" typeface="Malgun Gothic"/>
        <a:font script="Guru" typeface="Malgun Gothic"/>
        <a:font script="Cans" typeface="Malgun Gothic"/>
        <a:font script="Cher" typeface="Malgun Gothic"/>
        <a:font script="Yiii" typeface="Malgun Gothic"/>
        <a:font script="Tibt" typeface="Malgun Gothic"/>
        <a:font script="Thaa" typeface="Malgun Gothic"/>
        <a:font script="Deva" typeface="Malgun Gothic"/>
        <a:font script="Telu" typeface="Malgun Gothic"/>
        <a:font script="Taml" typeface="Malgun Gothic"/>
        <a:font script="Syrc" typeface="Malgun Gothic"/>
        <a:font script="Orya" typeface="Malgun Gothic"/>
        <a:font script="Mlym" typeface="Malgun Gothic"/>
        <a:font script="Laoo" typeface="Malgun Gothic"/>
        <a:font script="Sinh" typeface="Malgun Gothic"/>
        <a:font script="Mong" typeface="Malgun Gothic"/>
        <a:font script="Viet" typeface="Malgun Gothic"/>
        <a:font script="Uigh" typeface="Malgun Gothic"/>
        <a:font script="Geor" typeface="Malgun 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KITECH — Electrode Boiler Technical Presentation</dc:title>
  <dc:subject>Redesigned user section: PDF pages 38–74 only. Editable text, shapes and tables. No speaker notes.</dc:subject>
  <dc:creator>강준서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