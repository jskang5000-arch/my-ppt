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Malgun Gothic"/>
        <a:ea typeface="Malgun Gothic"/>
        <a:cs typeface="Malgun Gothic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Malgun Gothic"/>
        <a:ea typeface="Malgun Gothic"/>
        <a:cs typeface="Malgun Gothic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Malgun Gothic"/>
        <a:ea typeface="Malgun Gothic"/>
        <a:cs typeface="Malgun Gothic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Malgun Gothic"/>
        <a:ea typeface="Malgun Gothic"/>
        <a:cs typeface="Malgun Gothic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Malgun Gothic"/>
        <a:ea typeface="Malgun Gothic"/>
        <a:cs typeface="Malgun Gothic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Malgun Gothic"/>
        <a:ea typeface="Malgun Gothic"/>
        <a:cs typeface="Malgun Gothic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Malgun Gothic"/>
        <a:ea typeface="Malgun Gothic"/>
        <a:cs typeface="Malgun Gothic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Malgun Gothic"/>
        <a:ea typeface="Malgun Gothic"/>
        <a:cs typeface="Malgun Gothic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Malgun Gothic"/>
        <a:ea typeface="Malgun Gothic"/>
        <a:cs typeface="Malgun Gothic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Malgun Gothic"/>
          <a:ea typeface="Malgun Gothic"/>
          <a:cs typeface="Malgun Gothic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Malgun Gothic"/>
        <a:buChar char="•"/>
        <a:defRPr sz="3200" kern="1200">
          <a:solidFill>
            <a:schemeClr val="tx1"/>
          </a:solidFill>
          <a:latin typeface="Malgun Gothic"/>
          <a:ea typeface="Malgun Gothic"/>
          <a:cs typeface="Malgun Gothic"/>
        </a:defRPr>
      </a:lvl1pPr>
      <a:lvl2pPr marL="742950" indent="-285750" algn="l" defTabSz="457200" rtl="0" eaLnBrk="1" latinLnBrk="0" hangingPunct="1">
        <a:spcBef>
          <a:spcPct val="20000"/>
        </a:spcBef>
        <a:buFont typeface="Malgun Gothic"/>
        <a:buChar char="–"/>
        <a:defRPr sz="2800" kern="1200">
          <a:solidFill>
            <a:schemeClr val="tx1"/>
          </a:solidFill>
          <a:latin typeface="Malgun Gothic"/>
          <a:ea typeface="Malgun Gothic"/>
          <a:cs typeface="Malgun Gothic"/>
        </a:defRPr>
      </a:lvl2pPr>
      <a:lvl3pPr marL="1143000" indent="-228600" algn="l" defTabSz="457200" rtl="0" eaLnBrk="1" latinLnBrk="0" hangingPunct="1">
        <a:spcBef>
          <a:spcPct val="20000"/>
        </a:spcBef>
        <a:buFont typeface="Malgun Gothic"/>
        <a:buChar char="•"/>
        <a:defRPr sz="2400" kern="1200">
          <a:solidFill>
            <a:schemeClr val="tx1"/>
          </a:solidFill>
          <a:latin typeface="Malgun Gothic"/>
          <a:ea typeface="Malgun Gothic"/>
          <a:cs typeface="Malgun Gothic"/>
        </a:defRPr>
      </a:lvl3pPr>
      <a:lvl4pPr marL="1600200" indent="-228600" algn="l" defTabSz="457200" rtl="0" eaLnBrk="1" latinLnBrk="0" hangingPunct="1">
        <a:spcBef>
          <a:spcPct val="20000"/>
        </a:spcBef>
        <a:buFont typeface="Malgun Gothic"/>
        <a:buChar char="–"/>
        <a:defRPr sz="2000" kern="1200">
          <a:solidFill>
            <a:schemeClr val="tx1"/>
          </a:solidFill>
          <a:latin typeface="Malgun Gothic"/>
          <a:ea typeface="Malgun Gothic"/>
          <a:cs typeface="Malgun Gothic"/>
        </a:defRPr>
      </a:lvl4pPr>
      <a:lvl5pPr marL="2057400" indent="-228600" algn="l" defTabSz="457200" rtl="0" eaLnBrk="1" latinLnBrk="0" hangingPunct="1">
        <a:spcBef>
          <a:spcPct val="20000"/>
        </a:spcBef>
        <a:buFont typeface="Malgun Gothic"/>
        <a:buChar char="»"/>
        <a:defRPr sz="2000" kern="1200">
          <a:solidFill>
            <a:schemeClr val="tx1"/>
          </a:solidFill>
          <a:latin typeface="Malgun Gothic"/>
          <a:ea typeface="Malgun Gothic"/>
          <a:cs typeface="Malgun Gothic"/>
        </a:defRPr>
      </a:lvl5pPr>
      <a:lvl6pPr marL="2514600" indent="-228600" algn="l" defTabSz="457200" rtl="0" eaLnBrk="1" latinLnBrk="0" hangingPunct="1">
        <a:spcBef>
          <a:spcPct val="20000"/>
        </a:spcBef>
        <a:buFont typeface="Malgun Gothic"/>
        <a:buChar char="•"/>
        <a:defRPr sz="2000" kern="1200">
          <a:solidFill>
            <a:schemeClr val="tx1"/>
          </a:solidFill>
          <a:latin typeface="Malgun Gothic"/>
          <a:ea typeface="Malgun Gothic"/>
          <a:cs typeface="Malgun Gothic"/>
        </a:defRPr>
      </a:lvl6pPr>
      <a:lvl7pPr marL="2971800" indent="-228600" algn="l" defTabSz="457200" rtl="0" eaLnBrk="1" latinLnBrk="0" hangingPunct="1">
        <a:spcBef>
          <a:spcPct val="20000"/>
        </a:spcBef>
        <a:buFont typeface="Malgun Gothic"/>
        <a:buChar char="•"/>
        <a:defRPr sz="2000" kern="1200">
          <a:solidFill>
            <a:schemeClr val="tx1"/>
          </a:solidFill>
          <a:latin typeface="Malgun Gothic"/>
          <a:ea typeface="Malgun Gothic"/>
          <a:cs typeface="Malgun Gothic"/>
        </a:defRPr>
      </a:lvl7pPr>
      <a:lvl8pPr marL="3429000" indent="-228600" algn="l" defTabSz="457200" rtl="0" eaLnBrk="1" latinLnBrk="0" hangingPunct="1">
        <a:spcBef>
          <a:spcPct val="20000"/>
        </a:spcBef>
        <a:buFont typeface="Malgun Gothic"/>
        <a:buChar char="•"/>
        <a:defRPr sz="2000" kern="1200">
          <a:solidFill>
            <a:schemeClr val="tx1"/>
          </a:solidFill>
          <a:latin typeface="Malgun Gothic"/>
          <a:ea typeface="Malgun Gothic"/>
          <a:cs typeface="Malgun Gothic"/>
        </a:defRPr>
      </a:lvl8pPr>
      <a:lvl9pPr marL="3886200" indent="-228600" algn="l" defTabSz="457200" rtl="0" eaLnBrk="1" latinLnBrk="0" hangingPunct="1">
        <a:spcBef>
          <a:spcPct val="20000"/>
        </a:spcBef>
        <a:buFont typeface="Malgun Gothic"/>
        <a:buChar char="•"/>
        <a:defRPr sz="2000" kern="1200">
          <a:solidFill>
            <a:schemeClr val="tx1"/>
          </a:solidFill>
          <a:latin typeface="Malgun Gothic"/>
          <a:ea typeface="Malgun Gothic"/>
          <a:cs typeface="Malgun Gothic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Malgun Gothic"/>
          <a:ea typeface="Malgun Gothic"/>
          <a:cs typeface="Malgun Gothic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Malgun Gothic"/>
          <a:ea typeface="Malgun Gothic"/>
          <a:cs typeface="Malgun Gothic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Malgun Gothic"/>
          <a:ea typeface="Malgun Gothic"/>
          <a:cs typeface="Malgun Gothic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Malgun Gothic"/>
          <a:ea typeface="Malgun Gothic"/>
          <a:cs typeface="Malgun Gothic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Malgun Gothic"/>
          <a:ea typeface="Malgun Gothic"/>
          <a:cs typeface="Malgun Gothic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Malgun Gothic"/>
          <a:ea typeface="Malgun Gothic"/>
          <a:cs typeface="Malgun Gothic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Malgun Gothic"/>
          <a:ea typeface="Malgun Gothic"/>
          <a:cs typeface="Malgun Gothic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Malgun Gothic"/>
          <a:ea typeface="Malgun Gothic"/>
          <a:cs typeface="Malgun Gothic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Malgun Gothic"/>
          <a:ea typeface="Malgun Gothic"/>
          <a:cs typeface="Malgun Gothic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E3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df73_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4759" y="0"/>
            <a:ext cx="3979241" cy="6426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06400"/>
            <a:ext cx="4191000" cy="317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A3CF60"/>
                </a:solidFill>
                <a:latin typeface="Malgun Gothic"/>
                <a:latin typeface="Malgun Gothic"/>
                <a:ea typeface="Malgun Gothic"/>
                <a:cs typeface="Malgun Gothic"/>
              </a:rPr>
              <a:t>VAPEC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39800"/>
            <a:ext cx="838200" cy="0"/>
          </a:xfrm>
          <a:prstGeom prst="line">
            <a:avLst/>
          </a:prstGeom>
          <a:ln w="27940">
            <a:solidFill>
              <a:srgbClr val="A3CF60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457200" y="1333500"/>
            <a:ext cx="4419600" cy="1346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lang="ko-KR">
                <a:solidFill>
                  <a:srgbClr val="FFFFFF"/>
                </a:solidFill>
                <a:latin typeface="Malgun Gothic"/>
                <a:latin typeface="Malgun Gothic"/>
                <a:ea typeface="Malgun Gothic"/>
                <a:cs typeface="Malgun Gothic"/>
              </a:rPr>
              <a:t>중전압 분사형</a:t>
            </a:r>
          </a:p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lang="ko-KR">
                <a:solidFill>
                  <a:srgbClr val="FFFFFF"/>
                </a:solidFill>
                <a:latin typeface="Malgun Gothic"/>
                <a:latin typeface="Malgun Gothic"/>
                <a:ea typeface="Malgun Gothic"/>
                <a:cs typeface="Malgun Gothic"/>
              </a:rPr>
              <a:t>전극보일러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44800"/>
            <a:ext cx="4419600" cy="368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FFFFFF"/>
                </a:solidFill>
                <a:latin typeface="Malgun Gothic"/>
                <a:latin typeface="Malgun Gothic"/>
                <a:ea typeface="Malgun Gothic"/>
                <a:cs typeface="Malgun Gothic"/>
              </a:rPr>
              <a:t>CO₂ 무배출 증기 생산용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40200"/>
            <a:ext cx="4191000" cy="292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A3CF60"/>
                </a:solidFill>
                <a:latin typeface="Malgun Gothic"/>
                <a:latin typeface="Malgun Gothic"/>
                <a:ea typeface="Malgun Gothic"/>
                <a:cs typeface="Malgun Gothic"/>
              </a:rPr>
              <a:t>대당 최대 출력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700" y="4432300"/>
            <a:ext cx="2298700" cy="1282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9400"/>
              </a:lnSpc>
              <a:spcBef>
                <a:spcPts val="0"/>
              </a:spcBef>
              <a:spcAft>
                <a:spcPts val="0"/>
              </a:spcAft>
            </a:pPr>
            <a:r>
              <a:rPr sz="7600" b="1" lang="ko-KR">
                <a:solidFill>
                  <a:srgbClr val="FFFFFF"/>
                </a:solidFill>
                <a:latin typeface="Malgun Gothic"/>
                <a:latin typeface="Malgun Gothic"/>
                <a:ea typeface="Malgun Gothic"/>
                <a:cs typeface="Malgun Gothic"/>
              </a:rPr>
              <a:t>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78000" y="5092700"/>
            <a:ext cx="1270000" cy="50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lang="ko-KR">
                <a:solidFill>
                  <a:srgbClr val="FFFFFF"/>
                </a:solidFill>
                <a:latin typeface="Malgun Gothic"/>
                <a:latin typeface="Malgun Gothic"/>
                <a:ea typeface="Malgun Gothic"/>
                <a:cs typeface="Malgun Gothic"/>
              </a:rPr>
              <a:t>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007100"/>
            <a:ext cx="4521200" cy="241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ko-KR">
                <a:solidFill>
                  <a:srgbClr val="FFFFFF"/>
                </a:solidFill>
                <a:latin typeface="Malgun Gothic"/>
                <a:latin typeface="Malgun Gothic"/>
                <a:ea typeface="Malgun Gothic"/>
                <a:cs typeface="Malgun Gothic"/>
              </a:rPr>
              <a:t>출처: youtube.com/watch?v=ZrSNmCcJCUI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26200"/>
            <a:ext cx="9144000" cy="431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KI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6477000"/>
            <a:ext cx="1214120" cy="36319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874000" y="6553200"/>
            <a:ext cx="81280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ko-KR">
                <a:solidFill>
                  <a:srgbClr val="758078"/>
                </a:solidFill>
                <a:latin typeface="Malgun Gothic"/>
                <a:latin typeface="Malgun Gothic"/>
                <a:ea typeface="Malgun Gothic"/>
                <a:cs typeface="Malgun Gothic"/>
              </a:rPr>
              <a:t>01 / 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56F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4000"/>
            <a:ext cx="8229600" cy="266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lang="ko-KR">
                <a:solidFill>
                  <a:srgbClr val="FFFFFF"/>
                </a:solidFill>
                <a:latin typeface="Malgun Gothic"/>
                <a:latin typeface="Malgun Gothic"/>
                <a:ea typeface="Malgun Gothic"/>
                <a:cs typeface="Malgun Gothic"/>
              </a:rPr>
              <a:t>Elpanneteknik · 고전압 온수보일러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876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ko-KR">
                <a:solidFill>
                  <a:srgbClr val="FFFFFF"/>
                </a:solidFill>
                <a:latin typeface="Malgun Gothic"/>
                <a:latin typeface="Malgun Gothic"/>
                <a:ea typeface="Malgun Gothic"/>
                <a:cs typeface="Malgun Gothic"/>
              </a:rPr>
              <a:t>주요 사양으로 보는</a:t>
            </a:r>
          </a:p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ko-KR">
                <a:solidFill>
                  <a:srgbClr val="FFFFFF"/>
                </a:solidFill>
                <a:latin typeface="Malgun Gothic"/>
                <a:latin typeface="Malgun Gothic"/>
                <a:ea typeface="Malgun Gothic"/>
                <a:cs typeface="Malgun Gothic"/>
              </a:rPr>
              <a:t>고전압 온수보일러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16100"/>
            <a:ext cx="1924050" cy="384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816100"/>
            <a:ext cx="1924050" cy="50800"/>
          </a:xfrm>
          <a:prstGeom prst="rect">
            <a:avLst/>
          </a:prstGeom>
          <a:solidFill>
            <a:srgbClr val="A3CF6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2120900"/>
            <a:ext cx="1619250" cy="622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lang="ko-KR">
                <a:solidFill>
                  <a:srgbClr val="356F4A"/>
                </a:solidFill>
                <a:latin typeface="Malgun Gothic"/>
                <a:latin typeface="Malgun Gothic"/>
                <a:ea typeface="Malgun Gothic"/>
                <a:cs typeface="Malgun Gothic"/>
              </a:rPr>
              <a:t>4–60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2300" y="2717800"/>
            <a:ext cx="1593850" cy="292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356F4A"/>
                </a:solidFill>
                <a:latin typeface="Malgun Gothic"/>
                <a:latin typeface="Malgun Gothic"/>
                <a:ea typeface="Malgun Gothic"/>
                <a:cs typeface="Malgun Gothic"/>
              </a:rPr>
              <a:t>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2300" y="3200400"/>
            <a:ext cx="1593850" cy="368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244738"/>
                </a:solidFill>
                <a:latin typeface="Malgun Gothic"/>
                <a:latin typeface="Malgun Gothic"/>
                <a:ea typeface="Malgun Gothic"/>
                <a:cs typeface="Malgun Gothic"/>
              </a:rPr>
              <a:t>용량 범위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22300" y="3695700"/>
            <a:ext cx="1593850" cy="0"/>
          </a:xfrm>
          <a:prstGeom prst="line">
            <a:avLst/>
          </a:prstGeom>
          <a:ln w="8255">
            <a:solidFill>
              <a:srgbClr val="D5DDD5"/>
            </a:solidFill>
          </a:ln>
          <a:effectLst/>
        </p:spPr>
      </p:cxnSp>
      <p:sp>
        <p:nvSpPr>
          <p:cNvPr id="10" name="TextBox 9"/>
          <p:cNvSpPr txBox="1"/>
          <p:nvPr/>
        </p:nvSpPr>
        <p:spPr>
          <a:xfrm>
            <a:off x="622300" y="3924300"/>
            <a:ext cx="1593850" cy="1549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ko-KR">
                <a:solidFill>
                  <a:srgbClr val="3A4B42"/>
                </a:solidFill>
                <a:latin typeface="Malgun Gothic"/>
                <a:latin typeface="Malgun Gothic"/>
                <a:ea typeface="Malgun Gothic"/>
                <a:cs typeface="Malgun Gothic"/>
              </a:rPr>
              <a:t>지역난방·산업 열원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ko-KR">
                <a:solidFill>
                  <a:srgbClr val="3A4B42"/>
                </a:solidFill>
                <a:latin typeface="Malgun Gothic"/>
                <a:latin typeface="Malgun Gothic"/>
                <a:ea typeface="Malgun Gothic"/>
                <a:cs typeface="Malgun Gothic"/>
              </a:rPr>
              <a:t>전력망 조정·열저장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59050" y="1816100"/>
            <a:ext cx="1924050" cy="384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59050" y="1816100"/>
            <a:ext cx="1924050" cy="50800"/>
          </a:xfrm>
          <a:prstGeom prst="rect">
            <a:avLst/>
          </a:prstGeom>
          <a:solidFill>
            <a:srgbClr val="A3CF6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11450" y="2120900"/>
            <a:ext cx="1619250" cy="622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lang="ko-KR">
                <a:solidFill>
                  <a:srgbClr val="356F4A"/>
                </a:solidFill>
                <a:latin typeface="Malgun Gothic"/>
                <a:latin typeface="Malgun Gothic"/>
                <a:ea typeface="Malgun Gothic"/>
                <a:cs typeface="Malgun Gothic"/>
              </a:rPr>
              <a:t>6–15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24150" y="2717800"/>
            <a:ext cx="1593850" cy="292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356F4A"/>
                </a:solidFill>
                <a:latin typeface="Malgun Gothic"/>
                <a:latin typeface="Malgun Gothic"/>
                <a:ea typeface="Malgun Gothic"/>
                <a:cs typeface="Malgun Gothic"/>
              </a:rPr>
              <a:t>kV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24150" y="3200400"/>
            <a:ext cx="1593850" cy="368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244738"/>
                </a:solidFill>
                <a:latin typeface="Malgun Gothic"/>
                <a:latin typeface="Malgun Gothic"/>
                <a:ea typeface="Malgun Gothic"/>
                <a:cs typeface="Malgun Gothic"/>
              </a:rPr>
              <a:t>공급 전압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24150" y="3695700"/>
            <a:ext cx="1593850" cy="0"/>
          </a:xfrm>
          <a:prstGeom prst="line">
            <a:avLst/>
          </a:prstGeom>
          <a:ln w="8255">
            <a:solidFill>
              <a:srgbClr val="D5DDD5"/>
            </a:solidFill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2724150" y="3924300"/>
            <a:ext cx="1593850" cy="1549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ko-KR">
                <a:solidFill>
                  <a:srgbClr val="3A4B42"/>
                </a:solidFill>
                <a:latin typeface="Malgun Gothic"/>
                <a:latin typeface="Malgun Gothic"/>
                <a:ea typeface="Malgun Gothic"/>
                <a:cs typeface="Malgun Gothic"/>
              </a:rPr>
              <a:t>3상 전원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ko-KR">
                <a:solidFill>
                  <a:srgbClr val="3A4B42"/>
                </a:solidFill>
                <a:latin typeface="Malgun Gothic"/>
                <a:latin typeface="Malgun Gothic"/>
                <a:ea typeface="Malgun Gothic"/>
                <a:cs typeface="Malgun Gothic"/>
              </a:rPr>
              <a:t>Y결선 상전극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0900" y="1816100"/>
            <a:ext cx="1924050" cy="384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60900" y="1816100"/>
            <a:ext cx="1924050" cy="50800"/>
          </a:xfrm>
          <a:prstGeom prst="rect">
            <a:avLst/>
          </a:prstGeom>
          <a:solidFill>
            <a:srgbClr val="A3CF6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13300" y="2120900"/>
            <a:ext cx="1619250" cy="622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lang="ko-KR">
                <a:solidFill>
                  <a:srgbClr val="356F4A"/>
                </a:solidFill>
                <a:latin typeface="Malgun Gothic"/>
                <a:latin typeface="Malgun Gothic"/>
                <a:ea typeface="Malgun Gothic"/>
                <a:cs typeface="Malgun Gothic"/>
              </a:rPr>
              <a:t>120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6000" y="2717800"/>
            <a:ext cx="1593850" cy="292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356F4A"/>
                </a:solidFill>
                <a:latin typeface="Malgun Gothic"/>
                <a:latin typeface="Malgun Gothic"/>
                <a:ea typeface="Malgun Gothic"/>
                <a:cs typeface="Malgun Gothic"/>
              </a:rPr>
              <a:t>°C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26000" y="3200400"/>
            <a:ext cx="1593850" cy="368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244738"/>
                </a:solidFill>
                <a:latin typeface="Malgun Gothic"/>
                <a:latin typeface="Malgun Gothic"/>
                <a:ea typeface="Malgun Gothic"/>
                <a:cs typeface="Malgun Gothic"/>
              </a:rPr>
              <a:t>최대 온도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26000" y="3695700"/>
            <a:ext cx="1593850" cy="0"/>
          </a:xfrm>
          <a:prstGeom prst="line">
            <a:avLst/>
          </a:prstGeom>
          <a:ln w="8255">
            <a:solidFill>
              <a:srgbClr val="D5DDD5"/>
            </a:solidFill>
          </a:ln>
          <a:effectLst/>
        </p:spPr>
      </p:cxnSp>
      <p:sp>
        <p:nvSpPr>
          <p:cNvPr id="24" name="TextBox 23"/>
          <p:cNvSpPr txBox="1"/>
          <p:nvPr/>
        </p:nvSpPr>
        <p:spPr>
          <a:xfrm>
            <a:off x="4826000" y="3924300"/>
            <a:ext cx="1593850" cy="1549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ko-KR">
                <a:solidFill>
                  <a:srgbClr val="3A4B42"/>
                </a:solidFill>
                <a:latin typeface="Malgun Gothic"/>
                <a:latin typeface="Malgun Gothic"/>
                <a:ea typeface="Malgun Gothic"/>
                <a:cs typeface="Malgun Gothic"/>
              </a:rPr>
              <a:t>수명 최대 60년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2750" y="1816100"/>
            <a:ext cx="1924050" cy="384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62750" y="1816100"/>
            <a:ext cx="1924050" cy="50800"/>
          </a:xfrm>
          <a:prstGeom prst="rect">
            <a:avLst/>
          </a:prstGeom>
          <a:solidFill>
            <a:srgbClr val="A3CF6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15150" y="2120900"/>
            <a:ext cx="1619250" cy="622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lang="ko-KR">
                <a:solidFill>
                  <a:srgbClr val="356F4A"/>
                </a:solidFill>
                <a:latin typeface="Malgun Gothic"/>
                <a:latin typeface="Malgun Gothic"/>
                <a:ea typeface="Malgun Gothic"/>
                <a:cs typeface="Malgun Gothic"/>
              </a:rPr>
              <a:t>99.9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27850" y="2717800"/>
            <a:ext cx="1593850" cy="292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356F4A"/>
                </a:solidFill>
                <a:latin typeface="Malgun Gothic"/>
                <a:latin typeface="Malgun Gothic"/>
                <a:ea typeface="Malgun Gothic"/>
                <a:cs typeface="Malgun Gothic"/>
              </a:rPr>
              <a:t>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27850" y="3200400"/>
            <a:ext cx="1593850" cy="368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244738"/>
                </a:solidFill>
                <a:latin typeface="Malgun Gothic"/>
                <a:latin typeface="Malgun Gothic"/>
                <a:ea typeface="Malgun Gothic"/>
                <a:cs typeface="Malgun Gothic"/>
              </a:rPr>
              <a:t>효율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27850" y="3695700"/>
            <a:ext cx="1593850" cy="0"/>
          </a:xfrm>
          <a:prstGeom prst="line">
            <a:avLst/>
          </a:prstGeom>
          <a:ln w="8255">
            <a:solidFill>
              <a:srgbClr val="D5DDD5"/>
            </a:solidFill>
          </a:ln>
          <a:effectLst/>
        </p:spPr>
      </p:cxnSp>
      <p:sp>
        <p:nvSpPr>
          <p:cNvPr id="31" name="TextBox 30"/>
          <p:cNvSpPr txBox="1"/>
          <p:nvPr/>
        </p:nvSpPr>
        <p:spPr>
          <a:xfrm>
            <a:off x="6927850" y="3924300"/>
            <a:ext cx="1593850" cy="1549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ko-KR">
                <a:solidFill>
                  <a:srgbClr val="3A4B42"/>
                </a:solidFill>
                <a:latin typeface="Malgun Gothic"/>
                <a:latin typeface="Malgun Gothic"/>
                <a:ea typeface="Malgun Gothic"/>
                <a:cs typeface="Malgun Gothic"/>
              </a:rPr>
              <a:t>무오염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ko-KR">
                <a:solidFill>
                  <a:srgbClr val="3A4B42"/>
                </a:solidFill>
                <a:latin typeface="Malgun Gothic"/>
                <a:latin typeface="Malgun Gothic"/>
                <a:ea typeface="Malgun Gothic"/>
                <a:cs typeface="Malgun Gothic"/>
              </a:rPr>
              <a:t>연료 취급 불필요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ko-KR">
                <a:solidFill>
                  <a:srgbClr val="3A4B42"/>
                </a:solidFill>
                <a:latin typeface="Malgun Gothic"/>
                <a:latin typeface="Malgun Gothic"/>
                <a:ea typeface="Malgun Gothic"/>
                <a:cs typeface="Malgun Gothic"/>
              </a:rPr>
              <a:t>빠른 기동·정밀 제어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ko-KR">
                <a:solidFill>
                  <a:srgbClr val="3A4B42"/>
                </a:solidFill>
                <a:latin typeface="Malgun Gothic"/>
                <a:latin typeface="Malgun Gothic"/>
                <a:ea typeface="Malgun Gothic"/>
                <a:cs typeface="Malgun Gothic"/>
              </a:rPr>
              <a:t>낮은 유지보수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57200" y="5905500"/>
            <a:ext cx="8229600" cy="0"/>
          </a:xfrm>
          <a:prstGeom prst="line">
            <a:avLst/>
          </a:prstGeom>
          <a:ln w="8255">
            <a:solidFill>
              <a:srgbClr val="A3CF60"/>
            </a:solidFill>
          </a:ln>
          <a:effectLst/>
        </p:spPr>
      </p:cxnSp>
      <p:sp>
        <p:nvSpPr>
          <p:cNvPr id="33" name="TextBox 32"/>
          <p:cNvSpPr txBox="1"/>
          <p:nvPr/>
        </p:nvSpPr>
        <p:spPr>
          <a:xfrm>
            <a:off x="457200" y="6045200"/>
            <a:ext cx="2146300" cy="342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FFFFFF"/>
                </a:solidFill>
                <a:latin typeface="Malgun Gothic"/>
                <a:latin typeface="Malgun Gothic"/>
                <a:ea typeface="Malgun Gothic"/>
                <a:cs typeface="Malgun Gothic"/>
              </a:rPr>
              <a:t>30초 이내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41600" y="6108700"/>
            <a:ext cx="60452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ko-KR">
                <a:solidFill>
                  <a:srgbClr val="FFFFFF"/>
                </a:solidFill>
                <a:latin typeface="Malgun Gothic"/>
                <a:latin typeface="Malgun Gothic"/>
                <a:ea typeface="Malgun Gothic"/>
                <a:cs typeface="Malgun Gothic"/>
              </a:rPr>
              <a:t>최소~최대부하 전환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426200"/>
            <a:ext cx="9144000" cy="431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6" name="Picture 35" descr="KI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6477000"/>
            <a:ext cx="1214120" cy="36319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874000" y="6553200"/>
            <a:ext cx="81280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ko-KR">
                <a:solidFill>
                  <a:srgbClr val="758078"/>
                </a:solidFill>
                <a:latin typeface="Malgun Gothic"/>
                <a:latin typeface="Malgun Gothic"/>
                <a:ea typeface="Malgun Gothic"/>
                <a:cs typeface="Malgun Gothic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66700"/>
            <a:ext cx="8229600" cy="266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lang="ko-KR">
                <a:solidFill>
                  <a:srgbClr val="758078"/>
                </a:solidFill>
                <a:latin typeface="Malgun Gothic"/>
                <a:latin typeface="Malgun Gothic"/>
                <a:ea typeface="Malgun Gothic"/>
                <a:cs typeface="Malgun Gothic"/>
              </a:rPr>
              <a:t>Elpanneteknik · 고전압 온수보일러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3100"/>
            <a:ext cx="8229600" cy="965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ko-KR">
                <a:solidFill>
                  <a:srgbClr val="244738"/>
                </a:solidFill>
                <a:latin typeface="Malgun Gothic"/>
                <a:latin typeface="Malgun Gothic"/>
                <a:ea typeface="Malgun Gothic"/>
                <a:cs typeface="Malgun Gothic"/>
              </a:rPr>
              <a:t>전극 노출면적과 전도도로</a:t>
            </a:r>
          </a:p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ko-KR">
                <a:solidFill>
                  <a:srgbClr val="244738"/>
                </a:solidFill>
                <a:latin typeface="Malgun Gothic"/>
                <a:latin typeface="Malgun Gothic"/>
                <a:ea typeface="Malgun Gothic"/>
                <a:cs typeface="Malgun Gothic"/>
              </a:rPr>
              <a:t>출력을 조절합니다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943100"/>
            <a:ext cx="3962400" cy="1854200"/>
          </a:xfrm>
          <a:prstGeom prst="rect">
            <a:avLst/>
          </a:prstGeom>
          <a:solidFill>
            <a:srgbClr val="356F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0400" y="2171700"/>
            <a:ext cx="3263900" cy="368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FFFF"/>
                </a:solidFill>
                <a:latin typeface="Malgun Gothic"/>
                <a:latin typeface="Malgun Gothic"/>
                <a:ea typeface="Malgun Gothic"/>
                <a:cs typeface="Malgun Gothic"/>
              </a:rPr>
              <a:t>Y결선·중성점 전극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400" y="2705100"/>
            <a:ext cx="3530600" cy="800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FFFFFF"/>
                </a:solidFill>
                <a:latin typeface="Malgun Gothic"/>
                <a:latin typeface="Malgun Gothic"/>
                <a:ea typeface="Malgun Gothic"/>
                <a:cs typeface="Malgun Gothic"/>
              </a:rPr>
              <a:t>상전극을 애자로 용기 천장에 설치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FFFFFF"/>
                </a:solidFill>
                <a:latin typeface="Malgun Gothic"/>
                <a:latin typeface="Malgun Gothic"/>
                <a:ea typeface="Malgun Gothic"/>
                <a:cs typeface="Malgun Gothic"/>
              </a:rPr>
              <a:t>고정 튜브형 중성점 전극 3개와 통전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87800" y="2184400"/>
            <a:ext cx="2921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lang="ko-KR">
                <a:solidFill>
                  <a:srgbClr val="A3CF60"/>
                </a:solidFill>
                <a:latin typeface="Malgun Gothic"/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724400" y="1943100"/>
            <a:ext cx="3962400" cy="0"/>
          </a:xfrm>
          <a:prstGeom prst="line">
            <a:avLst/>
          </a:prstGeom>
          <a:ln w="11430">
            <a:solidFill>
              <a:srgbClr val="356F4A"/>
            </a:solidFill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4724400" y="2171700"/>
            <a:ext cx="3530600" cy="368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244738"/>
                </a:solidFill>
                <a:latin typeface="Malgun Gothic"/>
                <a:latin typeface="Malgun Gothic"/>
                <a:ea typeface="Malgun Gothic"/>
                <a:cs typeface="Malgun Gothic"/>
              </a:rPr>
              <a:t>차폐판 이동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56600" y="2197100"/>
            <a:ext cx="3302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lang="ko-KR">
                <a:solidFill>
                  <a:srgbClr val="356F4A"/>
                </a:solidFill>
                <a:latin typeface="Malgun Gothic"/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4400" y="2705100"/>
            <a:ext cx="39624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ko-KR">
                <a:solidFill>
                  <a:srgbClr val="3A4B42"/>
                </a:solidFill>
                <a:latin typeface="Malgun Gothic"/>
                <a:latin typeface="Malgun Gothic"/>
                <a:ea typeface="Malgun Gothic"/>
                <a:cs typeface="Malgun Gothic"/>
              </a:rPr>
              <a:t>절연 차폐판(control shield)을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ko-KR">
                <a:solidFill>
                  <a:srgbClr val="3A4B42"/>
                </a:solidFill>
                <a:latin typeface="Malgun Gothic"/>
                <a:latin typeface="Malgun Gothic"/>
                <a:ea typeface="Malgun Gothic"/>
                <a:cs typeface="Malgun Gothic"/>
              </a:rPr>
              <a:t>공용 요크(yoke)로 상하 이동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ko-KR">
                <a:solidFill>
                  <a:srgbClr val="3A4B42"/>
                </a:solidFill>
                <a:latin typeface="Malgun Gothic"/>
                <a:latin typeface="Malgun Gothic"/>
                <a:ea typeface="Malgun Gothic"/>
                <a:cs typeface="Malgun Gothic"/>
              </a:rPr>
              <a:t>유효 노출면적 조절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4165600"/>
            <a:ext cx="3962400" cy="0"/>
          </a:xfrm>
          <a:prstGeom prst="line">
            <a:avLst/>
          </a:prstGeom>
          <a:ln w="11430">
            <a:solidFill>
              <a:srgbClr val="356F4A"/>
            </a:solidFill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457200" y="4406900"/>
            <a:ext cx="3530600" cy="368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244738"/>
                </a:solidFill>
                <a:latin typeface="Malgun Gothic"/>
                <a:latin typeface="Malgun Gothic"/>
                <a:ea typeface="Malgun Gothic"/>
                <a:cs typeface="Malgun Gothic"/>
              </a:rPr>
              <a:t>노출면적과 출력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89400" y="4432300"/>
            <a:ext cx="3302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lang="ko-KR">
                <a:solidFill>
                  <a:srgbClr val="356F4A"/>
                </a:solidFill>
                <a:latin typeface="Malgun Gothic"/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65700"/>
            <a:ext cx="3962400" cy="800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3A4B42"/>
                </a:solidFill>
                <a:latin typeface="Malgun Gothic"/>
                <a:latin typeface="Malgun Gothic"/>
                <a:ea typeface="Malgun Gothic"/>
                <a:cs typeface="Malgun Gothic"/>
              </a:rPr>
              <a:t>전극 완전 노출 → 최대출력</a:t>
            </a:r>
          </a:p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3A4B42"/>
                </a:solidFill>
                <a:latin typeface="Malgun Gothic"/>
                <a:latin typeface="Malgun Gothic"/>
                <a:ea typeface="Malgun Gothic"/>
                <a:cs typeface="Malgun Gothic"/>
              </a:rPr>
              <a:t>많이 차폐 → 출력 감소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724400" y="4165600"/>
            <a:ext cx="3962400" cy="0"/>
          </a:xfrm>
          <a:prstGeom prst="line">
            <a:avLst/>
          </a:prstGeom>
          <a:ln w="11430">
            <a:solidFill>
              <a:srgbClr val="356F4A"/>
            </a:solidFill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4724400" y="4406900"/>
            <a:ext cx="3530600" cy="368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244738"/>
                </a:solidFill>
                <a:latin typeface="Malgun Gothic"/>
                <a:latin typeface="Malgun Gothic"/>
                <a:ea typeface="Malgun Gothic"/>
                <a:cs typeface="Malgun Gothic"/>
              </a:rPr>
              <a:t>수질·전도도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6600" y="4432300"/>
            <a:ext cx="3302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lang="ko-KR">
                <a:solidFill>
                  <a:srgbClr val="356F4A"/>
                </a:solidFill>
                <a:latin typeface="Malgun Gothic"/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24400" y="4940300"/>
            <a:ext cx="3962400" cy="571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ko-KR">
                <a:solidFill>
                  <a:srgbClr val="3A4B42"/>
                </a:solidFill>
                <a:latin typeface="Malgun Gothic"/>
                <a:latin typeface="Malgun Gothic"/>
                <a:ea typeface="Malgun Gothic"/>
                <a:cs typeface="Malgun Gothic"/>
              </a:rPr>
              <a:t>출력 과다 → 물 교체·희석 → 전도도 ↓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ko-KR">
                <a:solidFill>
                  <a:srgbClr val="3A4B42"/>
                </a:solidFill>
                <a:latin typeface="Malgun Gothic"/>
                <a:latin typeface="Malgun Gothic"/>
                <a:ea typeface="Malgun Gothic"/>
                <a:cs typeface="Malgun Gothic"/>
              </a:rPr>
              <a:t>출력 부족 → 약품 정량 주입 → 전도도 ↑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24400" y="5626100"/>
            <a:ext cx="3962400" cy="0"/>
          </a:xfrm>
          <a:prstGeom prst="line">
            <a:avLst/>
          </a:prstGeom>
          <a:ln w="6350">
            <a:solidFill>
              <a:srgbClr val="D5DDD5"/>
            </a:solidFill>
          </a:ln>
          <a:effectLst/>
        </p:spPr>
      </p:cxnSp>
      <p:sp>
        <p:nvSpPr>
          <p:cNvPr id="21" name="TextBox 20"/>
          <p:cNvSpPr txBox="1"/>
          <p:nvPr/>
        </p:nvSpPr>
        <p:spPr>
          <a:xfrm>
            <a:off x="4724400" y="5765800"/>
            <a:ext cx="3962400" cy="495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lang="ko-KR">
                <a:solidFill>
                  <a:srgbClr val="758078"/>
                </a:solidFill>
                <a:latin typeface="Malgun Gothic"/>
                <a:latin typeface="Malgun Gothic"/>
                <a:ea typeface="Malgun Gothic"/>
                <a:cs typeface="Malgun Gothic"/>
              </a:rPr>
              <a:t>충수 ≤10 µS/cm (25°C), pH ≥7</a:t>
            </a:r>
          </a:p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lang="ko-KR">
                <a:solidFill>
                  <a:srgbClr val="758078"/>
                </a:solidFill>
                <a:latin typeface="Malgun Gothic"/>
                <a:latin typeface="Malgun Gothic"/>
                <a:ea typeface="Malgun Gothic"/>
                <a:cs typeface="Malgun Gothic"/>
              </a:rPr>
              <a:t>Na₃PO₄ 주입 후 pH 8.5~9.5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26200"/>
            <a:ext cx="9144000" cy="431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KI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6477000"/>
            <a:ext cx="1214120" cy="36319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874000" y="6553200"/>
            <a:ext cx="81280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ko-KR">
                <a:solidFill>
                  <a:srgbClr val="758078"/>
                </a:solidFill>
                <a:latin typeface="Malgun Gothic"/>
                <a:latin typeface="Malgun Gothic"/>
                <a:ea typeface="Malgun Gothic"/>
                <a:cs typeface="Malgun Gothic"/>
              </a:rPr>
              <a:t>03 / 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Malgun Gothic"/>
        <a:ea typeface="Malgun Gothic"/>
        <a:cs typeface="Malgun Gothic"/>
        <a:font script="Jpan" typeface="Malgun Gothic"/>
        <a:font script="Hang" typeface="Malgun Gothic"/>
        <a:font script="Hans" typeface="Malgun Gothic"/>
        <a:font script="Hant" typeface="Malgun Gothic"/>
        <a:font script="Arab" typeface="Malgun Gothic"/>
        <a:font script="Hebr" typeface="Malgun Gothic"/>
        <a:font script="Thai" typeface="Malgun Gothic"/>
        <a:font script="Ethi" typeface="Malgun Gothic"/>
        <a:font script="Beng" typeface="Malgun Gothic"/>
        <a:font script="Gujr" typeface="Malgun Gothic"/>
        <a:font script="Khmr" typeface="Malgun Gothic"/>
        <a:font script="Knda" typeface="Malgun Gothic"/>
        <a:font script="Guru" typeface="Malgun Gothic"/>
        <a:font script="Cans" typeface="Malgun Gothic"/>
        <a:font script="Cher" typeface="Malgun Gothic"/>
        <a:font script="Yiii" typeface="Malgun Gothic"/>
        <a:font script="Tibt" typeface="Malgun Gothic"/>
        <a:font script="Thaa" typeface="Malgun Gothic"/>
        <a:font script="Deva" typeface="Malgun Gothic"/>
        <a:font script="Telu" typeface="Malgun Gothic"/>
        <a:font script="Taml" typeface="Malgun Gothic"/>
        <a:font script="Syrc" typeface="Malgun Gothic"/>
        <a:font script="Orya" typeface="Malgun Gothic"/>
        <a:font script="Mlym" typeface="Malgun Gothic"/>
        <a:font script="Laoo" typeface="Malgun Gothic"/>
        <a:font script="Sinh" typeface="Malgun Gothic"/>
        <a:font script="Mong" typeface="Malgun Gothic"/>
        <a:font script="Viet" typeface="Malgun Gothic"/>
        <a:font script="Uigh" typeface="Malgun Gothic"/>
        <a:font script="Geor" typeface="Malgun Gothic"/>
      </a:majorFont>
      <a:minorFont>
        <a:latin typeface="Malgun Gothic"/>
        <a:ea typeface="Malgun Gothic"/>
        <a:cs typeface="Malgun Gothic"/>
        <a:font script="Jpan" typeface="Malgun Gothic"/>
        <a:font script="Hang" typeface="Malgun Gothic"/>
        <a:font script="Hans" typeface="Malgun Gothic"/>
        <a:font script="Hant" typeface="Malgun Gothic"/>
        <a:font script="Arab" typeface="Malgun Gothic"/>
        <a:font script="Hebr" typeface="Malgun Gothic"/>
        <a:font script="Thai" typeface="Malgun Gothic"/>
        <a:font script="Ethi" typeface="Malgun Gothic"/>
        <a:font script="Beng" typeface="Malgun Gothic"/>
        <a:font script="Gujr" typeface="Malgun Gothic"/>
        <a:font script="Khmr" typeface="Malgun Gothic"/>
        <a:font script="Knda" typeface="Malgun Gothic"/>
        <a:font script="Guru" typeface="Malgun Gothic"/>
        <a:font script="Cans" typeface="Malgun Gothic"/>
        <a:font script="Cher" typeface="Malgun Gothic"/>
        <a:font script="Yiii" typeface="Malgun Gothic"/>
        <a:font script="Tibt" typeface="Malgun Gothic"/>
        <a:font script="Thaa" typeface="Malgun Gothic"/>
        <a:font script="Deva" typeface="Malgun Gothic"/>
        <a:font script="Telu" typeface="Malgun Gothic"/>
        <a:font script="Taml" typeface="Malgun Gothic"/>
        <a:font script="Syrc" typeface="Malgun Gothic"/>
        <a:font script="Orya" typeface="Malgun Gothic"/>
        <a:font script="Mlym" typeface="Malgun Gothic"/>
        <a:font script="Laoo" typeface="Malgun Gothic"/>
        <a:font script="Sinh" typeface="Malgun Gothic"/>
        <a:font script="Mong" typeface="Malgun Gothic"/>
        <a:font script="Viet" typeface="Malgun Gothic"/>
        <a:font script="Uigh" typeface="Malgun Gothic"/>
        <a:font script="Geor" typeface="Malgun Gothic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KITECH — Editorial Design Studies</dc:title>
  <dc:subject>Three editable sample slides based on the supplied visual reference; source PDF pages 73 and 53.</dc:subject>
  <dc:creator/>
  <cp:keywords/>
  <dc:description/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