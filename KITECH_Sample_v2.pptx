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hyperlink" Target="https://www.youtube.com/watch?v=bzaoIhKtXHw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1000"/>
            <a:ext cx="82296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저항식·전극식의 가열 원리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2200"/>
            <a:ext cx="82296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457200" y="1079500"/>
            <a:ext cx="546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3300" y="1079500"/>
            <a:ext cx="1778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1" y="6489700"/>
            <a:ext cx="1061357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0" y="6553200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39-1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35100"/>
            <a:ext cx="38100" cy="279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00" y="1384300"/>
            <a:ext cx="379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 보일러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400" y="1435100"/>
            <a:ext cx="38100" cy="279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9500" y="1384300"/>
            <a:ext cx="379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전극식 보일러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2603500"/>
            <a:ext cx="2997200" cy="13843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39800" y="2603500"/>
            <a:ext cx="2997200" cy="0"/>
          </a:xfrm>
          <a:prstGeom prst="line">
            <a:avLst/>
          </a:prstGeom>
          <a:ln w="8255">
            <a:solidFill>
              <a:srgbClr val="245D9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39800" y="2247900"/>
            <a:ext cx="0" cy="173990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39800" y="3987800"/>
            <a:ext cx="2997200" cy="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3937000" y="2247900"/>
            <a:ext cx="0" cy="173990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1409700" y="3175000"/>
            <a:ext cx="21209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409700" y="3175000"/>
            <a:ext cx="2120900" cy="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409700" y="3467100"/>
            <a:ext cx="2120900" cy="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3530600" y="3175000"/>
            <a:ext cx="0" cy="2921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409700" y="3175000"/>
            <a:ext cx="0" cy="2921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054100" y="3238500"/>
            <a:ext cx="546100" cy="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054100" y="3403600"/>
            <a:ext cx="546100" cy="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600200" y="3238500"/>
            <a:ext cx="50800" cy="12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6510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17399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8288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19177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0066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0955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1844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2733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3622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4511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5400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289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7178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8067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8956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9845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3073400" y="3251200"/>
            <a:ext cx="88900" cy="139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3162300" y="3390900"/>
            <a:ext cx="114300" cy="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3276600" y="3390900"/>
            <a:ext cx="0" cy="1270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H="1">
            <a:off x="1600200" y="3403600"/>
            <a:ext cx="1676400" cy="0"/>
          </a:xfrm>
          <a:prstGeom prst="line">
            <a:avLst/>
          </a:prstGeom>
          <a:ln w="11430">
            <a:solidFill>
              <a:srgbClr val="262626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469900" y="3060700"/>
            <a:ext cx="48260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5300" y="2209800"/>
            <a:ext cx="8636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열선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120900" y="2514600"/>
            <a:ext cx="266700" cy="622300"/>
          </a:xfrm>
          <a:prstGeom prst="line">
            <a:avLst/>
          </a:prstGeom>
          <a:ln w="7620">
            <a:solidFill>
              <a:srgbClr val="262626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3403600" y="2755900"/>
            <a:ext cx="355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866900" y="2781300"/>
            <a:ext cx="0" cy="317500"/>
          </a:xfrm>
          <a:prstGeom prst="line">
            <a:avLst/>
          </a:prstGeom>
          <a:ln w="11430">
            <a:solidFill>
              <a:srgbClr val="245D91"/>
            </a:solidFill>
            <a:tailEnd type="triangle" w="sm" len="sm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527300" y="2781300"/>
            <a:ext cx="0" cy="317500"/>
          </a:xfrm>
          <a:prstGeom prst="line">
            <a:avLst/>
          </a:prstGeom>
          <a:ln w="11430">
            <a:solidFill>
              <a:srgbClr val="245D91"/>
            </a:solidFill>
            <a:tailEnd type="triangle" w="sm" len="sm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3187700" y="2781300"/>
            <a:ext cx="0" cy="317500"/>
          </a:xfrm>
          <a:prstGeom prst="line">
            <a:avLst/>
          </a:prstGeom>
          <a:ln w="1143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5207000" y="2603500"/>
            <a:ext cx="2997200" cy="1384300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5207000" y="2603500"/>
            <a:ext cx="2997200" cy="0"/>
          </a:xfrm>
          <a:prstGeom prst="line">
            <a:avLst/>
          </a:prstGeom>
          <a:ln w="8255">
            <a:solidFill>
              <a:srgbClr val="245D9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5207000" y="2247900"/>
            <a:ext cx="0" cy="173990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5207000" y="3987800"/>
            <a:ext cx="2997200" cy="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8204200" y="2247900"/>
            <a:ext cx="0" cy="1739900"/>
          </a:xfrm>
          <a:prstGeom prst="line">
            <a:avLst/>
          </a:prstGeom>
          <a:ln w="13970">
            <a:solidFill>
              <a:srgbClr val="262626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5524500" y="18923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89600" y="2247900"/>
            <a:ext cx="0" cy="2921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5651500" y="2540000"/>
            <a:ext cx="76200" cy="10795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1600" y="18923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616700" y="2247900"/>
            <a:ext cx="0" cy="2921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62" name="Rectangle 61"/>
          <p:cNvSpPr/>
          <p:nvPr/>
        </p:nvSpPr>
        <p:spPr>
          <a:xfrm>
            <a:off x="6578600" y="2540000"/>
            <a:ext cx="76200" cy="10795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8700" y="18923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43800" y="2247900"/>
            <a:ext cx="0" cy="292100"/>
          </a:xfrm>
          <a:prstGeom prst="line">
            <a:avLst/>
          </a:prstGeom>
          <a:ln w="12700">
            <a:solidFill>
              <a:srgbClr val="262626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7505700" y="2540000"/>
            <a:ext cx="76200" cy="10795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5778500" y="3124200"/>
            <a:ext cx="6985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6705600" y="3124200"/>
            <a:ext cx="6985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7505700" y="2247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7607300" y="2514600"/>
            <a:ext cx="292100" cy="254000"/>
          </a:xfrm>
          <a:prstGeom prst="line">
            <a:avLst/>
          </a:prstGeom>
          <a:ln w="7620">
            <a:solidFill>
              <a:srgbClr val="262626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7823200" y="3644900"/>
            <a:ext cx="31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3900" y="3657600"/>
            <a:ext cx="1739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물속 전류 경로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356100"/>
            <a:ext cx="396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간접 가열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914900"/>
            <a:ext cx="396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전류 → 열선 발열 → 물로 열전달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24400" y="4356100"/>
            <a:ext cx="396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직접 가열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24400" y="4914900"/>
            <a:ext cx="396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전류 → 물의 저항 → 물 자체 발열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753100"/>
            <a:ext cx="8229600" cy="53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5753100"/>
            <a:ext cx="38100" cy="533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5300" y="5753100"/>
            <a:ext cx="38100" cy="533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3100" y="5854700"/>
            <a:ext cx="7823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발열 위치의 차이: 저항식은 열선에서, 전극식은 물 자체에서 열이 발생한다.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1000"/>
            <a:ext cx="82296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저항식·전극식의 주요 특성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2200"/>
            <a:ext cx="82296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457200" y="1079500"/>
            <a:ext cx="546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3300" y="1079500"/>
            <a:ext cx="1778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1" y="6489700"/>
            <a:ext cx="1061357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0" y="6553200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39-2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22400"/>
          <a:ext cx="8229600" cy="403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429000"/>
                <a:gridCol w="34290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저항식 보일러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전극식 보일러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1F6EA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규모·용도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소·중용량</a:t>
                      </a:r>
                    </a:p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가정·소형 건물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중·대용량</a:t>
                      </a:r>
                    </a:p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 스팀·지역난방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제어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개수·On/Off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정밀·빠른 출력 조절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응답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느림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변동 대응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수질·스케일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스케일 → 열전달 저하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전도도·스케일·전극 부식 관리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설치·관리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 단순·설치 용이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복잡·전문 관리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비용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소용량은 높음</a:t>
                      </a:r>
                    </a:p>
                    <a:p>
                      <a:pPr algn="ctr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대용량부터 경제적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753100"/>
            <a:ext cx="8229600" cy="53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753100"/>
            <a:ext cx="38100" cy="533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300" y="5753100"/>
            <a:ext cx="38100" cy="533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" y="5854700"/>
            <a:ext cx="7823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저항식은 단순한 소규모 열원, 전극식은 대용량·빠른 부하 대응에 적합하다.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1000"/>
            <a:ext cx="82296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급수탱크와 탈기기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2200"/>
            <a:ext cx="82296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457200" y="1079500"/>
            <a:ext cx="546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3300" y="1079500"/>
            <a:ext cx="1778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1" y="6489700"/>
            <a:ext cx="1061357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0" y="6553200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pic>
        <p:nvPicPr>
          <p:cNvPr id="8" name="Picture 7" descr="p5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4771"/>
            <a:ext cx="5334000" cy="308135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34100" y="1524000"/>
            <a:ext cx="38100" cy="266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9200" y="1485900"/>
            <a:ext cx="2387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9200" y="2032000"/>
            <a:ext cx="23876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4100" y="2997200"/>
            <a:ext cx="38100" cy="2667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9200" y="2959100"/>
            <a:ext cx="2387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탈기기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3505200"/>
            <a:ext cx="23876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가열로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용존 O₂·CO₂ 제거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34100" y="2781300"/>
            <a:ext cx="25527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457200" y="4762500"/>
            <a:ext cx="2794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02200"/>
            <a:ext cx="2171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 유입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83200"/>
            <a:ext cx="2171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4762500"/>
            <a:ext cx="2794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902200"/>
            <a:ext cx="2171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저장·탈기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83200"/>
            <a:ext cx="2171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탈기기 부착 급수탱크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62500"/>
            <a:ext cx="2794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022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본체 공급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83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급수펌프 → 보일러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94000" y="5130800"/>
            <a:ext cx="3556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765800" y="5130800"/>
            <a:ext cx="3556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457200" y="5753100"/>
            <a:ext cx="8229600" cy="53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753100"/>
            <a:ext cx="38100" cy="533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300" y="5753100"/>
            <a:ext cx="38100" cy="533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100" y="5854700"/>
            <a:ext cx="7823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급수는 저장하고, 용존가스는 제거해 보일러·배관의 부식을 방지한다.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8000" y="6578600"/>
            <a:ext cx="6019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4"/>
              </a:rPr>
              <a:t>출처: https://www.youtube.com/watch?v=bzaoIhKtXHw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77D85"/>
      </a:hlink>
      <a:folHlink>
        <a:srgbClr val="777D85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Boiler — Split-page Design Sample</dc:title>
  <dc:subject>Original PDF page 39 split into principle and comparison slides; page 56 retained. No pictograms or speaker notes.</dc:subject>
  <dc:creator>강준서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