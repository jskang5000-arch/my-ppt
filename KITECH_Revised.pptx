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Relationship Id="rId4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Relationship Id="rId4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-boiler.se/" TargetMode="External"/><Relationship Id="rId4" Type="http://schemas.openxmlformats.org/officeDocument/2006/relationships/image" Target="../media/image1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bzaoIhKtXHw" TargetMode="External"/><Relationship Id="rId4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2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2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ZrSNmCcJCUI" TargetMode="External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전극형 보일러 기술자료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pic>
        <p:nvPicPr>
          <p:cNvPr id="9" name="Picture 8" descr="p64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7" y="1104900"/>
            <a:ext cx="7642225" cy="421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588000"/>
            <a:ext cx="8229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강준서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저항식·전극식의 가열 원리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저항식은 열선에서, 전극식은 물 자체에서 열이 발생한다.</a:t>
            </a:r>
          </a:p>
        </p:txBody>
      </p:sp>
      <p:pic>
        <p:nvPicPr>
          <p:cNvPr id="13" name="Picture 12" descr="p39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1066800"/>
            <a:ext cx="3073400" cy="30734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381000" y="4381500"/>
            <a:ext cx="40005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1000" y="45720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 보일러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5105400"/>
            <a:ext cx="40005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열선에 전류 → 발열 → 물로 열전달</a:t>
            </a:r>
          </a:p>
        </p:txBody>
      </p:sp>
      <p:pic>
        <p:nvPicPr>
          <p:cNvPr id="17" name="Picture 16" descr="p39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158875"/>
            <a:ext cx="4000500" cy="2889250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4762500" y="4381500"/>
            <a:ext cx="4000500" cy="0"/>
          </a:xfrm>
          <a:prstGeom prst="line">
            <a:avLst/>
          </a:prstGeom>
          <a:ln w="12700">
            <a:solidFill>
              <a:srgbClr val="92D050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762500" y="45720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전극식 보일러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5105400"/>
            <a:ext cx="40005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물속 전극에 전류 → 물의 저항으로 발열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저항식·전극식의 주요 특성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소규모의 단순한 구성은 저항식, 대용량·빠른 부하 대응은 전극식.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444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505200"/>
                <a:gridCol w="35052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저항식 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전극식 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규모·용도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소·중용량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가정·소형 건물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중·대용량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 스팀·지역난방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제어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개수·On/Off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수위·전극 노출면적 등 조절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응답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느림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부하 변동 대응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수질·스케일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스케일 → 열전달 저하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전도도·스케일·전극 부식 관리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설치·관리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 단순·설치 용이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복잡·전문 관리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비용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낮음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소용량은 높음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대용량부터 경제적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 보일러의 열손실 요인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열전달 경로·본체 방열·유체 방출·보조전력이 손실 요인이다.</a:t>
            </a:r>
          </a:p>
        </p:txBody>
      </p:sp>
      <p:pic>
        <p:nvPicPr>
          <p:cNvPr id="13" name="Picture 12" descr="p41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0" y="1155700"/>
            <a:ext cx="1917700" cy="1917700"/>
          </a:xfrm>
          <a:prstGeom prst="rect">
            <a:avLst/>
          </a:prstGeom>
        </p:spPr>
      </p:pic>
      <p:pic>
        <p:nvPicPr>
          <p:cNvPr id="14" name="Picture 13" descr="p41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443112"/>
            <a:ext cx="3225800" cy="20545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0" y="1130300"/>
            <a:ext cx="4648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열선 → 물 전달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574800"/>
            <a:ext cx="46482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시스·절연재의 접촉 열저항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스케일 부착 시 열전달 저하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98700"/>
            <a:ext cx="4648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본체 방열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43200"/>
            <a:ext cx="46482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탱크·배관·외벽의 복사·대류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90900"/>
            <a:ext cx="4648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증기·온수 방출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835400"/>
            <a:ext cx="46482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밸브 등에서 유체 방출 시 열손실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483100"/>
            <a:ext cx="4648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전기·보조장치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927600"/>
            <a:ext cx="46482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배선 저항과 펌프·제어장치 소비전력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 보일러의 출력 제어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SCR은 실효전압, SSR은 On/Off 시간비로 출력을 조절한다.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1176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SCR 위상제어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1000" y="1638300"/>
            <a:ext cx="40005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1000" y="4191000"/>
            <a:ext cx="40005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교류 파형의 일부를 통과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실효전압 연속 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11176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SSR 시간비례제어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62500" y="1638300"/>
            <a:ext cx="4000500" cy="0"/>
          </a:xfrm>
          <a:prstGeom prst="line">
            <a:avLst/>
          </a:prstGeom>
          <a:ln w="12700">
            <a:solidFill>
              <a:srgbClr val="92D05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762500" y="4191000"/>
            <a:ext cx="40005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열선의 On/Off 시간비 조절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평균출력 조절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8000" y="3213100"/>
            <a:ext cx="3721100" cy="0"/>
          </a:xfrm>
          <a:prstGeom prst="line">
            <a:avLst/>
          </a:prstGeom>
          <a:ln w="8890">
            <a:solidFill>
              <a:srgbClr val="777D85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889500" y="3213100"/>
            <a:ext cx="3721100" cy="0"/>
          </a:xfrm>
          <a:prstGeom prst="line">
            <a:avLst/>
          </a:prstGeom>
          <a:ln w="8890">
            <a:solidFill>
              <a:srgbClr val="777D85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609600" y="3159059"/>
            <a:ext cx="19050" cy="5404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628650" y="3105282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647700" y="3052030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666750" y="2999563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685800" y="29481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704850" y="2898001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723900" y="2849400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742950" y="2802571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762000" y="2757742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781050" y="2715132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800100" y="2674948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819150" y="2637385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838200" y="2602628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857250" y="2570844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876300" y="2542190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895350" y="2516804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914400" y="2494810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933450" y="2476316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952500" y="2461411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971550" y="2450169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990600" y="2442643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009650" y="2438871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028700" y="2438871"/>
            <a:ext cx="1905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047750" y="2438871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066800" y="2442643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1085850" y="2450169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104900" y="2461411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1123950" y="2476316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143000" y="2494810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162050" y="2516804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181100" y="2542190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200150" y="2570844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219200" y="2602628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1238250" y="2637385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257300" y="2674948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1276350" y="2715132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1295400" y="2757742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1314450" y="2802571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1333500" y="2849400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1352550" y="2898001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1371600" y="29481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1390650" y="2999563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1409700" y="3052030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1428750" y="3105282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1447800" y="3159059"/>
            <a:ext cx="19050" cy="5404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1466850" y="3213100"/>
            <a:ext cx="19050" cy="5404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1485900" y="3267140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1504950" y="3320917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1524000" y="3374169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1543050" y="34266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1562100" y="3478063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1581150" y="3528198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1600200" y="3576799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1619250" y="3623628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1638300" y="3668457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1657350" y="3711067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1676400" y="3751251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1695450" y="3788814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1714500" y="3823571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1733550" y="3855355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1752600" y="3884009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1771650" y="3909395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1790700" y="3931389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1809750" y="3949883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1828800" y="3964788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1847850" y="3976030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1866900" y="3983556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1885950" y="3987328"/>
            <a:ext cx="1905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1905000" y="3983556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1924050" y="3976030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1943100" y="3964788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1962150" y="3949883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1981200" y="3931389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000250" y="3909395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2019300" y="3884009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038350" y="3855355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2057400" y="3823571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076450" y="3788814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2095500" y="3751251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114550" y="3711067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2133600" y="3668457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152650" y="3623628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2171700" y="3576799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190750" y="3528198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2209800" y="3478063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228850" y="34266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 flipV="1">
            <a:off x="2247900" y="3374169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266950" y="3320917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 flipV="1">
            <a:off x="2286000" y="3267140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305050" y="3213100"/>
            <a:ext cx="19050" cy="5404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2324100" y="3159059"/>
            <a:ext cx="19050" cy="5404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2343150" y="3105282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2362200" y="3052030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2381250" y="2999563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2400300" y="29481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2419350" y="2898001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2438400" y="2849400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2457450" y="2802571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2476500" y="2757742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2495550" y="2715132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2514600" y="2674948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2533650" y="2637385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2552700" y="2602628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2571750" y="2570844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2590800" y="2542190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2609850" y="2516804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2628900" y="2494810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2647950" y="2476316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2667000" y="2461411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2686050" y="2450169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2705100" y="2442643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2724150" y="2438871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2743200" y="2438871"/>
            <a:ext cx="1905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2762250" y="2438871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2781300" y="2442643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2800350" y="2450169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2819400" y="2461411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2838450" y="2476316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2857500" y="2494810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2876550" y="2516804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2895600" y="2542190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2914650" y="2570844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2933700" y="2602628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2952750" y="2637385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2971800" y="2674948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2990850" y="2715132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009900" y="2757742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028950" y="2802571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048000" y="2849400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067050" y="2898001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086100" y="29481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105150" y="2999563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124200" y="3052030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143250" y="3105282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162300" y="3159059"/>
            <a:ext cx="19050" cy="5404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181350" y="3213099"/>
            <a:ext cx="19050" cy="5404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200400" y="3267140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219450" y="3320917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238500" y="3374169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257550" y="34266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276600" y="3478063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295650" y="3528198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314700" y="3576799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333750" y="3623628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352800" y="3668457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371850" y="3711067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390900" y="3751251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409950" y="3788814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3429000" y="3823571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448050" y="3855355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3467100" y="3884009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3486150" y="3909395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3505200" y="3931389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3524250" y="3949883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3543300" y="3964788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3562350" y="3976030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3581400" y="3983556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3600450" y="3987328"/>
            <a:ext cx="1905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3619500" y="3983556"/>
            <a:ext cx="19050" cy="377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3638550" y="3976030"/>
            <a:ext cx="19050" cy="752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3657600" y="3964788"/>
            <a:ext cx="19050" cy="1124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3676650" y="3949883"/>
            <a:ext cx="19050" cy="1490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 flipV="1">
            <a:off x="3695700" y="3931389"/>
            <a:ext cx="19050" cy="184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3714750" y="3909395"/>
            <a:ext cx="19050" cy="2199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3733800" y="3884009"/>
            <a:ext cx="19050" cy="25386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3752850" y="3855355"/>
            <a:ext cx="19050" cy="2865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3771900" y="3823571"/>
            <a:ext cx="19050" cy="317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3790950" y="3788814"/>
            <a:ext cx="19050" cy="3475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 flipV="1">
            <a:off x="3810000" y="3751251"/>
            <a:ext cx="19050" cy="37563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3829050" y="3711067"/>
            <a:ext cx="19050" cy="40184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3848100" y="3668457"/>
            <a:ext cx="19050" cy="4261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3867150" y="3623628"/>
            <a:ext cx="19050" cy="44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3886200" y="3576799"/>
            <a:ext cx="19050" cy="46829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3905250" y="3528198"/>
            <a:ext cx="19050" cy="48601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 flipV="1">
            <a:off x="3924300" y="3478063"/>
            <a:ext cx="19050" cy="50135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3943350" y="3426636"/>
            <a:ext cx="19050" cy="5142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3962400" y="3374169"/>
            <a:ext cx="19050" cy="5246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981450" y="3320917"/>
            <a:ext cx="19050" cy="53252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4000500" y="3267140"/>
            <a:ext cx="19050" cy="53777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019550" y="3213100"/>
            <a:ext cx="19050" cy="5404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096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>
            <a:off x="6286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477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>
            <a:off x="6667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6858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>
            <a:off x="7048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7239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>
            <a:off x="7429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7620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>
            <a:off x="7810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8001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>
            <a:off x="8191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8382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>
            <a:off x="8572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8763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895350" y="2516804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914400" y="2494810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933450" y="2476316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 flipV="1">
            <a:off x="952500" y="2461411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971550" y="2450169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 flipV="1">
            <a:off x="990600" y="2442643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1009650" y="2438871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1028700" y="2438871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>
            <a:off x="1047750" y="2438871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1066800" y="2442643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1085850" y="2450169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1104900" y="2461411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>
            <a:off x="1123950" y="2476316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1143000" y="2494810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>
            <a:off x="1162050" y="2516804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1181100" y="2542190"/>
            <a:ext cx="19050" cy="2865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1200150" y="2570844"/>
            <a:ext cx="19050" cy="317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1219200" y="2602628"/>
            <a:ext cx="19050" cy="3475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>
            <a:off x="1238250" y="2637385"/>
            <a:ext cx="19050" cy="37563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1257300" y="2674948"/>
            <a:ext cx="19050" cy="401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>
            <a:off x="1276350" y="2715132"/>
            <a:ext cx="19050" cy="426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1295400" y="2757742"/>
            <a:ext cx="19050" cy="44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1314450" y="2802571"/>
            <a:ext cx="19050" cy="46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1333500" y="2849400"/>
            <a:ext cx="19050" cy="48601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>
            <a:off x="1352550" y="2898001"/>
            <a:ext cx="19050" cy="5013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1371600" y="2948136"/>
            <a:ext cx="19050" cy="5142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>
            <a:off x="1390650" y="2999563"/>
            <a:ext cx="19050" cy="5246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1409700" y="3052030"/>
            <a:ext cx="19050" cy="5325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>
            <a:off x="1428750" y="3105282"/>
            <a:ext cx="19050" cy="5377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1447800" y="3159059"/>
            <a:ext cx="19050" cy="54041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>
            <a:off x="14668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14859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15049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15240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>
            <a:off x="15430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15621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15811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16002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16192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16383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>
            <a:off x="16573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16764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16954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17145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17335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1752600" y="3884009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>
            <a:off x="1771650" y="3909395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1790700" y="3931389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>
            <a:off x="1809750" y="3949883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1828800" y="3964788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1847850" y="3976030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1866900" y="3983556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>
            <a:off x="1885950" y="3987328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905000" y="3983556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1924050" y="3976030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943100" y="3964788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962150" y="3949883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981200" y="3931389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2000250" y="3909395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 flipV="1">
            <a:off x="2019300" y="3884009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2038350" y="3855355"/>
            <a:ext cx="19050" cy="2865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2057400" y="3823571"/>
            <a:ext cx="19050" cy="317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2076450" y="3788814"/>
            <a:ext cx="19050" cy="3475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2095500" y="3751251"/>
            <a:ext cx="19050" cy="37563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2114550" y="3711067"/>
            <a:ext cx="19050" cy="401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 flipV="1">
            <a:off x="2133600" y="3668457"/>
            <a:ext cx="19050" cy="426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2152650" y="3623628"/>
            <a:ext cx="19050" cy="44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2171700" y="3576799"/>
            <a:ext cx="19050" cy="46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2190750" y="3528198"/>
            <a:ext cx="19050" cy="48601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2209800" y="3478063"/>
            <a:ext cx="19050" cy="5013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2228850" y="3426636"/>
            <a:ext cx="19050" cy="5142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 flipV="1">
            <a:off x="2247900" y="3374169"/>
            <a:ext cx="19050" cy="5246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2266950" y="3320917"/>
            <a:ext cx="19050" cy="5325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 flipV="1">
            <a:off x="2286000" y="3267140"/>
            <a:ext cx="19050" cy="5377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2305050" y="3213100"/>
            <a:ext cx="19050" cy="5404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23241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>
            <a:off x="23431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23622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812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24003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24193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24384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>
            <a:off x="24574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24765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>
            <a:off x="24955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25146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>
            <a:off x="25336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25527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>
            <a:off x="25717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25908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2609850" y="2516804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 flipV="1">
            <a:off x="2628900" y="2494810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2647950" y="2476316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2667000" y="2461411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2686050" y="2450169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2705100" y="2442643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2724150" y="2438871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3" name="Connector 312"/>
          <p:cNvCxnSpPr/>
          <p:nvPr/>
        </p:nvCxnSpPr>
        <p:spPr>
          <a:xfrm>
            <a:off x="2743200" y="2438871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4" name="Connector 313"/>
          <p:cNvCxnSpPr/>
          <p:nvPr/>
        </p:nvCxnSpPr>
        <p:spPr>
          <a:xfrm>
            <a:off x="2762250" y="2438871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5" name="Connector 314"/>
          <p:cNvCxnSpPr/>
          <p:nvPr/>
        </p:nvCxnSpPr>
        <p:spPr>
          <a:xfrm>
            <a:off x="2781300" y="2442643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6" name="Connector 315"/>
          <p:cNvCxnSpPr/>
          <p:nvPr/>
        </p:nvCxnSpPr>
        <p:spPr>
          <a:xfrm>
            <a:off x="2800350" y="2450169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7" name="Connector 316"/>
          <p:cNvCxnSpPr/>
          <p:nvPr/>
        </p:nvCxnSpPr>
        <p:spPr>
          <a:xfrm>
            <a:off x="2819400" y="2461411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8" name="Connector 317"/>
          <p:cNvCxnSpPr/>
          <p:nvPr/>
        </p:nvCxnSpPr>
        <p:spPr>
          <a:xfrm>
            <a:off x="2838450" y="2476316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19" name="Connector 318"/>
          <p:cNvCxnSpPr/>
          <p:nvPr/>
        </p:nvCxnSpPr>
        <p:spPr>
          <a:xfrm>
            <a:off x="2857500" y="2494810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0" name="Connector 319"/>
          <p:cNvCxnSpPr/>
          <p:nvPr/>
        </p:nvCxnSpPr>
        <p:spPr>
          <a:xfrm>
            <a:off x="2876550" y="2516804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1" name="Connector 320"/>
          <p:cNvCxnSpPr/>
          <p:nvPr/>
        </p:nvCxnSpPr>
        <p:spPr>
          <a:xfrm>
            <a:off x="2895600" y="2542190"/>
            <a:ext cx="19050" cy="2865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2" name="Connector 321"/>
          <p:cNvCxnSpPr/>
          <p:nvPr/>
        </p:nvCxnSpPr>
        <p:spPr>
          <a:xfrm>
            <a:off x="2914650" y="2570844"/>
            <a:ext cx="19050" cy="317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3" name="Connector 322"/>
          <p:cNvCxnSpPr/>
          <p:nvPr/>
        </p:nvCxnSpPr>
        <p:spPr>
          <a:xfrm>
            <a:off x="2933700" y="2602628"/>
            <a:ext cx="19050" cy="3475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4" name="Connector 323"/>
          <p:cNvCxnSpPr/>
          <p:nvPr/>
        </p:nvCxnSpPr>
        <p:spPr>
          <a:xfrm>
            <a:off x="2952750" y="2637385"/>
            <a:ext cx="19050" cy="37563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5" name="Connector 324"/>
          <p:cNvCxnSpPr/>
          <p:nvPr/>
        </p:nvCxnSpPr>
        <p:spPr>
          <a:xfrm>
            <a:off x="2971800" y="2674948"/>
            <a:ext cx="19050" cy="401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6" name="Connector 325"/>
          <p:cNvCxnSpPr/>
          <p:nvPr/>
        </p:nvCxnSpPr>
        <p:spPr>
          <a:xfrm>
            <a:off x="2990850" y="2715132"/>
            <a:ext cx="19050" cy="426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>
            <a:off x="3009900" y="2757742"/>
            <a:ext cx="19050" cy="44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028950" y="2802571"/>
            <a:ext cx="19050" cy="46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29" name="Connector 328"/>
          <p:cNvCxnSpPr/>
          <p:nvPr/>
        </p:nvCxnSpPr>
        <p:spPr>
          <a:xfrm>
            <a:off x="3048000" y="2849400"/>
            <a:ext cx="19050" cy="48601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0" name="Connector 329"/>
          <p:cNvCxnSpPr/>
          <p:nvPr/>
        </p:nvCxnSpPr>
        <p:spPr>
          <a:xfrm>
            <a:off x="3067050" y="2898001"/>
            <a:ext cx="19050" cy="5013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1" name="Connector 330"/>
          <p:cNvCxnSpPr/>
          <p:nvPr/>
        </p:nvCxnSpPr>
        <p:spPr>
          <a:xfrm>
            <a:off x="3086100" y="2948136"/>
            <a:ext cx="19050" cy="5142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2" name="Connector 331"/>
          <p:cNvCxnSpPr/>
          <p:nvPr/>
        </p:nvCxnSpPr>
        <p:spPr>
          <a:xfrm>
            <a:off x="3105150" y="2999563"/>
            <a:ext cx="19050" cy="5246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3" name="Connector 332"/>
          <p:cNvCxnSpPr/>
          <p:nvPr/>
        </p:nvCxnSpPr>
        <p:spPr>
          <a:xfrm>
            <a:off x="3124200" y="3052030"/>
            <a:ext cx="19050" cy="5325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4" name="Connector 333"/>
          <p:cNvCxnSpPr/>
          <p:nvPr/>
        </p:nvCxnSpPr>
        <p:spPr>
          <a:xfrm>
            <a:off x="3143250" y="3105282"/>
            <a:ext cx="19050" cy="5377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5" name="Connector 334"/>
          <p:cNvCxnSpPr/>
          <p:nvPr/>
        </p:nvCxnSpPr>
        <p:spPr>
          <a:xfrm>
            <a:off x="3162300" y="3159059"/>
            <a:ext cx="19050" cy="5404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6" name="Connector 335"/>
          <p:cNvCxnSpPr/>
          <p:nvPr/>
        </p:nvCxnSpPr>
        <p:spPr>
          <a:xfrm>
            <a:off x="31813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7" name="Connector 336"/>
          <p:cNvCxnSpPr/>
          <p:nvPr/>
        </p:nvCxnSpPr>
        <p:spPr>
          <a:xfrm>
            <a:off x="32004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8" name="Connector 337"/>
          <p:cNvCxnSpPr/>
          <p:nvPr/>
        </p:nvCxnSpPr>
        <p:spPr>
          <a:xfrm>
            <a:off x="32194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39" name="Connector 338"/>
          <p:cNvCxnSpPr/>
          <p:nvPr/>
        </p:nvCxnSpPr>
        <p:spPr>
          <a:xfrm>
            <a:off x="32385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0" name="Connector 339"/>
          <p:cNvCxnSpPr/>
          <p:nvPr/>
        </p:nvCxnSpPr>
        <p:spPr>
          <a:xfrm>
            <a:off x="32575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>
            <a:off x="32766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2956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3" name="Connector 342"/>
          <p:cNvCxnSpPr/>
          <p:nvPr/>
        </p:nvCxnSpPr>
        <p:spPr>
          <a:xfrm>
            <a:off x="33147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4" name="Connector 343"/>
          <p:cNvCxnSpPr/>
          <p:nvPr/>
        </p:nvCxnSpPr>
        <p:spPr>
          <a:xfrm>
            <a:off x="33337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5" name="Connector 344"/>
          <p:cNvCxnSpPr/>
          <p:nvPr/>
        </p:nvCxnSpPr>
        <p:spPr>
          <a:xfrm>
            <a:off x="33528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6" name="Connector 345"/>
          <p:cNvCxnSpPr/>
          <p:nvPr/>
        </p:nvCxnSpPr>
        <p:spPr>
          <a:xfrm>
            <a:off x="33718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7" name="Connector 346"/>
          <p:cNvCxnSpPr/>
          <p:nvPr/>
        </p:nvCxnSpPr>
        <p:spPr>
          <a:xfrm>
            <a:off x="33909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8" name="Connector 347"/>
          <p:cNvCxnSpPr/>
          <p:nvPr/>
        </p:nvCxnSpPr>
        <p:spPr>
          <a:xfrm>
            <a:off x="34099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49" name="Connector 348"/>
          <p:cNvCxnSpPr/>
          <p:nvPr/>
        </p:nvCxnSpPr>
        <p:spPr>
          <a:xfrm>
            <a:off x="342900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0" name="Connector 349"/>
          <p:cNvCxnSpPr/>
          <p:nvPr/>
        </p:nvCxnSpPr>
        <p:spPr>
          <a:xfrm>
            <a:off x="3448050" y="3213100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1" name="Connector 350"/>
          <p:cNvCxnSpPr/>
          <p:nvPr/>
        </p:nvCxnSpPr>
        <p:spPr>
          <a:xfrm>
            <a:off x="3467100" y="3884009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2" name="Connector 351"/>
          <p:cNvCxnSpPr/>
          <p:nvPr/>
        </p:nvCxnSpPr>
        <p:spPr>
          <a:xfrm>
            <a:off x="3486150" y="3909395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3" name="Connector 352"/>
          <p:cNvCxnSpPr/>
          <p:nvPr/>
        </p:nvCxnSpPr>
        <p:spPr>
          <a:xfrm>
            <a:off x="3505200" y="3931389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4" name="Connector 353"/>
          <p:cNvCxnSpPr/>
          <p:nvPr/>
        </p:nvCxnSpPr>
        <p:spPr>
          <a:xfrm>
            <a:off x="3524250" y="3949883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>
            <a:off x="3543300" y="3964788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3562350" y="3976030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7" name="Connector 356"/>
          <p:cNvCxnSpPr/>
          <p:nvPr/>
        </p:nvCxnSpPr>
        <p:spPr>
          <a:xfrm>
            <a:off x="3581400" y="3983556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8" name="Connector 357"/>
          <p:cNvCxnSpPr/>
          <p:nvPr/>
        </p:nvCxnSpPr>
        <p:spPr>
          <a:xfrm>
            <a:off x="3600450" y="3987328"/>
            <a:ext cx="1905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59" name="Connector 358"/>
          <p:cNvCxnSpPr/>
          <p:nvPr/>
        </p:nvCxnSpPr>
        <p:spPr>
          <a:xfrm flipV="1">
            <a:off x="3619500" y="3983556"/>
            <a:ext cx="19050" cy="377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0" name="Connector 359"/>
          <p:cNvCxnSpPr/>
          <p:nvPr/>
        </p:nvCxnSpPr>
        <p:spPr>
          <a:xfrm flipV="1">
            <a:off x="3638550" y="3976030"/>
            <a:ext cx="19050" cy="752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 flipV="1">
            <a:off x="3657600" y="3964788"/>
            <a:ext cx="19050" cy="1124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 flipV="1">
            <a:off x="3676650" y="3949883"/>
            <a:ext cx="19050" cy="1490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3695700" y="3931389"/>
            <a:ext cx="19050" cy="184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3714750" y="3909395"/>
            <a:ext cx="19050" cy="2199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5" name="Connector 364"/>
          <p:cNvCxnSpPr/>
          <p:nvPr/>
        </p:nvCxnSpPr>
        <p:spPr>
          <a:xfrm flipV="1">
            <a:off x="3733800" y="3884009"/>
            <a:ext cx="19050" cy="25386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6" name="Connector 365"/>
          <p:cNvCxnSpPr/>
          <p:nvPr/>
        </p:nvCxnSpPr>
        <p:spPr>
          <a:xfrm flipV="1">
            <a:off x="3752850" y="3855355"/>
            <a:ext cx="19050" cy="2865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3771900" y="3823571"/>
            <a:ext cx="19050" cy="317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 flipV="1">
            <a:off x="3790950" y="3788814"/>
            <a:ext cx="19050" cy="3475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3810000" y="3751251"/>
            <a:ext cx="19050" cy="37563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3829050" y="3711067"/>
            <a:ext cx="19050" cy="40184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1" name="Connector 370"/>
          <p:cNvCxnSpPr/>
          <p:nvPr/>
        </p:nvCxnSpPr>
        <p:spPr>
          <a:xfrm flipV="1">
            <a:off x="3848100" y="3668457"/>
            <a:ext cx="19050" cy="426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2" name="Connector 371"/>
          <p:cNvCxnSpPr/>
          <p:nvPr/>
        </p:nvCxnSpPr>
        <p:spPr>
          <a:xfrm flipV="1">
            <a:off x="3867150" y="3623628"/>
            <a:ext cx="19050" cy="44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 flipV="1">
            <a:off x="3886200" y="3576799"/>
            <a:ext cx="19050" cy="4682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3905250" y="3528198"/>
            <a:ext cx="19050" cy="48601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3924300" y="3478063"/>
            <a:ext cx="19050" cy="50135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3943350" y="3426636"/>
            <a:ext cx="19050" cy="5142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7" name="Connector 376"/>
          <p:cNvCxnSpPr/>
          <p:nvPr/>
        </p:nvCxnSpPr>
        <p:spPr>
          <a:xfrm flipV="1">
            <a:off x="3962400" y="3374169"/>
            <a:ext cx="19050" cy="5246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8" name="Connector 377"/>
          <p:cNvCxnSpPr/>
          <p:nvPr/>
        </p:nvCxnSpPr>
        <p:spPr>
          <a:xfrm flipV="1">
            <a:off x="3981450" y="3320917"/>
            <a:ext cx="19050" cy="53252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79" name="Connector 378"/>
          <p:cNvCxnSpPr/>
          <p:nvPr/>
        </p:nvCxnSpPr>
        <p:spPr>
          <a:xfrm flipV="1">
            <a:off x="4000500" y="3267140"/>
            <a:ext cx="19050" cy="53777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 flipV="1">
            <a:off x="4019550" y="3213100"/>
            <a:ext cx="19050" cy="5404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1" name="Connector 380"/>
          <p:cNvCxnSpPr/>
          <p:nvPr/>
        </p:nvCxnSpPr>
        <p:spPr>
          <a:xfrm flipV="1">
            <a:off x="895350" y="2542190"/>
            <a:ext cx="0" cy="6709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2" name="Connector 381"/>
          <p:cNvCxnSpPr/>
          <p:nvPr/>
        </p:nvCxnSpPr>
        <p:spPr>
          <a:xfrm>
            <a:off x="1752600" y="3213100"/>
            <a:ext cx="0" cy="67090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 flipV="1">
            <a:off x="2609850" y="2542190"/>
            <a:ext cx="0" cy="67091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3467100" y="3213100"/>
            <a:ext cx="0" cy="670909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sp>
        <p:nvSpPr>
          <p:cNvPr id="385" name="TextBox 384"/>
          <p:cNvSpPr txBox="1"/>
          <p:nvPr/>
        </p:nvSpPr>
        <p:spPr>
          <a:xfrm>
            <a:off x="609600" y="1968500"/>
            <a:ext cx="3429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회색: 입력 / 파랑: 출력 개념 파형</a:t>
            </a:r>
          </a:p>
        </p:txBody>
      </p:sp>
      <p:cxnSp>
        <p:nvCxnSpPr>
          <p:cNvPr id="386" name="Connector 385"/>
          <p:cNvCxnSpPr/>
          <p:nvPr/>
        </p:nvCxnSpPr>
        <p:spPr>
          <a:xfrm flipV="1">
            <a:off x="5029200" y="2413000"/>
            <a:ext cx="0" cy="80010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>
            <a:off x="5029200" y="2413000"/>
            <a:ext cx="102870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>
            <a:off x="6057900" y="2413000"/>
            <a:ext cx="0" cy="80010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>
            <a:off x="6057900" y="3213100"/>
            <a:ext cx="68580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 flipV="1">
            <a:off x="6743700" y="2413000"/>
            <a:ext cx="0" cy="80010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>
            <a:off x="6743700" y="2413000"/>
            <a:ext cx="102870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>
            <a:off x="7772400" y="2413000"/>
            <a:ext cx="0" cy="80010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>
            <a:off x="7772400" y="3213100"/>
            <a:ext cx="68580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>
            <a:off x="8458200" y="3213100"/>
            <a:ext cx="152400" cy="0"/>
          </a:xfrm>
          <a:prstGeom prst="line">
            <a:avLst/>
          </a:prstGeom>
          <a:ln w="19050">
            <a:solidFill>
              <a:srgbClr val="245D9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4991100" y="3543300"/>
            <a:ext cx="3695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예: 60% On → 평균 60% 출력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정밀제어 적용 시 고려사항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난방·온수의 요구 정밀도와 비용·발열체 응답을 함께 고려한다.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61722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고려 항목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SCR·SSR은 접촉기보다 고가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정밀도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난방·온수는 계단식 제어로도 충족 가능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발열체 응답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열선의 큰 열용량·느린 응답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품질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 위상제어 시 고조파 발생 가능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내구성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스위칭 방식·빈도에 따른 접점·소자 수명 고려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전극보일러의 운전 원리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별도 열선 없이, 전류가 흐르는 물에서 줄열이 발생한다.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155700"/>
            <a:ext cx="8229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 자체를 발열체로 사용하는 직접 저항가열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1971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2374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 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857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금속봉·판을 물속에 배치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6033" y="26289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3318933" y="21971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933" y="2374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교류 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8933" y="2857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이온 이동·충돌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3966" y="26289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6256866" y="21971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866" y="2374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저항가열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6866" y="2857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물에서 줄열 발생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1000" y="4025900"/>
            <a:ext cx="4000500" cy="0"/>
          </a:xfrm>
          <a:prstGeom prst="line">
            <a:avLst/>
          </a:prstGeom>
          <a:ln w="10160">
            <a:solidFill>
              <a:srgbClr val="D9DDE2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81000" y="42545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수질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826000"/>
            <a:ext cx="40005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전기전도도가 발열량에 직접 영향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62500" y="4025900"/>
            <a:ext cx="4000500" cy="0"/>
          </a:xfrm>
          <a:prstGeom prst="line">
            <a:avLst/>
          </a:prstGeom>
          <a:ln w="10160">
            <a:solidFill>
              <a:srgbClr val="D9DDE2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4762500" y="42545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주요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0" y="4826000"/>
            <a:ext cx="40005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산업용 스팀·지역난방 등 대용량 열원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전극보일러의 3상 전극 구조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120° 위상차의 3상 전원으로 인접 전극 사이에 전기장이 형성된다.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00" y="1117600"/>
            <a:ext cx="3962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3상 교류 전원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" y="2298700"/>
            <a:ext cx="4445000" cy="2413000"/>
          </a:xfrm>
          <a:prstGeom prst="rect">
            <a:avLst/>
          </a:prstGeom>
          <a:solidFill>
            <a:srgbClr val="EBF1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89000" y="1943100"/>
            <a:ext cx="0" cy="27686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89000" y="4711700"/>
            <a:ext cx="4445000" cy="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5334000" y="1943100"/>
            <a:ext cx="0" cy="27686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889000" y="2298700"/>
            <a:ext cx="4445000" cy="0"/>
          </a:xfrm>
          <a:prstGeom prst="line">
            <a:avLst/>
          </a:prstGeom>
          <a:ln w="8890">
            <a:solidFill>
              <a:srgbClr val="245D91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1727200" y="1562100"/>
            <a:ext cx="330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92300" y="1943100"/>
            <a:ext cx="0" cy="2794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828800" y="2222500"/>
            <a:ext cx="127000" cy="19431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59100" y="1562100"/>
            <a:ext cx="330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200" y="1943100"/>
            <a:ext cx="0" cy="2794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3060700" y="2222500"/>
            <a:ext cx="127000" cy="19431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1000" y="1562100"/>
            <a:ext cx="330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6100" y="1943100"/>
            <a:ext cx="0" cy="2794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4292600" y="2222500"/>
            <a:ext cx="127000" cy="19431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044700" y="3238500"/>
            <a:ext cx="901700" cy="0"/>
          </a:xfrm>
          <a:prstGeom prst="line">
            <a:avLst/>
          </a:prstGeom>
          <a:ln w="10160">
            <a:solidFill>
              <a:srgbClr val="245D9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3276600" y="3238500"/>
            <a:ext cx="901700" cy="0"/>
          </a:xfrm>
          <a:prstGeom prst="line">
            <a:avLst/>
          </a:prstGeom>
          <a:ln w="10160">
            <a:solidFill>
              <a:srgbClr val="245D91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168400" y="4330700"/>
            <a:ext cx="3873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물속에 잠긴 3상 전극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3700" y="3530600"/>
            <a:ext cx="4953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381000" y="3098800"/>
            <a:ext cx="482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찬물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34000" y="2527300"/>
            <a:ext cx="5461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5397500" y="2082800"/>
            <a:ext cx="5588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온수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5105400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인접 전극 사이의 전위차 → 전기장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1409700"/>
            <a:ext cx="22479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120°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100" y="2463800"/>
            <a:ext cx="22479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R·S·T 3상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5100" y="3073400"/>
            <a:ext cx="22479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물에 잠긴 금속판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 사이 전위차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찬물 유입·온수 배출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이온 이동과 줄열 발생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전해질 이온이 전류를 운반하고, 물의 전기저항에 의해 열이 발생한다.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1303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① 전해질 첨가·이온 생성</a:t>
            </a:r>
          </a:p>
        </p:txBody>
      </p:sp>
      <p:pic>
        <p:nvPicPr>
          <p:cNvPr id="14" name="Picture 13" descr="p47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81100"/>
            <a:ext cx="4000500" cy="266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0" y="11303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② 이온 이동·줄열 발생</a:t>
            </a:r>
          </a:p>
        </p:txBody>
      </p:sp>
      <p:pic>
        <p:nvPicPr>
          <p:cNvPr id="16" name="Picture 15" descr="p47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878850"/>
            <a:ext cx="4000500" cy="2668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1000" y="49657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교류 60 Hz: 극성을 빠르게 반전하여 전기분해 부작용을 최소화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3상 교류의 위상과 전류 방향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R·S·T 세 파형은 서로 120°의 위상차를 갖는다.</a:t>
            </a:r>
          </a:p>
        </p:txBody>
      </p:sp>
      <p:pic>
        <p:nvPicPr>
          <p:cNvPr id="13" name="Picture 12" descr="p4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95568"/>
            <a:ext cx="5524500" cy="43366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0" y="1295400"/>
            <a:ext cx="22860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120°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2400300"/>
            <a:ext cx="228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세 파형이 서로 다른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타이밍으로 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873500"/>
            <a:ext cx="22860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60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775200"/>
            <a:ext cx="228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1초에 60회 반복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물의 저항을 결정하는 설계변수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전압이 일정할 때, 저항 R을 조절해 필요한 출력 P를 맞춘다.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/>
                <a:gridCol w="50800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설계변수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 R의 변화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전도도·전해질 농도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전도도 ↑ → R ↓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간 거리 L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거리 ↑ → R ↑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 접촉면적 A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면적 ↑ → R ↓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침수 깊이·분사량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 저항 경로를 실시간 조절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3400" y="4927600"/>
            <a:ext cx="80772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P = V² / 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설계변수와 실제 출력 조절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전도도·거리·면적·접촉조건이 물의 저항과 출력을 결정한다.</a:t>
            </a:r>
          </a:p>
        </p:txBody>
      </p:sp>
      <p:pic>
        <p:nvPicPr>
          <p:cNvPr id="13" name="Picture 12" descr="p50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092200"/>
            <a:ext cx="67056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 간 거리·면적과 전기저항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출처: Aubakirova et al., Materials, 16(9), 3377 (2023), Fig. 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거리 L이 길면 저항이 커지고, 유효면적 A가 넓으면 저항이 작아진다.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1079500"/>
            <a:ext cx="40386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R = ρ × (L / 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9800" y="2425700"/>
            <a:ext cx="2794000" cy="1917700"/>
          </a:xfrm>
          <a:prstGeom prst="rect">
            <a:avLst/>
          </a:prstGeom>
          <a:solidFill>
            <a:srgbClr val="EBF1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200" y="2235200"/>
            <a:ext cx="101600" cy="2298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3800" y="2235200"/>
            <a:ext cx="101600" cy="2298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0300" y="3086100"/>
            <a:ext cx="2413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전해질(물) 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100" y="3162300"/>
            <a:ext cx="279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7900" y="4864100"/>
            <a:ext cx="27178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104900" y="5016500"/>
            <a:ext cx="24765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· 전극 간 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13081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ρ · 비저항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1854200"/>
            <a:ext cx="40005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전해질 농도 ↑ → ρ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27940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L · 전극 간 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3340100"/>
            <a:ext cx="40005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거리가 멀수록 저항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42799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 · 유효 접촉면적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0" y="4826000"/>
            <a:ext cx="40005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면적이 넓을수록 저항 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 표면의 국부적 전류 집중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출처: Aubakirova et al., Materials, 16(9), 3377 (2023), Fig. 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전류 집중을 고려해 전극 형상을 최적화하고 내식성 재질을 선정한다.</a:t>
            </a:r>
          </a:p>
        </p:txBody>
      </p:sp>
      <p:pic>
        <p:nvPicPr>
          <p:cNvPr id="14" name="Picture 13" descr="p51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04493"/>
            <a:ext cx="4191000" cy="41537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10200" y="1422400"/>
            <a:ext cx="3352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전류밀도 분포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0200" y="2019300"/>
            <a:ext cx="33528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 주변에서 불균일하게 분포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0200" y="3213100"/>
            <a:ext cx="3352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국부 발열·마모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0200" y="3810000"/>
            <a:ext cx="33528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끝단 등 전류 집중 부위에서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발열·마모 발생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Elpanneteknik의 적용 분야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고전압 전극보일러를 지역난방·산업·원자력·P2H 분야에 공급한다.</a:t>
            </a:r>
          </a:p>
        </p:txBody>
      </p:sp>
      <p:pic>
        <p:nvPicPr>
          <p:cNvPr id="14" name="Picture 13" descr="p53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98632"/>
            <a:ext cx="3924300" cy="18699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0" y="11938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Elpanneteknik Sweden 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1803400"/>
            <a:ext cx="4000500" cy="142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본사: 스웨덴 예테보리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공장: 뉘셰핑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고전압 전극보일러 전문 제조사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000" y="3721100"/>
            <a:ext cx="40005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381000" y="39497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링할스 원전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508500"/>
            <a:ext cx="4000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20 MW · ETSH35 공급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62500" y="3721100"/>
            <a:ext cx="4000500" cy="0"/>
          </a:xfrm>
          <a:prstGeom prst="line">
            <a:avLst/>
          </a:prstGeom>
          <a:ln w="12700">
            <a:solidFill>
              <a:srgbClr val="92D05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762500" y="39497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레닌그라드 원전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4508500"/>
            <a:ext cx="4000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고전압 전극보일러 4기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5245100"/>
            <a:ext cx="83820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적용: 지역난방 · 산업 열원 · 원자력 · 열저장·전력망 주파수 조정(P2H)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온수보일러의 저전압·고전압 제품군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전압·용량·온도 조건에 따라 저전압 발열체식과 고전압 전극식을 구분한다.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81000" y="1104900"/>
          <a:ext cx="8382000" cy="4444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505200"/>
                <a:gridCol w="35052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저전압 온수보일러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고전압 온수보일러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방식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주로 발열체식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전극식 선택 가능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전극식·직접가열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18~6,000 kW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4~60 MW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400~690 V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6~15 kV · 3상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온도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120°C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효율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99.9%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9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용도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소·중규모 산업·건물 난방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지역난방·산업 열원·P2H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고전압 온수보일러의 계통과 수질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충수는 탈염수로, 운전 수질은 전도도와 pH 기준으로 관리한다.</a:t>
            </a:r>
          </a:p>
        </p:txBody>
      </p:sp>
      <p:pic>
        <p:nvPicPr>
          <p:cNvPr id="14" name="Picture 13" descr="p55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077" y="990600"/>
            <a:ext cx="5325844" cy="3505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1000" y="4635500"/>
            <a:ext cx="40005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≤10 µS/cm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5270500"/>
            <a:ext cx="4000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충수 전도도 · 25°C / pH ≥7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4635500"/>
            <a:ext cx="40005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pH 8.5~9.5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0" y="5270500"/>
            <a:ext cx="4000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Na₃PO₄ 주입 후 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침지형 전극보일러의 구조와 특성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내조 전극의 침수 접촉량을 조절해 출력을 제어한다.</a:t>
            </a:r>
          </a:p>
        </p:txBody>
      </p:sp>
      <p:pic>
        <p:nvPicPr>
          <p:cNvPr id="14" name="Picture 13" descr="p56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03089"/>
            <a:ext cx="4864100" cy="3070821"/>
          </a:xfrm>
          <a:prstGeom prst="rect">
            <a:avLst/>
          </a:prstGeom>
        </p:spPr>
      </p:pic>
      <p:pic>
        <p:nvPicPr>
          <p:cNvPr id="15" name="Picture 14" descr="p56_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700" y="1638144"/>
            <a:ext cx="3492500" cy="32007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 노출면적에 따른 출력 제어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전극을 많이 노출하면 출력이 커지고, 많이 차폐하면 출력이 줄어든다.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11303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 노출 증가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700" y="1993900"/>
            <a:ext cx="2895600" cy="2095500"/>
          </a:xfrm>
          <a:prstGeom prst="rect">
            <a:avLst/>
          </a:prstGeom>
          <a:solidFill>
            <a:srgbClr val="EBF1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621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41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1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6500" y="3556000"/>
            <a:ext cx="2286000" cy="5334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241800"/>
            <a:ext cx="19558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절연 차폐판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889500"/>
            <a:ext cx="40005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11303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차폐 영역 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3200" y="1993900"/>
            <a:ext cx="2895600" cy="2095500"/>
          </a:xfrm>
          <a:prstGeom prst="rect">
            <a:avLst/>
          </a:prstGeom>
          <a:solidFill>
            <a:srgbClr val="EBF1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56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7600" y="1752600"/>
            <a:ext cx="88900" cy="2171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88000" y="2819400"/>
            <a:ext cx="2286000" cy="12700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3100" y="4241800"/>
            <a:ext cx="19558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절연 차폐판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0" y="4889500"/>
            <a:ext cx="40005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감소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5422900"/>
            <a:ext cx="8382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Y결선 상전극 · 튜브형 중성점 전극 3개 · 공용 요크로 차폐판 상하 이동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 관리와 빠른 부하 대응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 교체·희석과 약품 정량주입으로 전도도를 조절한다.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12065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과다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000" y="1765300"/>
            <a:ext cx="40005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81000" y="2108200"/>
            <a:ext cx="4000500" cy="153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 교체·희석</a:t>
            </a:r>
          </a:p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12065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부족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62500" y="1765300"/>
            <a:ext cx="4000500" cy="0"/>
          </a:xfrm>
          <a:prstGeom prst="line">
            <a:avLst/>
          </a:prstGeom>
          <a:ln w="12700">
            <a:solidFill>
              <a:srgbClr val="92D050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762500" y="2108200"/>
            <a:ext cx="4000500" cy="153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약품 정량주입</a:t>
            </a:r>
          </a:p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267200"/>
            <a:ext cx="40005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30초 이내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4267200"/>
            <a:ext cx="40005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최대 60년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5118100"/>
            <a:ext cx="4000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최소~최대 부하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5118100"/>
            <a:ext cx="4000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제조사 소개 수명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고전압 온수 시스템의 구성과 운전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가압펌프는 운전압력을 유지하고, 압력 상승 시 팽창탱크로 환수한다.</a:t>
            </a:r>
          </a:p>
        </p:txBody>
      </p:sp>
      <p:pic>
        <p:nvPicPr>
          <p:cNvPr id="14" name="Picture 13" descr="p59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1623834"/>
            <a:ext cx="8178800" cy="34071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침지형 증기보일러의 운전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전도도·열회수·전기 절연을 함께 관리해 안정적인 운전을 지원한다.</a:t>
            </a:r>
          </a:p>
        </p:txBody>
      </p:sp>
      <p:pic>
        <p:nvPicPr>
          <p:cNvPr id="13" name="Picture 12" descr="p71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60786"/>
            <a:ext cx="4762500" cy="26029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38800" y="1168400"/>
            <a:ext cx="3124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전도도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8800" y="1701800"/>
            <a:ext cx="31242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자동 표면 블로우다운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8800" y="2679700"/>
            <a:ext cx="3124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열회수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8800" y="3213100"/>
            <a:ext cx="31242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블로우다운 효율 손실 0.1%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4191000"/>
            <a:ext cx="31242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전력망 연계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8800" y="4724400"/>
            <a:ext cx="31242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중성점 절연 설계로 직접 연계 가능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납품 사례와 참고 제안 사양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납품 실적과 참고 제안 예시를 구분해 비교한다.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444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/>
                <a:gridCol w="1854200"/>
                <a:gridCol w="45974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적용·용도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사양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1303866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Olkiluoto 3 원전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보조증기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(gland steam)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2×15 MW · 10 kV · 12 bar(g)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192°C · 46,000 kg/h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3866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AstraZeneca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제약공정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 MW · 11 kV · 32 bar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240°C · 38,000 kg/h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3866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ETSH10Mi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참고 제안 예시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세탁공장용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 MW · 11 kV · 12 bar(g)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순증기량 13 t/h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직경 2.3 m × 높이 5.2 m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충수중량 약 14 t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침지형·분사형의 제조사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제조사 측 비교 자료이며, 모든 설비에 공통된 우열을 뜻하지 않는다.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/>
                <a:gridCol w="2857500"/>
                <a:gridCol w="28575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침지형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분사형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신뢰성·가용성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정비 용이성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그리드 연계성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품질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순도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급수탱크와 탈기기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https://www.youtube.com/watch?v=bzaoIhKtXHw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급수는 저장하고, 용존가스는 제거해 보일러·배관의 부식을 방지한다.</a:t>
            </a:r>
          </a:p>
        </p:txBody>
      </p:sp>
      <p:pic>
        <p:nvPicPr>
          <p:cNvPr id="14" name="Picture 13" descr="p62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3471"/>
            <a:ext cx="5334000" cy="308135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96000" y="1358900"/>
            <a:ext cx="38100" cy="254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1100" y="1308100"/>
            <a:ext cx="25019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1100" y="1892300"/>
            <a:ext cx="25019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 저장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3302000"/>
            <a:ext cx="38100" cy="254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1100" y="3251200"/>
            <a:ext cx="25019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탈기기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100" y="3835400"/>
            <a:ext cx="25019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가열로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용존 O₂·CO₂ 제거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46101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4787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 유입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5270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76033" y="50419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5" name="Rectangle 24"/>
          <p:cNvSpPr/>
          <p:nvPr/>
        </p:nvSpPr>
        <p:spPr>
          <a:xfrm>
            <a:off x="3318933" y="46101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8933" y="4787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저장·탈기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8933" y="5270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탈기기 부착 급수탱크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13966" y="50419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6256866" y="46101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6866" y="47879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본체 공급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6866" y="52705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급수펌프 → 보일러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급수펌프의 역할과 운전 방식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보일러 압력보다 높은 토출압력으로 급수하고, 수위를 유지한다.</a:t>
            </a:r>
          </a:p>
        </p:txBody>
      </p:sp>
      <p:pic>
        <p:nvPicPr>
          <p:cNvPr id="13" name="Picture 12" descr="p63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62" y="1155700"/>
            <a:ext cx="5144675" cy="2857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257300"/>
            <a:ext cx="2590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토출압력 &gt;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보일러 내부압력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03500"/>
            <a:ext cx="2590800" cy="927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증발량 보충·수위 유지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공가열·과열 방지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000" y="4114800"/>
            <a:ext cx="4000500" cy="0"/>
          </a:xfrm>
          <a:prstGeom prst="line">
            <a:avLst/>
          </a:prstGeom>
          <a:ln w="10160">
            <a:solidFill>
              <a:srgbClr val="245D91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81000" y="43180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On/Off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4876800"/>
            <a:ext cx="40005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플로트에 따라 기동·정지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단순하지만 열충격·잦은 기동 부담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62500" y="4114800"/>
            <a:ext cx="4000500" cy="0"/>
          </a:xfrm>
          <a:prstGeom prst="line">
            <a:avLst/>
          </a:prstGeom>
          <a:ln w="10160">
            <a:solidFill>
              <a:srgbClr val="92D05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762500" y="4318000"/>
            <a:ext cx="4000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비례·변속 제어(VFD)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4876800"/>
            <a:ext cx="40005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증기량·수위에 따라 회전수 조절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연속적이고 완만한 급수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급수펌프의 종류와 적용 특성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압력·유량·설치면적에 맞춰 펌프 형식과 배치를 선택한다.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/>
                <a:gridCol w="59944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특성·적용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다단 원심펌프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임펠러를 직렬 연결해 승압</a:t>
                      </a:r>
                    </a:p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산업용에서 주로 사용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수평형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대용량·고온·고압 / 유지보수 용이</a:t>
                      </a:r>
                    </a:p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설치면적이 큼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수직형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좁은 설치면적에 유리</a:t>
                      </a:r>
                    </a:p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소형~중형 패키지에 사용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용적식·왕복동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피스톤·플런저로 토출</a:t>
                      </a:r>
                    </a:p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소유량·초고압·정밀유량 특수공정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전극보일러 설비 외관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pic>
        <p:nvPicPr>
          <p:cNvPr id="9" name="Picture 8" descr="p64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092200"/>
            <a:ext cx="81026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순환펌프의 역할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급수펌프는 새 물을 공급하고, 순환펌프는 계통의 물을 계속 순환시킨다.</a:t>
            </a:r>
          </a:p>
        </p:txBody>
      </p:sp>
      <p:pic>
        <p:nvPicPr>
          <p:cNvPr id="13" name="Picture 12" descr="p65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695" y="1155700"/>
            <a:ext cx="6554608" cy="3606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5105400"/>
            <a:ext cx="807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보일러·지역난방·HVAC 계통에서 필요한 곳으로 열을 전달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급수펌프와 순환펌프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급수는 보일러 내부압력을, 순환은 배관의 마찰저항을 극복한다.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800"/>
                <a:gridCol w="3340100"/>
                <a:gridCol w="33401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급수펌프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순환펌프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역할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외부의 물을 보일러에 주입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계통의 물을 순환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 압력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보일러 내부압력 극복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비교적 낮음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배관 마찰저항 극복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방식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수위에 따라 간헐·비례 운전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유지를 위해 대개 연속 운전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도징 스테이션의 정밀 약품 주입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유량·pH·농도 신호에 따라 필요한 약품을 정량 공급한다.</a:t>
            </a:r>
          </a:p>
        </p:txBody>
      </p:sp>
      <p:pic>
        <p:nvPicPr>
          <p:cNvPr id="13" name="Picture 12" descr="p66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53585"/>
            <a:ext cx="5334000" cy="29411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3081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주요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55800"/>
            <a:ext cx="2590800" cy="148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저장탱크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계량펌프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컨트롤러·센서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44196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45974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상태 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50800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유량·pH·농도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6033" y="48514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3318933" y="44196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8933" y="45974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주입량 조절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8933" y="50800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정해진 농도·비율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3966" y="48514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6256866" y="44196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6866" y="45974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정량 공급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866" y="50800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일관된 지속 공급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플래시탱크의 작동 원리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감압으로 발생한 증기와 응축수를 분리해 열에너지를 회수한다.</a:t>
            </a:r>
          </a:p>
        </p:txBody>
      </p:sp>
      <p:pic>
        <p:nvPicPr>
          <p:cNvPr id="13" name="Picture 12" descr="p67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60582"/>
            <a:ext cx="5334000" cy="29271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4351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감압 후 일부 증발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71700"/>
            <a:ext cx="2590800" cy="140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증기는 위쪽으로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응축수는 아래쪽으로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분리·배출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4432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4610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고압 응축수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5092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탱크로 유입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6033" y="4864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3318933" y="44323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8933" y="4610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감압·증발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8933" y="5092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일부 액체가 증기로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3966" y="4864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6256866" y="4432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6866" y="4610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상분리·회수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866" y="5092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증기·응축수 활용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급수의 용존산소 제거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기계적 탈기 후 남은 산소는 미량 약품으로 제거한다.</a:t>
            </a:r>
          </a:p>
        </p:txBody>
      </p:sp>
      <p:pic>
        <p:nvPicPr>
          <p:cNvPr id="13" name="Picture 12" descr="p68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41098"/>
            <a:ext cx="5334000" cy="2966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28270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7~10 ppb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47900"/>
            <a:ext cx="2590800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기계적 탈기 도달 수준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설계에 따라 상이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4305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4483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기계적 탈기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4965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가열·용존가스 방출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6033" y="4737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3318933" y="43053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8933" y="4483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화학적 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8933" y="4965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잔류산소에 미량 약품 주입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3966" y="4737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6256866" y="4305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6866" y="4483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운전 중 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866" y="4965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DO 측정·정량 투입 조절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산소 제거제별 특징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운전조건에 맞는 약품을 선정하고, 과다 투입에 따른 슬러지·부식을 관리한다.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44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/>
                <a:gridCol w="48768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제거제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특징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782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아황산나트륨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Sodium Sulfite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저압 보일러에 일반적</a:t>
                      </a:r>
                    </a:p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TDS(용존 염류) 증가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Hydrazine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효과적이나 발암 우려로 사용 감소 추세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카보하이드라진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Carbohydrazide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 대체·부산물 적음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DEHA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휘발성이 있어 배관 전체 보호 가능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2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에리소르빈산</a:t>
                      </a:r>
                    </a:p>
                    <a:p>
                      <a:pPr algn="ctr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Erythorbic acid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식품·제약 등 비독성 요구 시 사용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급수펌프 이중화 구성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운전·대기 펌프를 구성해 고장과 유지보수 중에도 급수를 지속한다.</a:t>
            </a:r>
          </a:p>
        </p:txBody>
      </p:sp>
      <p:pic>
        <p:nvPicPr>
          <p:cNvPr id="13" name="Picture 12" descr="p69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42811"/>
            <a:ext cx="5334000" cy="29626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282700"/>
            <a:ext cx="25908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2×100%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98700"/>
            <a:ext cx="25908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 Duty + 1 Standby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평상시 1대 운전·1대 대기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4279900"/>
            <a:ext cx="8382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부하 분산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4914900"/>
            <a:ext cx="83820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2×50% 또는 3×50%  →  고장 시 부분용량 유지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대기펌프의 자동 기동·절체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압력·펌프 상태·수위를 감시하고, 정기 절체로 균등 마모를 유도한다.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53340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기동·절체 조건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기준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압력 저하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토출압력이 설정치 이하로 하락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펌프 트립·고장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과부하·진동·베어링 온도 이상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드럼 레벨 저하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수위 하락으로 급수량 부족 판단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정기 순환 절체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Duty / Standby를 주기적으로 교대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증기보일러의 순환계통과 제어밸브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순환펌프 회로와 증기배관 제어밸브로 계통을 구성한다.</a:t>
            </a:r>
          </a:p>
        </p:txBody>
      </p:sp>
      <p:pic>
        <p:nvPicPr>
          <p:cNvPr id="13" name="Picture 12" descr="p70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47042"/>
            <a:ext cx="5334000" cy="29542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3081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순환펌프 회로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57400"/>
            <a:ext cx="25908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보일러수 순환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179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증기배관 제어밸브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267200"/>
            <a:ext cx="25908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증기배관에 설치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보일러 내부의 물 순환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물은 외실에서 분배배관을 거쳐 전극 주변의 내실로 순환한다.</a:t>
            </a:r>
          </a:p>
        </p:txBody>
      </p:sp>
      <p:pic>
        <p:nvPicPr>
          <p:cNvPr id="13" name="Picture 12" descr="p71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83270"/>
            <a:ext cx="4000500" cy="2186459"/>
          </a:xfrm>
          <a:prstGeom prst="rect">
            <a:avLst/>
          </a:prstGeom>
        </p:spPr>
      </p:pic>
      <p:pic>
        <p:nvPicPr>
          <p:cNvPr id="14" name="Picture 13" descr="p71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351234"/>
            <a:ext cx="4000500" cy="225053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1000" y="43307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45085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외실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49911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 공급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6033" y="47625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318933" y="43307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933" y="45085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분배배관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8933" y="49911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내실로 이송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13966" y="47625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3" name="Rectangle 22"/>
          <p:cNvSpPr/>
          <p:nvPr/>
        </p:nvSpPr>
        <p:spPr>
          <a:xfrm>
            <a:off x="6256866" y="43307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6866" y="45085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866" y="49911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 주변 순환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케이지형 전극과 순환 접촉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 유량·분사량으로 전극과 물의 유효 접촉을 조절한다.</a:t>
            </a:r>
          </a:p>
        </p:txBody>
      </p:sp>
      <p:pic>
        <p:nvPicPr>
          <p:cNvPr id="13" name="Picture 12" descr="p71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99" y="1092200"/>
            <a:ext cx="3787600" cy="2070099"/>
          </a:xfrm>
          <a:prstGeom prst="rect">
            <a:avLst/>
          </a:prstGeom>
        </p:spPr>
      </p:pic>
      <p:pic>
        <p:nvPicPr>
          <p:cNvPr id="14" name="Picture 13" descr="p71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5" y="3467100"/>
            <a:ext cx="3770069" cy="2120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8200" y="1130300"/>
            <a:ext cx="4114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접촉 제어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1676400"/>
            <a:ext cx="41148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유량·분사량 → 접촉량·저항 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2628900"/>
            <a:ext cx="4114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플래시탱크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175000"/>
            <a:ext cx="41148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가열수·증기를 보내 상분리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4127500"/>
            <a:ext cx="4114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이중 용기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4673600"/>
            <a:ext cx="41148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내조·외조 사이 절연 공간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고정 침지와 케이지형 구조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침수 깊이 조절과 유량·분사량 조절의 구조적 차이를 비교한다.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/>
                <a:gridCol w="3314700"/>
                <a:gridCol w="33147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고정 구조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케이지형 구조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상태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물속 고정 침지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상부 케이지형·분사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제어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침수 깊이 조절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유량·분사량 조절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물의 상태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탱크 전체 충수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일부 충수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02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구조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동심 N상 파이프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이중 용기(내조·외조)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보일러수 순환과 전도도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내실 수위와 물의 전도도가 보일러 출력에 영향을 준다.</a:t>
            </a:r>
          </a:p>
        </p:txBody>
      </p:sp>
      <p:pic>
        <p:nvPicPr>
          <p:cNvPr id="13" name="Picture 12" descr="p73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39361"/>
            <a:ext cx="5334000" cy="2969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3208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염분 균일화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866900"/>
            <a:ext cx="25908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물속 염분을 고르게 분포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623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기포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708400"/>
            <a:ext cx="25908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전극의 작동조건 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5003800"/>
            <a:ext cx="83820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염분 함량을 높일 때는 약품 투입장치로 화학약품을 첨가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플래시탱크를 이용한 증기·물 분리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내부 용기의 내용물을 플래시탱크로 보내 증기와 물을 분리한다.</a:t>
            </a:r>
          </a:p>
        </p:txBody>
      </p:sp>
      <p:pic>
        <p:nvPicPr>
          <p:cNvPr id="13" name="Picture 12" descr="p74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0" y="1092200"/>
            <a:ext cx="8138778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증가와 내실 수위 상승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 쪽 밸브를 열고 하단 밸브를 닫아 내실 수위와 출력을 높인다.</a:t>
            </a:r>
          </a:p>
        </p:txBody>
      </p:sp>
      <p:pic>
        <p:nvPicPr>
          <p:cNvPr id="13" name="Picture 12" descr="p75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569" y="1066800"/>
            <a:ext cx="6146860" cy="3365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1000" y="4559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밸브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5219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순환 쪽 열기·하단 닫기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6033" y="4991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3318933" y="45593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933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8933" y="5219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 침수량 증가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3966" y="4991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6256866" y="4559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866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증가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감소와 내실 수위 하강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순환 쪽 밸브를 닫고 하단 밸브를 열어 내실 수위와 출력을 낮춘다.</a:t>
            </a:r>
          </a:p>
        </p:txBody>
      </p:sp>
      <p:pic>
        <p:nvPicPr>
          <p:cNvPr id="13" name="Picture 12" descr="p76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958" y="1066800"/>
            <a:ext cx="6170083" cy="3365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1000" y="4559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밸브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5219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순환 쪽 닫기·하단 열기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6033" y="4991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3318933" y="4559300"/>
            <a:ext cx="292100" cy="254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933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수위 하강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8933" y="5219700"/>
            <a:ext cx="2506133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 침수량 감소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3966" y="4991100"/>
            <a:ext cx="2540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6256866" y="4559300"/>
            <a:ext cx="292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866" y="4737100"/>
            <a:ext cx="2506133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 감소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 건도의 정의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건도는 포화증기 중 기체 상태 증기의 질량 비율이다.</a:t>
            </a:r>
          </a:p>
        </p:txBody>
      </p:sp>
      <p:pic>
        <p:nvPicPr>
          <p:cNvPr id="13" name="Picture 12" descr="p77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98174"/>
            <a:ext cx="4318000" cy="22645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81600" y="1282700"/>
            <a:ext cx="3581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 건도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600" y="1943100"/>
            <a:ext cx="3581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질량 /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(증기 질량 + 물방울 질량)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000" y="4102100"/>
            <a:ext cx="40005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81000" y="4330700"/>
            <a:ext cx="40005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x =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5156200"/>
            <a:ext cx="4000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완전 건포화증기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62500" y="4102100"/>
            <a:ext cx="4000500" cy="0"/>
          </a:xfrm>
          <a:prstGeom prst="line">
            <a:avLst/>
          </a:prstGeom>
          <a:ln w="12700">
            <a:solidFill>
              <a:srgbClr val="92D05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762500" y="4330700"/>
            <a:ext cx="40005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x = 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5156200"/>
            <a:ext cx="4000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95%·물 5%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건도 저하의 영향과 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증기 중 물방울은 유효 열량·설비 건전성·공정 품질에 영향을 준다.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066800"/>
          <a:ext cx="8382000" cy="26796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/>
                <a:gridCol w="63500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 항목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건도 저하 시 영향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</a:tr>
              <a:tr h="7154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열전달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가능한 잠열 감소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54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터빈·공정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블레이드 침식·제품 오염·불균일 가열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5433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배관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응축수 축적으로 수격현상 위험 증가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381000" y="4089400"/>
            <a:ext cx="259080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81000" y="42926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캐리오버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486410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높은 수위·TDS 과다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물방울이 증기와 함께 유입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76600" y="4089400"/>
            <a:ext cx="259080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3276600" y="42926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프라이밍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486410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격렬한 비등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물이 증기와 함께 튀어 나감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4089400"/>
            <a:ext cx="2590800" cy="0"/>
          </a:xfrm>
          <a:prstGeom prst="line">
            <a:avLst/>
          </a:prstGeom>
          <a:ln w="8890">
            <a:solidFill>
              <a:srgbClr val="D9DDE2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172200" y="42926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배관 방열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86410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이송 중 열손실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증기의 일부 재응축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고전압에서 전극 간 거리가 큰 이유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고전압에 맞춰 거리·전도도·접촉면적으로 적정 저항을 확보한다.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4100" y="1676400"/>
            <a:ext cx="2882900" cy="1917700"/>
          </a:xfrm>
          <a:prstGeom prst="rect">
            <a:avLst/>
          </a:prstGeom>
          <a:solidFill>
            <a:srgbClr val="EBF1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500" y="1460500"/>
            <a:ext cx="101600" cy="23368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1460500"/>
            <a:ext cx="101600" cy="23368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100" y="1117600"/>
            <a:ext cx="1206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117600"/>
            <a:ext cx="1206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8100" y="2463800"/>
            <a:ext cx="23876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물의 저항 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04900" y="3987800"/>
            <a:ext cx="27813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308100" y="4114800"/>
            <a:ext cx="23876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· 전극 간 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8600" y="1257300"/>
            <a:ext cx="3454400" cy="1231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R = ρ × (L / A)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P = V² /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8600" y="2857500"/>
            <a:ext cx="3454400" cy="1054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6~15 kV에서 거리가 너무 짧으면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저항 감소 → 전류·전력 증가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1000" y="4381500"/>
            <a:ext cx="2590800" cy="0"/>
          </a:xfrm>
          <a:prstGeom prst="line">
            <a:avLst/>
          </a:prstGeom>
          <a:ln w="10160">
            <a:solidFill>
              <a:srgbClr val="245D91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381000" y="45847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과전류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5156200"/>
            <a:ext cx="25908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저항 감소에 따른 전류 증가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76600" y="4381500"/>
            <a:ext cx="2590800" cy="0"/>
          </a:xfrm>
          <a:prstGeom prst="line">
            <a:avLst/>
          </a:prstGeom>
          <a:ln w="10160">
            <a:solidFill>
              <a:srgbClr val="92D050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3276600" y="45847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아크 위험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5156200"/>
            <a:ext cx="25908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국부 전류밀도 증가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2200" y="4381500"/>
            <a:ext cx="2590800" cy="0"/>
          </a:xfrm>
          <a:prstGeom prst="line">
            <a:avLst/>
          </a:prstGeom>
          <a:ln w="10160">
            <a:solidFill>
              <a:srgbClr val="245D91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6172200" y="4584700"/>
            <a:ext cx="2590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설비 손상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56200"/>
            <a:ext cx="25908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전극·변압기 손상 위험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전압에 따른 전극 간 거리 비교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전압·거리·전도도·유효 접촉면적을 함께 고려해야 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1000" y="1104900"/>
          <a:ext cx="8382000" cy="438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/>
                <a:gridCol w="3314700"/>
                <a:gridCol w="33147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저전압 전극보일러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BF1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고전압 전극보일러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6E9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220~690 V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6~15 kV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간 거리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가까움(수 cm)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멂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827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취지</a:t>
                      </a: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충분한 전류를 얻도록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거리·저항을 작게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저항을 키워 전류를</a:t>
                      </a:r>
                    </a:p>
                    <a:p>
                      <a:pPr algn="ctr">
                        <a:lnSpc>
                          <a:spcPts val="19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적정 수준으로 조절</a:t>
                      </a: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VAPEC 중전압 분사형 전극보일러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565900"/>
            <a:ext cx="63373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3"/>
              </a:rPr>
              <a:t>출처: https://www.youtube.com/watch?v=ZrSNmCcJCUI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2000"/>
            <a:ext cx="8382000" cy="50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1000" y="5842000"/>
            <a:ext cx="31750" cy="5080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2750" y="5842000"/>
            <a:ext cx="31750" cy="508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00" y="5918200"/>
            <a:ext cx="80137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CO₂ 무배출 증기 생산용 분사형 전극보일러로 소개된다.</a:t>
            </a:r>
          </a:p>
        </p:txBody>
      </p:sp>
      <p:pic>
        <p:nvPicPr>
          <p:cNvPr id="14" name="Picture 13" descr="p79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" y="1155700"/>
            <a:ext cx="2343505" cy="3784600"/>
          </a:xfrm>
          <a:prstGeom prst="rect">
            <a:avLst/>
          </a:prstGeom>
        </p:spPr>
      </p:pic>
      <p:pic>
        <p:nvPicPr>
          <p:cNvPr id="15" name="Picture 14" descr="p79_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700" y="1221651"/>
            <a:ext cx="3048000" cy="36526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18300" y="4559300"/>
            <a:ext cx="19685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lang="ko-KR">
                <a:solidFill>
                  <a:srgbClr val="245D91"/>
                </a:solidFill>
                <a:latin typeface="Malgun Gothic"/>
                <a:ea typeface="Malgun Gothic"/>
                <a:cs typeface="Malgun Gothic"/>
              </a:rPr>
              <a:t>60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5283200"/>
            <a:ext cx="2171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대당 최대 출력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406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6400"/>
            <a:ext cx="127000" cy="3048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1600"/>
            <a:ext cx="82296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800" y="622300"/>
            <a:ext cx="7924800" cy="0"/>
          </a:xfrm>
          <a:prstGeom prst="line">
            <a:avLst/>
          </a:prstGeom>
          <a:ln w="27940">
            <a:solidFill>
              <a:srgbClr val="000000"/>
            </a:solidFill>
          </a:ln>
          <a:effectLst/>
        </p:spPr>
      </p:cxnSp>
      <p:pic>
        <p:nvPicPr>
          <p:cNvPr id="7" name="Picture 6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6504136"/>
            <a:ext cx="1092200" cy="32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3400" y="65786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3000"/>
            <a:ext cx="822960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82296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강준서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5041900"/>
            <a:ext cx="8229600" cy="0"/>
          </a:xfrm>
          <a:prstGeom prst="line">
            <a:avLst/>
          </a:prstGeom>
          <a:ln w="12700">
            <a:solidFill>
              <a:srgbClr val="245D91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457200" y="5029200"/>
            <a:ext cx="736600" cy="381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59400"/>
            <a:ext cx="8229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전극형 보일러 기술자료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77D85"/>
      </a:hlink>
      <a:folHlink>
        <a:srgbClr val="777D85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Electrode Boiler — Revised Presentation</dc:title>
  <dc:subject>User section of supplied PDF, pages 38–80; concise content and consistent headings.</dc:subject>
  <dc:creator>강준서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