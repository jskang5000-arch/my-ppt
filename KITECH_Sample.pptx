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0" autoCompressPictures="0" embedTrueTypeFont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Malgun Gothic"/>
        <a:ea typeface="Malgun Gothic"/>
        <a:cs typeface="Malgun Gothic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Malgun Gothic"/>
        <a:ea typeface="Malgun Gothic"/>
        <a:cs typeface="Malgun Gothic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Malgun Gothic"/>
        <a:ea typeface="Malgun Gothic"/>
        <a:cs typeface="Malgun Gothic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Malgun Gothic"/>
        <a:ea typeface="Malgun Gothic"/>
        <a:cs typeface="Malgun Gothic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Malgun Gothic"/>
        <a:ea typeface="Malgun Gothic"/>
        <a:cs typeface="Malgun Gothic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Malgun Gothic"/>
        <a:ea typeface="Malgun Gothic"/>
        <a:cs typeface="Malgun Gothic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Malgun Gothic"/>
        <a:ea typeface="Malgun Gothic"/>
        <a:cs typeface="Malgun Gothic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Malgun Gothic"/>
        <a:ea typeface="Malgun Gothic"/>
        <a:cs typeface="Malgun Gothic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Malgun Gothic"/>
        <a:ea typeface="Malgun Gothic"/>
        <a:cs typeface="Malgun Gothic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Malgun Gothic"/>
          <a:ea typeface="Malgun Gothic"/>
          <a:cs typeface="Malgun Gothic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Malgun Gothic"/>
        <a:buChar char="•"/>
        <a:defRPr sz="3200" kern="1200">
          <a:solidFill>
            <a:schemeClr val="tx1"/>
          </a:solidFill>
          <a:latin typeface="Malgun Gothic"/>
          <a:ea typeface="Malgun Gothic"/>
          <a:cs typeface="Malgun Gothic"/>
        </a:defRPr>
      </a:lvl1pPr>
      <a:lvl2pPr marL="742950" indent="-285750" algn="l" defTabSz="457200" rtl="0" eaLnBrk="1" latinLnBrk="0" hangingPunct="1">
        <a:spcBef>
          <a:spcPct val="20000"/>
        </a:spcBef>
        <a:buFont typeface="Malgun Gothic"/>
        <a:buChar char="–"/>
        <a:defRPr sz="2800" kern="1200">
          <a:solidFill>
            <a:schemeClr val="tx1"/>
          </a:solidFill>
          <a:latin typeface="Malgun Gothic"/>
          <a:ea typeface="Malgun Gothic"/>
          <a:cs typeface="Malgun Gothic"/>
        </a:defRPr>
      </a:lvl2pPr>
      <a:lvl3pPr marL="1143000" indent="-228600" algn="l" defTabSz="457200" rtl="0" eaLnBrk="1" latinLnBrk="0" hangingPunct="1">
        <a:spcBef>
          <a:spcPct val="20000"/>
        </a:spcBef>
        <a:buFont typeface="Malgun Gothic"/>
        <a:buChar char="•"/>
        <a:defRPr sz="2400" kern="1200">
          <a:solidFill>
            <a:schemeClr val="tx1"/>
          </a:solidFill>
          <a:latin typeface="Malgun Gothic"/>
          <a:ea typeface="Malgun Gothic"/>
          <a:cs typeface="Malgun Gothic"/>
        </a:defRPr>
      </a:lvl3pPr>
      <a:lvl4pPr marL="1600200" indent="-228600" algn="l" defTabSz="457200" rtl="0" eaLnBrk="1" latinLnBrk="0" hangingPunct="1">
        <a:spcBef>
          <a:spcPct val="20000"/>
        </a:spcBef>
        <a:buFont typeface="Malgun Gothic"/>
        <a:buChar char="–"/>
        <a:defRPr sz="2000" kern="1200">
          <a:solidFill>
            <a:schemeClr val="tx1"/>
          </a:solidFill>
          <a:latin typeface="Malgun Gothic"/>
          <a:ea typeface="Malgun Gothic"/>
          <a:cs typeface="Malgun Gothic"/>
        </a:defRPr>
      </a:lvl4pPr>
      <a:lvl5pPr marL="2057400" indent="-228600" algn="l" defTabSz="457200" rtl="0" eaLnBrk="1" latinLnBrk="0" hangingPunct="1">
        <a:spcBef>
          <a:spcPct val="20000"/>
        </a:spcBef>
        <a:buFont typeface="Malgun Gothic"/>
        <a:buChar char="»"/>
        <a:defRPr sz="2000" kern="1200">
          <a:solidFill>
            <a:schemeClr val="tx1"/>
          </a:solidFill>
          <a:latin typeface="Malgun Gothic"/>
          <a:ea typeface="Malgun Gothic"/>
          <a:cs typeface="Malgun Gothic"/>
        </a:defRPr>
      </a:lvl5pPr>
      <a:lvl6pPr marL="2514600" indent="-228600" algn="l" defTabSz="457200" rtl="0" eaLnBrk="1" latinLnBrk="0" hangingPunct="1">
        <a:spcBef>
          <a:spcPct val="20000"/>
        </a:spcBef>
        <a:buFont typeface="Malgun Gothic"/>
        <a:buChar char="•"/>
        <a:defRPr sz="2000" kern="1200">
          <a:solidFill>
            <a:schemeClr val="tx1"/>
          </a:solidFill>
          <a:latin typeface="Malgun Gothic"/>
          <a:ea typeface="Malgun Gothic"/>
          <a:cs typeface="Malgun Gothic"/>
        </a:defRPr>
      </a:lvl6pPr>
      <a:lvl7pPr marL="2971800" indent="-228600" algn="l" defTabSz="457200" rtl="0" eaLnBrk="1" latinLnBrk="0" hangingPunct="1">
        <a:spcBef>
          <a:spcPct val="20000"/>
        </a:spcBef>
        <a:buFont typeface="Malgun Gothic"/>
        <a:buChar char="•"/>
        <a:defRPr sz="2000" kern="1200">
          <a:solidFill>
            <a:schemeClr val="tx1"/>
          </a:solidFill>
          <a:latin typeface="Malgun Gothic"/>
          <a:ea typeface="Malgun Gothic"/>
          <a:cs typeface="Malgun Gothic"/>
        </a:defRPr>
      </a:lvl7pPr>
      <a:lvl8pPr marL="3429000" indent="-228600" algn="l" defTabSz="457200" rtl="0" eaLnBrk="1" latinLnBrk="0" hangingPunct="1">
        <a:spcBef>
          <a:spcPct val="20000"/>
        </a:spcBef>
        <a:buFont typeface="Malgun Gothic"/>
        <a:buChar char="•"/>
        <a:defRPr sz="2000" kern="1200">
          <a:solidFill>
            <a:schemeClr val="tx1"/>
          </a:solidFill>
          <a:latin typeface="Malgun Gothic"/>
          <a:ea typeface="Malgun Gothic"/>
          <a:cs typeface="Malgun Gothic"/>
        </a:defRPr>
      </a:lvl8pPr>
      <a:lvl9pPr marL="3886200" indent="-228600" algn="l" defTabSz="457200" rtl="0" eaLnBrk="1" latinLnBrk="0" hangingPunct="1">
        <a:spcBef>
          <a:spcPct val="20000"/>
        </a:spcBef>
        <a:buFont typeface="Malgun Gothic"/>
        <a:buChar char="•"/>
        <a:defRPr sz="2000" kern="1200">
          <a:solidFill>
            <a:schemeClr val="tx1"/>
          </a:solidFill>
          <a:latin typeface="Malgun Gothic"/>
          <a:ea typeface="Malgun Gothic"/>
          <a:cs typeface="Malgun Gothic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Malgun Gothic"/>
          <a:ea typeface="Malgun Gothic"/>
          <a:cs typeface="Malgun Gothic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Malgun Gothic"/>
          <a:ea typeface="Malgun Gothic"/>
          <a:cs typeface="Malgun Gothic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Malgun Gothic"/>
          <a:ea typeface="Malgun Gothic"/>
          <a:cs typeface="Malgun Gothic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Malgun Gothic"/>
          <a:ea typeface="Malgun Gothic"/>
          <a:cs typeface="Malgun Gothic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Malgun Gothic"/>
          <a:ea typeface="Malgun Gothic"/>
          <a:cs typeface="Malgun Gothic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Malgun Gothic"/>
          <a:ea typeface="Malgun Gothic"/>
          <a:cs typeface="Malgun Gothic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Malgun Gothic"/>
          <a:ea typeface="Malgun Gothic"/>
          <a:cs typeface="Malgun Gothic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Malgun Gothic"/>
          <a:ea typeface="Malgun Gothic"/>
          <a:cs typeface="Malgun Gothic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Malgun Gothic"/>
          <a:ea typeface="Malgun Gothic"/>
          <a:cs typeface="Malgun Gothic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jpg"/><Relationship Id="rId4" Type="http://schemas.openxmlformats.org/officeDocument/2006/relationships/hyperlink" Target="https://www.youtube.com/watch?v=bzaoIhKtXHw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81000"/>
            <a:ext cx="8229600" cy="5461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6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 lang="ko-KR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저항식과 전극식, 가열 방식의 차이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1092200"/>
            <a:ext cx="8229600" cy="0"/>
          </a:xfrm>
          <a:prstGeom prst="line">
            <a:avLst/>
          </a:prstGeom>
          <a:ln w="8255">
            <a:solidFill>
              <a:srgbClr val="DCE1E6"/>
            </a:solidFill>
          </a:ln>
          <a:effectLst/>
        </p:spPr>
      </p:cxnSp>
      <p:sp>
        <p:nvSpPr>
          <p:cNvPr id="4" name="Rectangle 3"/>
          <p:cNvSpPr/>
          <p:nvPr/>
        </p:nvSpPr>
        <p:spPr>
          <a:xfrm>
            <a:off x="457200" y="1079500"/>
            <a:ext cx="546100" cy="25400"/>
          </a:xfrm>
          <a:prstGeom prst="rect">
            <a:avLst/>
          </a:prstGeom>
          <a:solidFill>
            <a:srgbClr val="245D9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03300" y="1079500"/>
            <a:ext cx="177800" cy="25400"/>
          </a:xfrm>
          <a:prstGeom prst="rect">
            <a:avLst/>
          </a:prstGeom>
          <a:solidFill>
            <a:srgbClr val="92C84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6" name="Picture 5" descr="KITECH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8321" y="6489700"/>
            <a:ext cx="1061357" cy="3175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191500" y="6553200"/>
            <a:ext cx="495300" cy="190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 lang="ko-KR">
                <a:solidFill>
                  <a:srgbClr val="777D85"/>
                </a:solidFill>
                <a:latin typeface="Malgun Gothic"/>
                <a:ea typeface="Malgun Gothic"/>
                <a:cs typeface="Malgun Gothic"/>
              </a:rPr>
              <a:t>39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409700"/>
            <a:ext cx="38100" cy="292100"/>
          </a:xfrm>
          <a:prstGeom prst="rect">
            <a:avLst/>
          </a:prstGeom>
          <a:solidFill>
            <a:srgbClr val="245D9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2300" y="1371600"/>
            <a:ext cx="3797300" cy="381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 lang="ko-KR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저항식 보일러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854200"/>
            <a:ext cx="3962400" cy="317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 lang="ko-KR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열선에서 발생한 열을 물로 전달</a:t>
            </a:r>
          </a:p>
        </p:txBody>
      </p:sp>
      <p:pic>
        <p:nvPicPr>
          <p:cNvPr id="11" name="Picture 10" descr="01_Resistance_Boil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70050" y="2197100"/>
            <a:ext cx="1536700" cy="153670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4724400" y="1409700"/>
            <a:ext cx="38100" cy="292100"/>
          </a:xfrm>
          <a:prstGeom prst="rect">
            <a:avLst/>
          </a:prstGeom>
          <a:solidFill>
            <a:srgbClr val="92C84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89500" y="1371600"/>
            <a:ext cx="3797300" cy="381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 lang="ko-KR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전극식 보일러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24400" y="1854200"/>
            <a:ext cx="3962400" cy="317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 lang="ko-KR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물 자체의 전기저항으로 직접 가열</a:t>
            </a:r>
          </a:p>
        </p:txBody>
      </p:sp>
      <p:pic>
        <p:nvPicPr>
          <p:cNvPr id="15" name="Picture 14" descr="02_Electrode_Boil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37250" y="2197100"/>
            <a:ext cx="1536700" cy="1536700"/>
          </a:xfrm>
          <a:prstGeom prst="rect">
            <a:avLst/>
          </a:prstGeom>
        </p:spPr>
      </p:pic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457200" y="3924300"/>
          <a:ext cx="8229600" cy="15748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270000"/>
                <a:gridCol w="3479800"/>
                <a:gridCol w="3479800"/>
              </a:tblGrid>
              <a:tr h="393700">
                <a:tc>
                  <a:txBody>
                    <a:bodyPr wrap="none">
                      <a:noAutofit/>
                    </a:bodyPr>
                    <a:lstStyle/>
                    <a:p>
                      <a:pPr algn="ctr">
                        <a:lnSpc>
                          <a:spcPts val="18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50" b="1" i="0" lang="ko-KR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구분</a:t>
                      </a:r>
                    </a:p>
                  </a:txBody>
                  <a:tcPr marL="76200" marR="76200" marT="50800" marB="50800" anchor="ctr">
                    <a:lnL w="8255" cap="flat" cmpd="sng" algn="ctr">
                      <a:solidFill>
                        <a:srgbClr val="000000"/>
                      </a:solidFill>
                      <a:prstDash val="solid"/>
                    </a:lnL>
                    <a:lnR w="5080" cap="flat" cmpd="sng" algn="ctr">
                      <a:solidFill>
                        <a:srgbClr val="000000"/>
                      </a:solidFill>
                      <a:prstDash val="solid"/>
                    </a:lnR>
                    <a:lnT w="8255" cap="flat" cmpd="sng" algn="ctr">
                      <a:solidFill>
                        <a:srgbClr val="000000"/>
                      </a:solidFill>
                      <a:prstDash val="solid"/>
                    </a:lnT>
                    <a:lnB w="508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algn="ctr">
                        <a:lnSpc>
                          <a:spcPts val="18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50" b="1" i="0" lang="ko-KR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저항식</a:t>
                      </a:r>
                    </a:p>
                  </a:txBody>
                  <a:tcPr marL="76200" marR="76200" marT="50800" marB="50800" anchor="ctr">
                    <a:lnL w="5080" cap="flat" cmpd="sng" algn="ctr">
                      <a:solidFill>
                        <a:srgbClr val="000000"/>
                      </a:solidFill>
                      <a:prstDash val="solid"/>
                    </a:lnL>
                    <a:lnR w="5080" cap="flat" cmpd="sng" algn="ctr">
                      <a:solidFill>
                        <a:srgbClr val="000000"/>
                      </a:solidFill>
                      <a:prstDash val="solid"/>
                    </a:lnR>
                    <a:lnT w="8255" cap="flat" cmpd="sng" algn="ctr">
                      <a:solidFill>
                        <a:srgbClr val="000000"/>
                      </a:solidFill>
                      <a:prstDash val="solid"/>
                    </a:lnT>
                    <a:lnB w="508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DF3F8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algn="ctr">
                        <a:lnSpc>
                          <a:spcPts val="18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50" b="1" i="0" lang="ko-KR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전극식</a:t>
                      </a:r>
                    </a:p>
                  </a:txBody>
                  <a:tcPr marL="76200" marR="76200" marT="50800" marB="50800" anchor="ctr">
                    <a:lnL w="5080" cap="flat" cmpd="sng" algn="ctr">
                      <a:solidFill>
                        <a:srgbClr val="000000"/>
                      </a:solidFill>
                      <a:prstDash val="solid"/>
                    </a:lnL>
                    <a:lnR w="8255" cap="flat" cmpd="sng" algn="ctr">
                      <a:solidFill>
                        <a:srgbClr val="000000"/>
                      </a:solidFill>
                      <a:prstDash val="solid"/>
                    </a:lnR>
                    <a:lnT w="8255" cap="flat" cmpd="sng" algn="ctr">
                      <a:solidFill>
                        <a:srgbClr val="000000"/>
                      </a:solidFill>
                      <a:prstDash val="solid"/>
                    </a:lnT>
                    <a:lnB w="508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1F6EA"/>
                    </a:solidFill>
                  </a:tcPr>
                </a:tc>
              </a:tr>
              <a:tr h="393700">
                <a:tc>
                  <a:txBody>
                    <a:bodyPr wrap="none">
                      <a:noAutofit/>
                    </a:bodyPr>
                    <a:lstStyle/>
                    <a:p>
                      <a:pPr algn="ctr">
                        <a:lnSpc>
                          <a:spcPts val="18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50" b="1" i="0" lang="ko-KR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적용 규모</a:t>
                      </a:r>
                    </a:p>
                  </a:txBody>
                  <a:tcPr marL="76200" marR="76200" marT="50800" marB="50800" anchor="ctr">
                    <a:lnL w="8255" cap="flat" cmpd="sng" algn="ctr">
                      <a:solidFill>
                        <a:srgbClr val="000000"/>
                      </a:solidFill>
                      <a:prstDash val="solid"/>
                    </a:lnL>
                    <a:lnR w="5080" cap="flat" cmpd="sng" algn="ctr">
                      <a:solidFill>
                        <a:srgbClr val="000000"/>
                      </a:solidFill>
                      <a:prstDash val="solid"/>
                    </a:lnR>
                    <a:lnT w="5080" cap="flat" cmpd="sng" algn="ctr">
                      <a:solidFill>
                        <a:srgbClr val="000000"/>
                      </a:solidFill>
                      <a:prstDash val="solid"/>
                    </a:lnT>
                    <a:lnB w="508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algn="ctr">
                        <a:lnSpc>
                          <a:spcPts val="18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50" b="0" i="0" lang="ko-KR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소·중용량</a:t>
                      </a:r>
                    </a:p>
                  </a:txBody>
                  <a:tcPr marL="76200" marR="76200" marT="50800" marB="50800" anchor="ctr">
                    <a:lnL w="5080" cap="flat" cmpd="sng" algn="ctr">
                      <a:solidFill>
                        <a:srgbClr val="000000"/>
                      </a:solidFill>
                      <a:prstDash val="solid"/>
                    </a:lnL>
                    <a:lnR w="5080" cap="flat" cmpd="sng" algn="ctr">
                      <a:solidFill>
                        <a:srgbClr val="000000"/>
                      </a:solidFill>
                      <a:prstDash val="solid"/>
                    </a:lnR>
                    <a:lnT w="5080" cap="flat" cmpd="sng" algn="ctr">
                      <a:solidFill>
                        <a:srgbClr val="000000"/>
                      </a:solidFill>
                      <a:prstDash val="solid"/>
                    </a:lnT>
                    <a:lnB w="508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algn="ctr">
                        <a:lnSpc>
                          <a:spcPts val="18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50" b="0" i="0" lang="ko-KR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중·대용량</a:t>
                      </a:r>
                    </a:p>
                  </a:txBody>
                  <a:tcPr marL="76200" marR="76200" marT="50800" marB="50800" anchor="ctr">
                    <a:lnL w="5080" cap="flat" cmpd="sng" algn="ctr">
                      <a:solidFill>
                        <a:srgbClr val="000000"/>
                      </a:solidFill>
                      <a:prstDash val="solid"/>
                    </a:lnL>
                    <a:lnR w="8255" cap="flat" cmpd="sng" algn="ctr">
                      <a:solidFill>
                        <a:srgbClr val="000000"/>
                      </a:solidFill>
                      <a:prstDash val="solid"/>
                    </a:lnR>
                    <a:lnT w="5080" cap="flat" cmpd="sng" algn="ctr">
                      <a:solidFill>
                        <a:srgbClr val="000000"/>
                      </a:solidFill>
                      <a:prstDash val="solid"/>
                    </a:lnT>
                    <a:lnB w="508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93700">
                <a:tc>
                  <a:txBody>
                    <a:bodyPr wrap="none">
                      <a:noAutofit/>
                    </a:bodyPr>
                    <a:lstStyle/>
                    <a:p>
                      <a:pPr algn="ctr">
                        <a:lnSpc>
                          <a:spcPts val="18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50" b="1" i="0" lang="ko-KR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부하 응답</a:t>
                      </a:r>
                    </a:p>
                  </a:txBody>
                  <a:tcPr marL="76200" marR="76200" marT="50800" marB="50800" anchor="ctr">
                    <a:lnL w="8255" cap="flat" cmpd="sng" algn="ctr">
                      <a:solidFill>
                        <a:srgbClr val="000000"/>
                      </a:solidFill>
                      <a:prstDash val="solid"/>
                    </a:lnL>
                    <a:lnR w="5080" cap="flat" cmpd="sng" algn="ctr">
                      <a:solidFill>
                        <a:srgbClr val="000000"/>
                      </a:solidFill>
                      <a:prstDash val="solid"/>
                    </a:lnR>
                    <a:lnT w="5080" cap="flat" cmpd="sng" algn="ctr">
                      <a:solidFill>
                        <a:srgbClr val="000000"/>
                      </a:solidFill>
                      <a:prstDash val="solid"/>
                    </a:lnT>
                    <a:lnB w="508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algn="ctr">
                        <a:lnSpc>
                          <a:spcPts val="18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50" b="0" i="0" lang="ko-KR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상대적으로 느림</a:t>
                      </a:r>
                    </a:p>
                  </a:txBody>
                  <a:tcPr marL="76200" marR="76200" marT="50800" marB="50800" anchor="ctr">
                    <a:lnL w="5080" cap="flat" cmpd="sng" algn="ctr">
                      <a:solidFill>
                        <a:srgbClr val="000000"/>
                      </a:solidFill>
                      <a:prstDash val="solid"/>
                    </a:lnL>
                    <a:lnR w="5080" cap="flat" cmpd="sng" algn="ctr">
                      <a:solidFill>
                        <a:srgbClr val="000000"/>
                      </a:solidFill>
                      <a:prstDash val="solid"/>
                    </a:lnR>
                    <a:lnT w="5080" cap="flat" cmpd="sng" algn="ctr">
                      <a:solidFill>
                        <a:srgbClr val="000000"/>
                      </a:solidFill>
                      <a:prstDash val="solid"/>
                    </a:lnT>
                    <a:lnB w="508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algn="ctr">
                        <a:lnSpc>
                          <a:spcPts val="18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50" b="0" i="0" lang="ko-KR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빠른 변동 대응</a:t>
                      </a:r>
                    </a:p>
                  </a:txBody>
                  <a:tcPr marL="76200" marR="76200" marT="50800" marB="50800" anchor="ctr">
                    <a:lnL w="5080" cap="flat" cmpd="sng" algn="ctr">
                      <a:solidFill>
                        <a:srgbClr val="000000"/>
                      </a:solidFill>
                      <a:prstDash val="solid"/>
                    </a:lnL>
                    <a:lnR w="8255" cap="flat" cmpd="sng" algn="ctr">
                      <a:solidFill>
                        <a:srgbClr val="000000"/>
                      </a:solidFill>
                      <a:prstDash val="solid"/>
                    </a:lnR>
                    <a:lnT w="5080" cap="flat" cmpd="sng" algn="ctr">
                      <a:solidFill>
                        <a:srgbClr val="000000"/>
                      </a:solidFill>
                      <a:prstDash val="solid"/>
                    </a:lnT>
                    <a:lnB w="508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93700">
                <a:tc>
                  <a:txBody>
                    <a:bodyPr wrap="none">
                      <a:noAutofit/>
                    </a:bodyPr>
                    <a:lstStyle/>
                    <a:p>
                      <a:pPr algn="ctr">
                        <a:lnSpc>
                          <a:spcPts val="18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50" b="1" i="0" lang="ko-KR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수질 관리</a:t>
                      </a:r>
                    </a:p>
                  </a:txBody>
                  <a:tcPr marL="76200" marR="76200" marT="50800" marB="50800" anchor="ctr">
                    <a:lnL w="8255" cap="flat" cmpd="sng" algn="ctr">
                      <a:solidFill>
                        <a:srgbClr val="000000"/>
                      </a:solidFill>
                      <a:prstDash val="solid"/>
                    </a:lnL>
                    <a:lnR w="5080" cap="flat" cmpd="sng" algn="ctr">
                      <a:solidFill>
                        <a:srgbClr val="000000"/>
                      </a:solidFill>
                      <a:prstDash val="solid"/>
                    </a:lnR>
                    <a:lnT w="5080" cap="flat" cmpd="sng" algn="ctr">
                      <a:solidFill>
                        <a:srgbClr val="000000"/>
                      </a:solidFill>
                      <a:prstDash val="solid"/>
                    </a:lnT>
                    <a:lnB w="8255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algn="ctr">
                        <a:lnSpc>
                          <a:spcPts val="18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50" b="0" i="0" lang="ko-KR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상대적으로 덜 민감</a:t>
                      </a:r>
                    </a:p>
                  </a:txBody>
                  <a:tcPr marL="76200" marR="76200" marT="50800" marB="50800" anchor="ctr">
                    <a:lnL w="5080" cap="flat" cmpd="sng" algn="ctr">
                      <a:solidFill>
                        <a:srgbClr val="000000"/>
                      </a:solidFill>
                      <a:prstDash val="solid"/>
                    </a:lnL>
                    <a:lnR w="5080" cap="flat" cmpd="sng" algn="ctr">
                      <a:solidFill>
                        <a:srgbClr val="000000"/>
                      </a:solidFill>
                      <a:prstDash val="solid"/>
                    </a:lnR>
                    <a:lnT w="5080" cap="flat" cmpd="sng" algn="ctr">
                      <a:solidFill>
                        <a:srgbClr val="000000"/>
                      </a:solidFill>
                      <a:prstDash val="solid"/>
                    </a:lnT>
                    <a:lnB w="8255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algn="ctr">
                        <a:lnSpc>
                          <a:spcPts val="18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50" b="0" i="0" lang="ko-KR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전도도·스케일 관리 필수</a:t>
                      </a:r>
                    </a:p>
                  </a:txBody>
                  <a:tcPr marL="76200" marR="76200" marT="50800" marB="50800" anchor="ctr">
                    <a:lnL w="5080" cap="flat" cmpd="sng" algn="ctr">
                      <a:solidFill>
                        <a:srgbClr val="000000"/>
                      </a:solidFill>
                      <a:prstDash val="solid"/>
                    </a:lnL>
                    <a:lnR w="8255" cap="flat" cmpd="sng" algn="ctr">
                      <a:solidFill>
                        <a:srgbClr val="000000"/>
                      </a:solidFill>
                      <a:prstDash val="solid"/>
                    </a:lnR>
                    <a:lnT w="5080" cap="flat" cmpd="sng" algn="ctr">
                      <a:solidFill>
                        <a:srgbClr val="000000"/>
                      </a:solidFill>
                      <a:prstDash val="solid"/>
                    </a:lnT>
                    <a:lnB w="8255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7" name="Rectangle 16"/>
          <p:cNvSpPr/>
          <p:nvPr/>
        </p:nvSpPr>
        <p:spPr>
          <a:xfrm>
            <a:off x="457200" y="5753100"/>
            <a:ext cx="8229600" cy="533400"/>
          </a:xfrm>
          <a:prstGeom prst="rect">
            <a:avLst/>
          </a:prstGeom>
          <a:solidFill>
            <a:srgbClr val="F3F5F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57200" y="5753100"/>
            <a:ext cx="38100" cy="533400"/>
          </a:xfrm>
          <a:prstGeom prst="rect">
            <a:avLst/>
          </a:prstGeom>
          <a:solidFill>
            <a:srgbClr val="245D9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95300" y="5753100"/>
            <a:ext cx="38100" cy="533400"/>
          </a:xfrm>
          <a:prstGeom prst="rect">
            <a:avLst/>
          </a:prstGeom>
          <a:solidFill>
            <a:srgbClr val="92C84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73100" y="5854700"/>
            <a:ext cx="7823200" cy="3429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 lang="ko-KR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저항식은 단순한 소규모 열원, 전극식은 대용량·빠른 부하 대응에 적합하다.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81000"/>
            <a:ext cx="8229600" cy="5461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6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 lang="ko-KR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급수탱크와 탈기기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1092200"/>
            <a:ext cx="8229600" cy="0"/>
          </a:xfrm>
          <a:prstGeom prst="line">
            <a:avLst/>
          </a:prstGeom>
          <a:ln w="8255">
            <a:solidFill>
              <a:srgbClr val="DCE1E6"/>
            </a:solidFill>
          </a:ln>
          <a:effectLst/>
        </p:spPr>
      </p:cxnSp>
      <p:sp>
        <p:nvSpPr>
          <p:cNvPr id="4" name="Rectangle 3"/>
          <p:cNvSpPr/>
          <p:nvPr/>
        </p:nvSpPr>
        <p:spPr>
          <a:xfrm>
            <a:off x="457200" y="1079500"/>
            <a:ext cx="546100" cy="25400"/>
          </a:xfrm>
          <a:prstGeom prst="rect">
            <a:avLst/>
          </a:prstGeom>
          <a:solidFill>
            <a:srgbClr val="245D9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03300" y="1079500"/>
            <a:ext cx="177800" cy="25400"/>
          </a:xfrm>
          <a:prstGeom prst="rect">
            <a:avLst/>
          </a:prstGeom>
          <a:solidFill>
            <a:srgbClr val="92C84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6" name="Picture 5" descr="KITECH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8321" y="6489700"/>
            <a:ext cx="1061357" cy="3175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191500" y="6553200"/>
            <a:ext cx="495300" cy="190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 lang="ko-KR">
                <a:solidFill>
                  <a:srgbClr val="777D85"/>
                </a:solidFill>
                <a:latin typeface="Malgun Gothic"/>
                <a:ea typeface="Malgun Gothic"/>
                <a:cs typeface="Malgun Gothic"/>
              </a:rPr>
              <a:t>56</a:t>
            </a:r>
          </a:p>
        </p:txBody>
      </p:sp>
      <p:pic>
        <p:nvPicPr>
          <p:cNvPr id="8" name="Picture 7" descr="p56_1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424771"/>
            <a:ext cx="5334000" cy="3081357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6134100" y="1524000"/>
            <a:ext cx="38100" cy="266700"/>
          </a:xfrm>
          <a:prstGeom prst="rect">
            <a:avLst/>
          </a:prstGeom>
          <a:solidFill>
            <a:srgbClr val="245D9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99200" y="1485900"/>
            <a:ext cx="2387600" cy="3683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 lang="ko-KR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급수탱크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99200" y="2032000"/>
            <a:ext cx="2387600" cy="660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2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 lang="ko-KR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응축수·보충수 저장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34100" y="2997200"/>
            <a:ext cx="38100" cy="266700"/>
          </a:xfrm>
          <a:prstGeom prst="rect">
            <a:avLst/>
          </a:prstGeom>
          <a:solidFill>
            <a:srgbClr val="92C84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99200" y="2959100"/>
            <a:ext cx="2387600" cy="3683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 lang="ko-KR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탈기기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99200" y="3505200"/>
            <a:ext cx="2387600" cy="660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2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 lang="ko-KR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증기 가열로</a:t>
            </a:r>
          </a:p>
          <a:p>
            <a:pPr algn="l">
              <a:lnSpc>
                <a:spcPts val="22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 lang="ko-KR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용존 O₂·CO₂ 제거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6134100" y="2781300"/>
            <a:ext cx="2552700" cy="0"/>
          </a:xfrm>
          <a:prstGeom prst="line">
            <a:avLst/>
          </a:prstGeom>
          <a:ln w="8255">
            <a:solidFill>
              <a:srgbClr val="DCE1E6"/>
            </a:solidFill>
          </a:ln>
          <a:effectLst/>
        </p:spPr>
      </p:cxnSp>
      <p:sp>
        <p:nvSpPr>
          <p:cNvPr id="16" name="Rectangle 15"/>
          <p:cNvSpPr/>
          <p:nvPr/>
        </p:nvSpPr>
        <p:spPr>
          <a:xfrm>
            <a:off x="457200" y="4762500"/>
            <a:ext cx="279400" cy="25400"/>
          </a:xfrm>
          <a:prstGeom prst="rect">
            <a:avLst/>
          </a:prstGeom>
          <a:solidFill>
            <a:srgbClr val="245D9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4902200"/>
            <a:ext cx="2171700" cy="317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2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 lang="ko-KR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급수 유입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5283200"/>
            <a:ext cx="2171700" cy="279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 lang="ko-KR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응축수·보충수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429000" y="4762500"/>
            <a:ext cx="279400" cy="25400"/>
          </a:xfrm>
          <a:prstGeom prst="rect">
            <a:avLst/>
          </a:prstGeom>
          <a:solidFill>
            <a:srgbClr val="92C84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429000" y="4902200"/>
            <a:ext cx="2171700" cy="317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2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 lang="ko-KR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저장·탈기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429000" y="5283200"/>
            <a:ext cx="2171700" cy="279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 lang="ko-KR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탈기기 부착 급수탱크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0" y="4762500"/>
            <a:ext cx="279400" cy="25400"/>
          </a:xfrm>
          <a:prstGeom prst="rect">
            <a:avLst/>
          </a:prstGeom>
          <a:solidFill>
            <a:srgbClr val="245D9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0" y="4902200"/>
            <a:ext cx="2286000" cy="317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2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 lang="ko-KR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본체 공급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5283200"/>
            <a:ext cx="2286000" cy="279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 lang="ko-KR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급수펌프 → 보일러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2794000" y="5130800"/>
            <a:ext cx="355600" cy="0"/>
          </a:xfrm>
          <a:prstGeom prst="line">
            <a:avLst/>
          </a:prstGeom>
          <a:ln w="12700">
            <a:solidFill>
              <a:srgbClr val="245D91"/>
            </a:solidFill>
            <a:tailEnd type="triangle" w="sm" len="sm"/>
          </a:ln>
          <a:effectLst/>
        </p:spPr>
      </p:cxnSp>
      <p:cxnSp>
        <p:nvCxnSpPr>
          <p:cNvPr id="26" name="Connector 25"/>
          <p:cNvCxnSpPr/>
          <p:nvPr/>
        </p:nvCxnSpPr>
        <p:spPr>
          <a:xfrm>
            <a:off x="5765800" y="5130800"/>
            <a:ext cx="355600" cy="0"/>
          </a:xfrm>
          <a:prstGeom prst="line">
            <a:avLst/>
          </a:prstGeom>
          <a:ln w="12700">
            <a:solidFill>
              <a:srgbClr val="245D91"/>
            </a:solidFill>
            <a:tailEnd type="triangle" w="sm" len="sm"/>
          </a:ln>
          <a:effectLst/>
        </p:spPr>
      </p:cxnSp>
      <p:sp>
        <p:nvSpPr>
          <p:cNvPr id="27" name="Rectangle 26"/>
          <p:cNvSpPr/>
          <p:nvPr/>
        </p:nvSpPr>
        <p:spPr>
          <a:xfrm>
            <a:off x="457200" y="5753100"/>
            <a:ext cx="8229600" cy="533400"/>
          </a:xfrm>
          <a:prstGeom prst="rect">
            <a:avLst/>
          </a:prstGeom>
          <a:solidFill>
            <a:srgbClr val="F3F5F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57200" y="5753100"/>
            <a:ext cx="38100" cy="533400"/>
          </a:xfrm>
          <a:prstGeom prst="rect">
            <a:avLst/>
          </a:prstGeom>
          <a:solidFill>
            <a:srgbClr val="245D9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95300" y="5753100"/>
            <a:ext cx="38100" cy="533400"/>
          </a:xfrm>
          <a:prstGeom prst="rect">
            <a:avLst/>
          </a:prstGeom>
          <a:solidFill>
            <a:srgbClr val="92C84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73100" y="5854700"/>
            <a:ext cx="7823200" cy="3429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 lang="ko-KR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급수는 저장하고, 용존가스는 제거해 보일러·배관의 부식을 방지한다.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78000" y="6578600"/>
            <a:ext cx="6019800" cy="177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1" lang="ko-KR">
                <a:solidFill>
                  <a:srgbClr val="777D85"/>
                </a:solidFill>
                <a:latin typeface="Malgun Gothic"/>
                <a:ea typeface="Malgun Gothic"/>
                <a:cs typeface="Malgun Gothic"/>
                <a:hlinkClick r:id="rId4"/>
              </a:rPr>
              <a:t>출처: https://www.youtube.com/watch?v=bzaoIhKtXHw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777D85"/>
      </a:hlink>
      <a:folHlink>
        <a:srgbClr val="777D85"/>
      </a:folHlink>
    </a:clrScheme>
    <a:fontScheme name="Office">
      <a:majorFont>
        <a:latin typeface="Malgun Gothic"/>
        <a:ea typeface="Malgun Gothic"/>
        <a:cs typeface="Malgun Gothic"/>
        <a:font script="Jpan" typeface="Malgun Gothic"/>
        <a:font script="Hang" typeface="Malgun Gothic"/>
        <a:font script="Hans" typeface="Malgun Gothic"/>
        <a:font script="Hant" typeface="Malgun Gothic"/>
        <a:font script="Arab" typeface="Malgun Gothic"/>
        <a:font script="Hebr" typeface="Malgun Gothic"/>
        <a:font script="Thai" typeface="Malgun Gothic"/>
        <a:font script="Ethi" typeface="Malgun Gothic"/>
        <a:font script="Beng" typeface="Malgun Gothic"/>
        <a:font script="Gujr" typeface="Malgun Gothic"/>
        <a:font script="Khmr" typeface="Malgun Gothic"/>
        <a:font script="Knda" typeface="Malgun Gothic"/>
        <a:font script="Guru" typeface="Malgun Gothic"/>
        <a:font script="Cans" typeface="Malgun Gothic"/>
        <a:font script="Cher" typeface="Malgun Gothic"/>
        <a:font script="Yiii" typeface="Malgun Gothic"/>
        <a:font script="Tibt" typeface="Malgun Gothic"/>
        <a:font script="Thaa" typeface="Malgun Gothic"/>
        <a:font script="Deva" typeface="Malgun Gothic"/>
        <a:font script="Telu" typeface="Malgun Gothic"/>
        <a:font script="Taml" typeface="Malgun Gothic"/>
        <a:font script="Syrc" typeface="Malgun Gothic"/>
        <a:font script="Orya" typeface="Malgun Gothic"/>
        <a:font script="Mlym" typeface="Malgun Gothic"/>
        <a:font script="Laoo" typeface="Malgun Gothic"/>
        <a:font script="Sinh" typeface="Malgun Gothic"/>
        <a:font script="Mong" typeface="Malgun Gothic"/>
        <a:font script="Viet" typeface="Malgun Gothic"/>
        <a:font script="Uigh" typeface="Malgun Gothic"/>
        <a:font script="Geor" typeface="Malgun Gothic"/>
      </a:majorFont>
      <a:minorFont>
        <a:latin typeface="Malgun Gothic"/>
        <a:ea typeface="Malgun Gothic"/>
        <a:cs typeface="Malgun Gothic"/>
        <a:font script="Jpan" typeface="Malgun Gothic"/>
        <a:font script="Hang" typeface="Malgun Gothic"/>
        <a:font script="Hans" typeface="Malgun Gothic"/>
        <a:font script="Hant" typeface="Malgun Gothic"/>
        <a:font script="Arab" typeface="Malgun Gothic"/>
        <a:font script="Hebr" typeface="Malgun Gothic"/>
        <a:font script="Thai" typeface="Malgun Gothic"/>
        <a:font script="Ethi" typeface="Malgun Gothic"/>
        <a:font script="Beng" typeface="Malgun Gothic"/>
        <a:font script="Gujr" typeface="Malgun Gothic"/>
        <a:font script="Khmr" typeface="Malgun Gothic"/>
        <a:font script="Knda" typeface="Malgun Gothic"/>
        <a:font script="Guru" typeface="Malgun Gothic"/>
        <a:font script="Cans" typeface="Malgun Gothic"/>
        <a:font script="Cher" typeface="Malgun Gothic"/>
        <a:font script="Yiii" typeface="Malgun Gothic"/>
        <a:font script="Tibt" typeface="Malgun Gothic"/>
        <a:font script="Thaa" typeface="Malgun Gothic"/>
        <a:font script="Deva" typeface="Malgun Gothic"/>
        <a:font script="Telu" typeface="Malgun Gothic"/>
        <a:font script="Taml" typeface="Malgun Gothic"/>
        <a:font script="Syrc" typeface="Malgun Gothic"/>
        <a:font script="Orya" typeface="Malgun Gothic"/>
        <a:font script="Mlym" typeface="Malgun Gothic"/>
        <a:font script="Laoo" typeface="Malgun Gothic"/>
        <a:font script="Sinh" typeface="Malgun Gothic"/>
        <a:font script="Mong" typeface="Malgun Gothic"/>
        <a:font script="Viet" typeface="Malgun Gothic"/>
        <a:font script="Uigh" typeface="Malgun Gothic"/>
        <a:font script="Geor" typeface="Malgun Gothic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KITECH Boiler — Two-slide Design Sample</dc:title>
  <dc:subject>Original PDF pages 39 and 56 only. Concise content, editable objects, no speaker notes.</dc:subject>
  <dc:creator>강준서</dc:creator>
  <cp:keywords/>
  <dc:description/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