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algun Gothic"/>
          <a:ea typeface="Malgun Gothic"/>
          <a:cs typeface="Malgun Gothic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Malgun Gothic"/>
        <a:buChar char="•"/>
        <a:defRPr sz="3200" kern="1200">
          <a:solidFill>
            <a:schemeClr val="tx1"/>
          </a:solidFill>
          <a:latin typeface="Malgun Gothic"/>
          <a:ea typeface="Malgun Gothic"/>
          <a:cs typeface="Malgun Gothic"/>
        </a:defRPr>
      </a:lvl1pPr>
      <a:lvl2pPr marL="742950" indent="-285750" algn="l" defTabSz="457200" rtl="0" eaLnBrk="1" latinLnBrk="0" hangingPunct="1">
        <a:spcBef>
          <a:spcPct val="20000"/>
        </a:spcBef>
        <a:buFont typeface="Malgun Gothic"/>
        <a:buChar char="–"/>
        <a:defRPr sz="2800" kern="1200">
          <a:solidFill>
            <a:schemeClr val="tx1"/>
          </a:solidFill>
          <a:latin typeface="Malgun Gothic"/>
          <a:ea typeface="Malgun Gothic"/>
          <a:cs typeface="Malgun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Malgun Gothic"/>
        <a:buChar char="•"/>
        <a:defRPr sz="2400" kern="1200">
          <a:solidFill>
            <a:schemeClr val="tx1"/>
          </a:solidFill>
          <a:latin typeface="Malgun Gothic"/>
          <a:ea typeface="Malgun Gothic"/>
          <a:cs typeface="Malgun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Malgun Gothic"/>
        <a:buChar char="–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Malgun Gothic"/>
        <a:buChar char="»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6pPr>
      <a:lvl7pPr marL="29718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7pPr>
      <a:lvl8pPr marL="34290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8pPr>
      <a:lvl9pPr marL="38862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1300"/>
            <a:ext cx="558800" cy="31750"/>
          </a:xfrm>
          <a:prstGeom prst="rect">
            <a:avLst/>
          </a:prstGeom>
          <a:solidFill>
            <a:srgbClr val="87B9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9100"/>
            <a:ext cx="8229600" cy="5080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침지형 증기보일러의 운전 원리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4100"/>
            <a:ext cx="8229600" cy="0"/>
          </a:xfrm>
          <a:prstGeom prst="line">
            <a:avLst/>
          </a:prstGeom>
          <a:ln w="6985">
            <a:solidFill>
              <a:srgbClr val="DCE4D8"/>
            </a:solidFill>
          </a:ln>
          <a:effectLst/>
        </p:spPr>
      </p:cxnSp>
      <p:pic>
        <p:nvPicPr>
          <p:cNvPr id="5" name="Picture 4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57200" y="6413500"/>
            <a:ext cx="8229600" cy="0"/>
          </a:xfrm>
          <a:prstGeom prst="line">
            <a:avLst/>
          </a:prstGeom>
          <a:ln w="5715">
            <a:solidFill>
              <a:srgbClr val="DCE4D8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7874000" y="6540500"/>
            <a:ext cx="812800" cy="1905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6D786F"/>
                </a:solidFill>
                <a:latin typeface="Malgun Gothic"/>
                <a:ea typeface="Malgun Gothic"/>
                <a:cs typeface="Malgun Gothic"/>
              </a:rPr>
              <a:t>01 / 04</a:t>
            </a:r>
          </a:p>
        </p:txBody>
      </p:sp>
      <p:pic>
        <p:nvPicPr>
          <p:cNvPr id="8" name="Picture 7" descr="pdf65_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1859"/>
            <a:ext cx="4470400" cy="2443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2400" y="1409700"/>
            <a:ext cx="330200" cy="3048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ko-KR">
                <a:solidFill>
                  <a:srgbClr val="87B94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2300" y="1371600"/>
            <a:ext cx="2984500" cy="3556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급수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2300" y="1765300"/>
            <a:ext cx="2984500" cy="5080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탈염·탈기수 → 외조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2400" y="2298700"/>
            <a:ext cx="330200" cy="3048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ko-KR">
                <a:solidFill>
                  <a:srgbClr val="87B94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2300" y="2260600"/>
            <a:ext cx="2984500" cy="3556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순환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2300" y="2654300"/>
            <a:ext cx="2984500" cy="5080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펌프 2대 구성</a:t>
            </a:r>
          </a:p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고장 시 자동 기동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2400" y="3187700"/>
            <a:ext cx="330200" cy="3048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ko-KR">
                <a:solidFill>
                  <a:srgbClr val="87B94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2300" y="3149600"/>
            <a:ext cx="2984500" cy="3556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출력 제어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2300" y="3543300"/>
            <a:ext cx="2984500" cy="5080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내조 수위·밸브로</a:t>
            </a:r>
          </a:p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출력 0~100% 조절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4178300"/>
            <a:ext cx="8229600" cy="0"/>
          </a:xfrm>
          <a:prstGeom prst="line">
            <a:avLst/>
          </a:prstGeom>
          <a:ln w="6985">
            <a:solidFill>
              <a:srgbClr val="DCE4D8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457200" y="4381500"/>
            <a:ext cx="2590800" cy="368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전도도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26000"/>
            <a:ext cx="2590800" cy="9017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자동 표면 블로우다운으로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전도도 유지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열회수 적용 시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효율 손실 0.1% 미만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6600" y="4381500"/>
            <a:ext cx="2590800" cy="368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전력망 연계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6600" y="4826000"/>
            <a:ext cx="2590800" cy="9017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중성점 절연 설계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상용 전력망에 직접 연계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4381500"/>
            <a:ext cx="2590800" cy="368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운전 안정성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4826000"/>
            <a:ext cx="2590800" cy="9017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거품·아크가 적어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변압기·차단기 수명에 유리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원전 보조증기 신뢰성 강조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24200" y="4432300"/>
            <a:ext cx="0" cy="1168400"/>
          </a:xfrm>
          <a:prstGeom prst="line">
            <a:avLst/>
          </a:prstGeom>
          <a:ln w="6350">
            <a:solidFill>
              <a:srgbClr val="DCE4D8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5943600" y="4432300"/>
            <a:ext cx="0" cy="1168400"/>
          </a:xfrm>
          <a:prstGeom prst="line">
            <a:avLst/>
          </a:prstGeom>
          <a:ln w="6350">
            <a:solidFill>
              <a:srgbClr val="DCE4D8"/>
            </a:solidFill>
          </a:ln>
          <a:effectLst/>
        </p:spPr>
      </p:cxnSp>
      <p:sp>
        <p:nvSpPr>
          <p:cNvPr id="27" name="Rectangle 26"/>
          <p:cNvSpPr/>
          <p:nvPr/>
        </p:nvSpPr>
        <p:spPr>
          <a:xfrm>
            <a:off x="457200" y="5854700"/>
            <a:ext cx="8229600" cy="431800"/>
          </a:xfrm>
          <a:prstGeom prst="rect">
            <a:avLst/>
          </a:prstGeom>
          <a:solidFill>
            <a:srgbClr val="F3F7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5956300"/>
            <a:ext cx="965200" cy="2159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ko-KR">
                <a:solidFill>
                  <a:srgbClr val="345E43"/>
                </a:solidFill>
                <a:latin typeface="Malgun Gothic"/>
                <a:ea typeface="Malgun Gothic"/>
                <a:cs typeface="Malgun Gothic"/>
              </a:rPr>
              <a:t>플랜트 구성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14500" y="5892800"/>
            <a:ext cx="6832600" cy="3810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탈기기 포함 급수탱크 → 급수펌프 → 전극증기보일러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→ 순환펌프 → 분리기 → 소음기/보호케이지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1300"/>
            <a:ext cx="558800" cy="31750"/>
          </a:xfrm>
          <a:prstGeom prst="rect">
            <a:avLst/>
          </a:prstGeom>
          <a:solidFill>
            <a:srgbClr val="87B9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9100"/>
            <a:ext cx="8229600" cy="5080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침지형 증기보일러의 성능과 적용 사례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4100"/>
            <a:ext cx="8229600" cy="0"/>
          </a:xfrm>
          <a:prstGeom prst="line">
            <a:avLst/>
          </a:prstGeom>
          <a:ln w="6985">
            <a:solidFill>
              <a:srgbClr val="DCE4D8"/>
            </a:solidFill>
          </a:ln>
          <a:effectLst/>
        </p:spPr>
      </p:cxnSp>
      <p:pic>
        <p:nvPicPr>
          <p:cNvPr id="5" name="Picture 4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57200" y="6413500"/>
            <a:ext cx="8229600" cy="0"/>
          </a:xfrm>
          <a:prstGeom prst="line">
            <a:avLst/>
          </a:prstGeom>
          <a:ln w="5715">
            <a:solidFill>
              <a:srgbClr val="DCE4D8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7874000" y="6540500"/>
            <a:ext cx="812800" cy="1905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6D786F"/>
                </a:solidFill>
                <a:latin typeface="Malgun Gothic"/>
                <a:ea typeface="Malgun Gothic"/>
                <a:cs typeface="Malgun Gothic"/>
              </a:rPr>
              <a:t>02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33500"/>
            <a:ext cx="3962400" cy="368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적용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333500"/>
            <a:ext cx="3886200" cy="368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침지형·분사형 비교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59300" y="1371600"/>
            <a:ext cx="0" cy="4737100"/>
          </a:xfrm>
          <a:prstGeom prst="line">
            <a:avLst/>
          </a:prstGeom>
          <a:ln w="6985">
            <a:solidFill>
              <a:srgbClr val="DCE4D8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457200" y="1879600"/>
            <a:ext cx="3873500" cy="3302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Olkiluoto 3 원전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7900"/>
            <a:ext cx="3873500" cy="2286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6D786F"/>
                </a:solidFill>
                <a:latin typeface="Malgun Gothic"/>
                <a:ea typeface="Malgun Gothic"/>
                <a:cs typeface="Malgun Gothic"/>
              </a:rPr>
              <a:t>보조증기(gland steam)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5400"/>
            <a:ext cx="1638300" cy="495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ko-KR">
                <a:solidFill>
                  <a:srgbClr val="345E43"/>
                </a:solidFill>
                <a:latin typeface="Malgun Gothic"/>
                <a:ea typeface="Malgun Gothic"/>
                <a:cs typeface="Malgun Gothic"/>
              </a:rPr>
              <a:t>2 ×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5300" y="2743200"/>
            <a:ext cx="342900" cy="2667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ko-KR">
                <a:solidFill>
                  <a:srgbClr val="345E43"/>
                </a:solidFill>
                <a:latin typeface="Malgun Gothic"/>
                <a:ea typeface="Malgun Gothic"/>
                <a:cs typeface="Malgun Gothic"/>
              </a:rPr>
              <a:t>MW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590800"/>
            <a:ext cx="2120900" cy="495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10 kV · 12 bar(g) · 192°C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증기량 46,000 kg/h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3175000"/>
            <a:ext cx="3886200" cy="0"/>
          </a:xfrm>
          <a:prstGeom prst="line">
            <a:avLst/>
          </a:prstGeom>
          <a:ln w="6350">
            <a:solidFill>
              <a:srgbClr val="DCE4D8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457200" y="3378200"/>
            <a:ext cx="3886200" cy="3302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AstraZeneca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46500"/>
            <a:ext cx="3886200" cy="2286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6D786F"/>
                </a:solidFill>
                <a:latin typeface="Malgun Gothic"/>
                <a:ea typeface="Malgun Gothic"/>
                <a:cs typeface="Malgun Gothic"/>
              </a:rPr>
              <a:t>제약공정용 증기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51300"/>
            <a:ext cx="1270000" cy="495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ko-KR">
                <a:solidFill>
                  <a:srgbClr val="345E43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9500" y="4229100"/>
            <a:ext cx="406400" cy="2667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ko-KR">
                <a:solidFill>
                  <a:srgbClr val="345E43"/>
                </a:solidFill>
                <a:latin typeface="Malgun Gothic"/>
                <a:ea typeface="Malgun Gothic"/>
                <a:cs typeface="Malgun Gothic"/>
              </a:rPr>
              <a:t>MW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051300"/>
            <a:ext cx="2120900" cy="622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11 kV · 32 bar</a:t>
            </a:r>
          </a:p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설계 240°C</a:t>
            </a:r>
          </a:p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증기량 38,000 kg/h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4800600"/>
            <a:ext cx="3886200" cy="0"/>
          </a:xfrm>
          <a:prstGeom prst="line">
            <a:avLst/>
          </a:prstGeom>
          <a:ln w="6350">
            <a:solidFill>
              <a:srgbClr val="DCE4D8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457200" y="5016500"/>
            <a:ext cx="3886200" cy="3302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ETSH10Mi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84800"/>
            <a:ext cx="3886200" cy="2286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6D786F"/>
                </a:solidFill>
                <a:latin typeface="Malgun Gothic"/>
                <a:ea typeface="Malgun Gothic"/>
                <a:cs typeface="Malgun Gothic"/>
              </a:rPr>
              <a:t>참고 제안 예시 · 세탁공장용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89600"/>
            <a:ext cx="1270000" cy="495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ko-KR">
                <a:solidFill>
                  <a:srgbClr val="345E43"/>
                </a:solidFill>
                <a:latin typeface="Malgun Gothic"/>
                <a:ea typeface="Malgun Gothic"/>
                <a:cs typeface="Malgun Gothic"/>
              </a:rPr>
              <a:t>9.1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5700" y="5867400"/>
            <a:ext cx="406400" cy="2667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ko-KR">
                <a:solidFill>
                  <a:srgbClr val="345E43"/>
                </a:solidFill>
                <a:latin typeface="Malgun Gothic"/>
                <a:ea typeface="Malgun Gothic"/>
                <a:cs typeface="Malgun Gothic"/>
              </a:rPr>
              <a:t>MW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702300"/>
            <a:ext cx="2120900" cy="4445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11 kV · 12 bar(g)</a:t>
            </a:r>
          </a:p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순증기량 13 t/h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800600" y="1866900"/>
          <a:ext cx="3886200" cy="321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1143000"/>
                <a:gridCol w="1143000"/>
              </a:tblGrid>
              <a:tr h="419100"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27000" marR="127000" marT="63500" marB="63500" anchor="ctr">
                    <a:lnL w="762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ED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침지형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ED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분사형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EDC"/>
                    </a:solidFill>
                  </a:tcPr>
                </a:tc>
              </a:tr>
              <a:tr h="546100"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신뢰성·가용성</a:t>
                      </a:r>
                    </a:p>
                  </a:txBody>
                  <a:tcPr marL="127000" marR="127000" marT="63500" marB="63500" anchor="ctr">
                    <a:lnL w="762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7E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낮음~중간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정비 용이성</a:t>
                      </a:r>
                    </a:p>
                  </a:txBody>
                  <a:tcPr marL="127000" marR="127000" marT="63500" marB="63500" anchor="ctr">
                    <a:lnL w="762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7E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낮음~중간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그리드 연계성</a:t>
                      </a:r>
                    </a:p>
                  </a:txBody>
                  <a:tcPr marL="127000" marR="127000" marT="63500" marB="63500" anchor="ctr">
                    <a:lnL w="762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7E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증기 품질</a:t>
                      </a:r>
                    </a:p>
                  </a:txBody>
                  <a:tcPr marL="127000" marR="127000" marT="63500" marB="63500" anchor="ctr">
                    <a:lnL w="762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7E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(99.5%+)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증기 순도</a:t>
                      </a:r>
                    </a:p>
                  </a:txBody>
                  <a:tcPr marL="127000" marR="127000" marT="63500" marB="63500" anchor="ctr">
                    <a:lnL w="762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7E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800600" y="5257800"/>
            <a:ext cx="3886200" cy="241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 lang="ko-KR">
                <a:solidFill>
                  <a:srgbClr val="6D786F"/>
                </a:solidFill>
                <a:latin typeface="Malgun Gothic"/>
                <a:ea typeface="Malgun Gothic"/>
                <a:cs typeface="Malgun Gothic"/>
              </a:rPr>
              <a:t>회사 측 비교 자료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727700"/>
            <a:ext cx="3886200" cy="5334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ETSH10Mi 치수·중량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직경 2.3 m × 높이 5.2 m · 충수중량 약 14 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1300"/>
            <a:ext cx="558800" cy="31750"/>
          </a:xfrm>
          <a:prstGeom prst="rect">
            <a:avLst/>
          </a:prstGeom>
          <a:solidFill>
            <a:srgbClr val="87B9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9100"/>
            <a:ext cx="8229600" cy="5080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급수의 용존산소 제거와 운전 관리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4100"/>
            <a:ext cx="8229600" cy="0"/>
          </a:xfrm>
          <a:prstGeom prst="line">
            <a:avLst/>
          </a:prstGeom>
          <a:ln w="6985">
            <a:solidFill>
              <a:srgbClr val="DCE4D8"/>
            </a:solidFill>
          </a:ln>
          <a:effectLst/>
        </p:spPr>
      </p:cxnSp>
      <p:pic>
        <p:nvPicPr>
          <p:cNvPr id="5" name="Picture 4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57200" y="6413500"/>
            <a:ext cx="8229600" cy="0"/>
          </a:xfrm>
          <a:prstGeom prst="line">
            <a:avLst/>
          </a:prstGeom>
          <a:ln w="5715">
            <a:solidFill>
              <a:srgbClr val="DCE4D8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7874000" y="6540500"/>
            <a:ext cx="812800" cy="1905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6D786F"/>
                </a:solidFill>
                <a:latin typeface="Malgun Gothic"/>
                <a:ea typeface="Malgun Gothic"/>
                <a:cs typeface="Malgun Gothic"/>
              </a:rPr>
              <a:t>03 / 04</a:t>
            </a:r>
          </a:p>
        </p:txBody>
      </p:sp>
      <p:pic>
        <p:nvPicPr>
          <p:cNvPr id="8" name="Picture 7" descr="pdf62_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8899"/>
            <a:ext cx="4495800" cy="25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0" y="1358900"/>
            <a:ext cx="3352800" cy="368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01  기계적 탈기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0" y="1828800"/>
            <a:ext cx="2032000" cy="6985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ko-KR">
                <a:solidFill>
                  <a:srgbClr val="345E43"/>
                </a:solidFill>
                <a:latin typeface="Malgun Gothic"/>
                <a:ea typeface="Malgun Gothic"/>
                <a:cs typeface="Malgun Gothic"/>
              </a:rPr>
              <a:t>7–10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2500" y="2108200"/>
            <a:ext cx="1016000" cy="368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ko-KR">
                <a:solidFill>
                  <a:srgbClr val="345E43"/>
                </a:solidFill>
                <a:latin typeface="Malgun Gothic"/>
                <a:ea typeface="Malgun Gothic"/>
                <a:cs typeface="Malgun Gothic"/>
              </a:rPr>
              <a:t>ppb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0" y="2578100"/>
            <a:ext cx="3352800" cy="241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6D786F"/>
                </a:solidFill>
                <a:latin typeface="Malgun Gothic"/>
                <a:ea typeface="Malgun Gothic"/>
                <a:cs typeface="Malgun Gothic"/>
              </a:rPr>
              <a:t>도달 수준 · 설계에 따라 상이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0" y="2933700"/>
            <a:ext cx="3352800" cy="5334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스프레이·트레이형 탈기기로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증기 가열 후 용존가스 방출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3657600"/>
            <a:ext cx="3352800" cy="368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02  화학적 산소 제거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0" y="4089400"/>
            <a:ext cx="3352800" cy="5080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도징 스테이션에서 미량 약품을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주입하여 잔류산소 제거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4826000"/>
            <a:ext cx="8229600" cy="0"/>
          </a:xfrm>
          <a:prstGeom prst="line">
            <a:avLst/>
          </a:prstGeom>
          <a:ln w="6985">
            <a:solidFill>
              <a:srgbClr val="DCE4D8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457200" y="5080000"/>
            <a:ext cx="2590800" cy="368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실시간 모니터링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62600"/>
            <a:ext cx="2590800" cy="6985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DO 실시간 측정(ppb)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도징펌프 투입량 자동 조절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6600" y="5080000"/>
            <a:ext cx="2590800" cy="368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운전조건·허용기준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6600" y="5562600"/>
            <a:ext cx="2590800" cy="6985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부하·운전조건별 탈기 성능 확인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압력·배관 재질별 허용기준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5080000"/>
            <a:ext cx="2590800" cy="3683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정량 투입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5562600"/>
            <a:ext cx="2590800" cy="6985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약품 과다 투입 시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13D36"/>
                </a:solidFill>
                <a:latin typeface="Malgun Gothic"/>
                <a:ea typeface="Malgun Gothic"/>
                <a:cs typeface="Malgun Gothic"/>
              </a:rPr>
              <a:t>슬러지·부식 위험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200" y="5118100"/>
            <a:ext cx="0" cy="1066800"/>
          </a:xfrm>
          <a:prstGeom prst="line">
            <a:avLst/>
          </a:prstGeom>
          <a:ln w="6350">
            <a:solidFill>
              <a:srgbClr val="DCE4D8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5943600" y="5118100"/>
            <a:ext cx="0" cy="1066800"/>
          </a:xfrm>
          <a:prstGeom prst="line">
            <a:avLst/>
          </a:prstGeom>
          <a:ln w="6350">
            <a:solidFill>
              <a:srgbClr val="DCE4D8"/>
            </a:solidFill>
          </a:ln>
          <a:effectLst/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1300"/>
            <a:ext cx="558800" cy="31750"/>
          </a:xfrm>
          <a:prstGeom prst="rect">
            <a:avLst/>
          </a:prstGeom>
          <a:solidFill>
            <a:srgbClr val="87B9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9100"/>
            <a:ext cx="8229600" cy="5080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24372F"/>
                </a:solidFill>
                <a:latin typeface="Malgun Gothic"/>
                <a:ea typeface="Malgun Gothic"/>
                <a:cs typeface="Malgun Gothic"/>
              </a:rPr>
              <a:t>산소 제거제별 특성과 사용 고려사항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4100"/>
            <a:ext cx="8229600" cy="0"/>
          </a:xfrm>
          <a:prstGeom prst="line">
            <a:avLst/>
          </a:prstGeom>
          <a:ln w="6985">
            <a:solidFill>
              <a:srgbClr val="DCE4D8"/>
            </a:solidFill>
          </a:ln>
          <a:effectLst/>
        </p:spPr>
      </p:cxnSp>
      <p:pic>
        <p:nvPicPr>
          <p:cNvPr id="5" name="Picture 4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57200" y="6413500"/>
            <a:ext cx="8229600" cy="0"/>
          </a:xfrm>
          <a:prstGeom prst="line">
            <a:avLst/>
          </a:prstGeom>
          <a:ln w="5715">
            <a:solidFill>
              <a:srgbClr val="DCE4D8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7874000" y="6540500"/>
            <a:ext cx="812800" cy="190500"/>
          </a:xfrm>
          <a:prstGeom prst="rect">
            <a:avLst/>
          </a:prstGeom>
          <a:noFill/>
        </p:spPr>
        <p:txBody>
          <a:bodyPr wrap="square" tIns="0" bIns="0" lIns="0" r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6D786F"/>
                </a:solidFill>
                <a:latin typeface="Malgun Gothic"/>
                <a:ea typeface="Malgun Gothic"/>
                <a:cs typeface="Malgun Gothic"/>
              </a:rPr>
              <a:t>04 / 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09700"/>
          <a:ext cx="8229600" cy="4813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/>
                <a:gridCol w="4800600"/>
              </a:tblGrid>
              <a:tr h="495300"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2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산소 제거제</a:t>
                      </a:r>
                    </a:p>
                  </a:txBody>
                  <a:tcPr marL="127000" marR="127000" marT="63500" marB="63500" anchor="ctr">
                    <a:lnL w="762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ED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2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EDC"/>
                    </a:solidFill>
                  </a:tcPr>
                </a:tc>
              </a:tr>
              <a:tr h="863600"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82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40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아황산나트륨</a:t>
                      </a:r>
                    </a:p>
                    <a:p>
                      <a:pPr algn="ctr">
                        <a:lnSpc>
                          <a:spcPts val="14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ko-KR">
                          <a:solidFill>
                            <a:srgbClr val="6D786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Sodium Sulfite</a:t>
                      </a:r>
                    </a:p>
                  </a:txBody>
                  <a:tcPr marL="127000" marR="127000" marT="63500" marB="63500" anchor="ctr">
                    <a:lnL w="762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7E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l">
                        <a:lnSpc>
                          <a:spcPts val="18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저압 보일러에 일반적</a:t>
                      </a:r>
                    </a:p>
                    <a:p>
                      <a:pPr algn="l">
                        <a:lnSpc>
                          <a:spcPts val="18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TDS(물에 녹아 있는 염류) 증가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3600"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82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40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하이드라진</a:t>
                      </a:r>
                    </a:p>
                    <a:p>
                      <a:pPr algn="ctr">
                        <a:lnSpc>
                          <a:spcPts val="14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ko-KR">
                          <a:solidFill>
                            <a:srgbClr val="6D786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Hydrazine</a:t>
                      </a:r>
                    </a:p>
                  </a:txBody>
                  <a:tcPr marL="127000" marR="127000" marT="63500" marB="63500" anchor="ctr">
                    <a:lnL w="762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7E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l">
                        <a:lnSpc>
                          <a:spcPts val="18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효과적이나 발암 우려로</a:t>
                      </a:r>
                    </a:p>
                    <a:p>
                      <a:pPr algn="l">
                        <a:lnSpc>
                          <a:spcPts val="18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감소 추세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3600"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82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40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카보하이드라진</a:t>
                      </a:r>
                    </a:p>
                    <a:p>
                      <a:pPr algn="ctr">
                        <a:lnSpc>
                          <a:spcPts val="14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ko-KR">
                          <a:solidFill>
                            <a:srgbClr val="6D786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Carbohydrazide</a:t>
                      </a:r>
                    </a:p>
                  </a:txBody>
                  <a:tcPr marL="127000" marR="127000" marT="63500" marB="63500" anchor="ctr">
                    <a:lnL w="762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7E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l">
                        <a:lnSpc>
                          <a:spcPts val="18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하이드라진 대체 · 부산물 적음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3600"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82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40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DEHA</a:t>
                      </a:r>
                    </a:p>
                    <a:p>
                      <a:pPr algn="ctr">
                        <a:lnSpc>
                          <a:spcPts val="14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ko-KR">
                          <a:solidFill>
                            <a:srgbClr val="6D786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Diethylhydroxylamine</a:t>
                      </a:r>
                    </a:p>
                  </a:txBody>
                  <a:tcPr marL="127000" marR="127000" marT="63500" marB="63500" anchor="ctr">
                    <a:lnL w="762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7E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l">
                        <a:lnSpc>
                          <a:spcPts val="18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휘발성이 있어 배관 전체 보호 가능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3600"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ctr">
                        <a:lnSpc>
                          <a:spcPts val="182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400" b="1" i="0" lang="ko-KR">
                          <a:solidFill>
                            <a:srgbClr val="345E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에리소르빈산</a:t>
                      </a:r>
                    </a:p>
                    <a:p>
                      <a:pPr algn="ctr">
                        <a:lnSpc>
                          <a:spcPts val="14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ko-KR">
                          <a:solidFill>
                            <a:srgbClr val="6D786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Erythorbic acid</a:t>
                      </a:r>
                    </a:p>
                  </a:txBody>
                  <a:tcPr marL="127000" marR="127000" marT="63500" marB="63500" anchor="ctr">
                    <a:lnL w="762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7EC"/>
                    </a:solidFill>
                  </a:tcPr>
                </a:tc>
                <a:tc>
                  <a:txBody>
                    <a:bodyPr wrap="square" tIns="0" bIns="0" lIns="0" rIns="0">
                      <a:noAutofit/>
                    </a:bodyPr>
                    <a:lstStyle/>
                    <a:p>
                      <a:pPr algn="l">
                        <a:lnSpc>
                          <a:spcPts val="18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13D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식품·제약 등 비독성 요구 시 사용</a:t>
                      </a:r>
                    </a:p>
                  </a:txBody>
                  <a:tcPr marL="127000" marR="127000" marT="63500" marB="635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algun Gothic"/>
        <a:ea typeface="Malgun Gothic"/>
        <a:cs typeface="Malgun Gothic"/>
        <a:font script="Jpan" typeface="Malgun Gothic"/>
        <a:font script="Hang" typeface="Malgun Gothic"/>
        <a:font script="Hans" typeface="Malgun Gothic"/>
        <a:font script="Hant" typeface="Malgun Gothic"/>
        <a:font script="Arab" typeface="Malgun Gothic"/>
        <a:font script="Hebr" typeface="Malgun Gothic"/>
        <a:font script="Thai" typeface="Malgun Gothic"/>
        <a:font script="Ethi" typeface="Malgun Gothic"/>
        <a:font script="Beng" typeface="Malgun Gothic"/>
        <a:font script="Gujr" typeface="Malgun Gothic"/>
        <a:font script="Khmr" typeface="Malgun Gothic"/>
        <a:font script="Knda" typeface="Malgun Gothic"/>
        <a:font script="Guru" typeface="Malgun Gothic"/>
        <a:font script="Cans" typeface="Malgun Gothic"/>
        <a:font script="Cher" typeface="Malgun Gothic"/>
        <a:font script="Yiii" typeface="Malgun Gothic"/>
        <a:font script="Tibt" typeface="Malgun Gothic"/>
        <a:font script="Thaa" typeface="Malgun Gothic"/>
        <a:font script="Deva" typeface="Malgun Gothic"/>
        <a:font script="Telu" typeface="Malgun Gothic"/>
        <a:font script="Taml" typeface="Malgun Gothic"/>
        <a:font script="Syrc" typeface="Malgun Gothic"/>
        <a:font script="Orya" typeface="Malgun Gothic"/>
        <a:font script="Mlym" typeface="Malgun Gothic"/>
        <a:font script="Laoo" typeface="Malgun Gothic"/>
        <a:font script="Sinh" typeface="Malgun Gothic"/>
        <a:font script="Mong" typeface="Malgun Gothic"/>
        <a:font script="Viet" typeface="Malgun Gothic"/>
        <a:font script="Uigh" typeface="Malgun Gothic"/>
        <a:font script="Geor" typeface="Malgun Gothic"/>
      </a:majorFont>
      <a:minorFont>
        <a:latin typeface="Malgun Gothic"/>
        <a:ea typeface="Malgun Gothic"/>
        <a:cs typeface="Malgun Gothic"/>
        <a:font script="Jpan" typeface="Malgun Gothic"/>
        <a:font script="Hang" typeface="Malgun Gothic"/>
        <a:font script="Hans" typeface="Malgun Gothic"/>
        <a:font script="Hant" typeface="Malgun Gothic"/>
        <a:font script="Arab" typeface="Malgun Gothic"/>
        <a:font script="Hebr" typeface="Malgun Gothic"/>
        <a:font script="Thai" typeface="Malgun Gothic"/>
        <a:font script="Ethi" typeface="Malgun Gothic"/>
        <a:font script="Beng" typeface="Malgun Gothic"/>
        <a:font script="Gujr" typeface="Malgun Gothic"/>
        <a:font script="Khmr" typeface="Malgun Gothic"/>
        <a:font script="Knda" typeface="Malgun Gothic"/>
        <a:font script="Guru" typeface="Malgun Gothic"/>
        <a:font script="Cans" typeface="Malgun Gothic"/>
        <a:font script="Cher" typeface="Malgun Gothic"/>
        <a:font script="Yiii" typeface="Malgun Gothic"/>
        <a:font script="Tibt" typeface="Malgun Gothic"/>
        <a:font script="Thaa" typeface="Malgun Gothic"/>
        <a:font script="Deva" typeface="Malgun Gothic"/>
        <a:font script="Telu" typeface="Malgun Gothic"/>
        <a:font script="Taml" typeface="Malgun Gothic"/>
        <a:font script="Syrc" typeface="Malgun Gothic"/>
        <a:font script="Orya" typeface="Malgun Gothic"/>
        <a:font script="Mlym" typeface="Malgun Gothic"/>
        <a:font script="Laoo" typeface="Malgun Gothic"/>
        <a:font script="Sinh" typeface="Malgun Gothic"/>
        <a:font script="Mong" typeface="Malgun Gothic"/>
        <a:font script="Viet" typeface="Malgun Gothic"/>
        <a:font script="Uigh" typeface="Malgun Gothic"/>
        <a:font script="Geor" typeface="Malgun 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KITECH — White and Green Design Concepts</dc:title>
  <dc:subject>Four editable design examples; selected PDF pages 55 and 62 split into two slides each.</dc:subject>
  <dc:creator/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