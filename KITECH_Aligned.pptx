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317"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3" autoAdjust="0"/>
    <p:restoredTop sz="94660"/>
  </p:normalViewPr>
  <p:slideViewPr>
    <p:cSldViewPr snapToGrid="0" snapToObjects="1">
      <p:cViewPr varScale="1">
        <p:scale>
          <a:sx n="97" d="100"/>
          <a:sy n="97" d="100"/>
        </p:scale>
        <p:origin x="78"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41572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image" Target="../media/image2.png"/></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image" Target="../media/image5.png"/></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image" Target="../media/image6.png"/></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image" Target="../media/image7.png"/></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image" Target="../media/image8.png"/></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image" Target="../media/image10.png"/></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image" Target="../media/image11.png"/></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image" Target="../media/image13.png"/></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image" Target="../media/image14.png"/></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image" Target="../media/image15.png"/></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image" Target="../media/image16.png"/></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image" Target="../media/image18.png"/></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image" Target="../media/image19.png"/></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image" Target="../media/image20.png"/></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image" Target="../media/image21.png"/></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image" Target="../media/image22.png"/></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image" Target="../media/image23.png"/></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image" Target="../media/image25.png"/></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image" Target="../media/image27.png"/></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image" Target="../media/image29.png"/></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image" Target="../media/image31.png"/></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image" Target="../media/image33.png"/></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image" Target="../media/image35.png"/></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image" Target="../media/image37.png"/></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image" Target="../media/image39.png"/></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image" Target="../media/image41.png"/></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image" Target="../media/image44.png"/></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image" Target="../media/image45.png"/></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image" Target="../media/image47.png"/></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image" Target="../media/image49.png"/></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image" Target="../media/image51.png"/></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image" Target="../media/image53.png"/></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image" Target="../media/image55.png"/></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image" Target="../media/image56.png"/></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image" Target="../media/image60.png"/></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4</a:t>
            </a:r>
          </a:p>
          <a:p>
            <a:r>
              <a:t>새 파일 페이지: 1</a:t>
            </a:r>
          </a:p>
          <a:p>
            <a:r>
              <a:t>원본 PDF 4페이지. 디자인 수정 범위: 4~37페이지.</a:t>
            </a:r>
          </a:p>
          <a:p>
            <a:r>
              <a:t>원문 추출 텍스트(원본 표·사진은 해당 PDF 참조):</a:t>
            </a:r>
          </a:p>
          <a:p>
            <a:r>
              <a:t>4</a:t>
            </a:r>
          </a:p>
          <a:p>
            <a:r>
              <a:t>전극형보일링시스템정의</a:t>
            </a:r>
          </a:p>
          <a:p>
            <a:r>
              <a:t>전기보일러(저항식)</a:t>
            </a:r>
          </a:p>
          <a:p>
            <a:r>
              <a:t>니크롬선등열선에전류를흘려발열시키고, 그열을물에전</a:t>
            </a:r>
          </a:p>
          <a:p>
            <a:r>
              <a:t>달하는간접가열방식</a:t>
            </a:r>
          </a:p>
          <a:p>
            <a:r>
              <a:t>전극보일러</a:t>
            </a:r>
          </a:p>
          <a:p>
            <a:r>
              <a:t>물속전극봉사이로전류를직접흘려, 물자체의저항으로발</a:t>
            </a:r>
          </a:p>
          <a:p>
            <a:r>
              <a:t>열하는직접가열방식</a:t>
            </a:r>
          </a:p>
          <a:p>
            <a:r>
              <a:t>구분</a:t>
            </a:r>
          </a:p>
          <a:p>
            <a:r>
              <a:t>전기보일러</a:t>
            </a:r>
          </a:p>
          <a:p>
            <a:r>
              <a:t>전극보일러</a:t>
            </a:r>
          </a:p>
          <a:p>
            <a:r>
              <a:t>효율</a:t>
            </a:r>
          </a:p>
          <a:p>
            <a:r>
              <a:t>높음(일부열손실)</a:t>
            </a:r>
          </a:p>
          <a:p>
            <a:r>
              <a:t>매우높음(거의100%)</a:t>
            </a:r>
          </a:p>
          <a:p>
            <a:r>
              <a:t>용량규모</a:t>
            </a:r>
          </a:p>
          <a:p>
            <a:r>
              <a:t>소~중용량(가정, 소형건물)</a:t>
            </a:r>
          </a:p>
          <a:p>
            <a:r>
              <a:t>중~대용량(산업, 지역난방)</a:t>
            </a:r>
          </a:p>
          <a:p>
            <a:r>
              <a:t>출력제어</a:t>
            </a:r>
          </a:p>
          <a:p>
            <a:r>
              <a:t>열선개수·On/Off 방식, 제한적</a:t>
            </a:r>
          </a:p>
          <a:p>
            <a:r>
              <a:t>전압조절로정밀·빠른제어</a:t>
            </a:r>
          </a:p>
          <a:p>
            <a:r>
              <a:t>부하응답속도</a:t>
            </a:r>
          </a:p>
          <a:p>
            <a:r>
              <a:t>상대적으로느림</a:t>
            </a:r>
          </a:p>
          <a:p>
            <a:r>
              <a:t>빠름(급격한변동대응우수)</a:t>
            </a:r>
          </a:p>
          <a:p>
            <a:r>
              <a:t>수질관리</a:t>
            </a:r>
          </a:p>
          <a:p>
            <a:r>
              <a:t>덜민감</a:t>
            </a:r>
          </a:p>
          <a:p>
            <a:r>
              <a:t>전기전도도관리필수</a:t>
            </a:r>
          </a:p>
          <a:p>
            <a:r>
              <a:t>스케일영향</a:t>
            </a:r>
          </a:p>
          <a:p>
            <a:r>
              <a:t>열선에스케일부착시효율저하</a:t>
            </a:r>
          </a:p>
          <a:p>
            <a:r>
              <a:t>전극에스케일/부식영향이있어수질관리중요</a:t>
            </a:r>
          </a:p>
          <a:p>
            <a:r>
              <a:t>설치/구조</a:t>
            </a:r>
          </a:p>
          <a:p>
            <a:r>
              <a:t>단순, 설치용이</a:t>
            </a:r>
          </a:p>
          <a:p>
            <a:r>
              <a:t>상대적으로복잡, 전문관리필요</a:t>
            </a:r>
          </a:p>
          <a:p>
            <a:r>
              <a:t>초기비용</a:t>
            </a:r>
          </a:p>
          <a:p>
            <a:r>
              <a:t>낮음</a:t>
            </a:r>
          </a:p>
          <a:p>
            <a:r>
              <a:t>소용량은높으나대용량부터경제적</a:t>
            </a:r>
          </a:p>
          <a:p>
            <a:r>
              <a:t>주요용도</a:t>
            </a:r>
          </a:p>
          <a:p>
            <a:r>
              <a:t>가정용난방·온수</a:t>
            </a:r>
          </a:p>
          <a:p>
            <a:r>
              <a:t>산업용스팀, 지역난방, 대형시설, 국방, 원자력</a:t>
            </a:r>
          </a:p>
          <a:p>
            <a:r>
              <a:t>요약가정·소규모엔구조단순한전기보일러가, 대용량·산업용(지역난방·스팀)엔효율·제어가우수한전극보일러가유리— 단, 수질관리필요</a:t>
            </a:r>
          </a:p>
          <a:p>
            <a:endParaRPr/>
          </a:p>
        </p:txBody>
      </p:sp>
      <p:sp>
        <p:nvSpPr>
          <p:cNvPr id="4" name="Slide Number Placeholder 3"/>
          <p:cNvSpPr>
            <a:spLocks noGrp="1"/>
          </p:cNvSpPr>
          <p:nvPr>
            <p:ph type="sldNum" sz="quarter" idx="5"/>
          </p:nvPr>
        </p:nvSpPr>
        <p:spPr/>
      </p:sp>
      <p:pic>
        <p:nvPicPr>
          <p:cNvPr id="5" name="원본 PDF 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5</a:t>
            </a:r>
          </a:p>
          <a:p>
            <a:r>
              <a:t>새 파일 페이지: 2</a:t>
            </a:r>
          </a:p>
          <a:p>
            <a:r>
              <a:t>원본 PDF 5페이지. 디자인 수정 범위: 4~37페이지.</a:t>
            </a:r>
          </a:p>
          <a:p>
            <a:r>
              <a:t>원문 추출 텍스트(원본 표·사진은 해당 PDF 참조):</a:t>
            </a:r>
          </a:p>
          <a:p>
            <a:r>
              <a:t>5</a:t>
            </a:r>
          </a:p>
          <a:p>
            <a:r>
              <a:t>전극형보일링시스템정의</a:t>
            </a:r>
          </a:p>
          <a:p>
            <a:r>
              <a:t>전기보일러열손실원인</a:t>
            </a:r>
          </a:p>
          <a:p>
            <a:r>
              <a:t>1. 열선→ 물전달과정에서의손실(접촉열저항)</a:t>
            </a:r>
          </a:p>
          <a:p>
            <a:r>
              <a:t>: 열선(발열체)과물사이에보호관(시스, sheath)이나절연재가존재하며, 열이물로전달되기까지단계별손실발생</a:t>
            </a:r>
          </a:p>
          <a:p>
            <a:r>
              <a:t>: 열선표면의스케일(칼슘, 마그네슘) 생성에따른열전달효율감소및열선온도만과잉상승</a:t>
            </a:r>
          </a:p>
          <a:p>
            <a:r>
              <a:t>2. 보일러본체를통한방열손실</a:t>
            </a:r>
          </a:p>
          <a:p>
            <a:r>
              <a:t>: 보일러탱크, 배관표면, 본체외벽을통한복사·대류손실</a:t>
            </a:r>
          </a:p>
          <a:p>
            <a:r>
              <a:t>: 단열재두께나품질에따른손실</a:t>
            </a:r>
          </a:p>
          <a:p>
            <a:r>
              <a:t>3. 대기(배기) 손실</a:t>
            </a:r>
          </a:p>
          <a:p>
            <a:r>
              <a:t>: 압력릴리프밸브나팽창탱크를통한증기·온수방출시약간의열손실발생</a:t>
            </a:r>
          </a:p>
          <a:p>
            <a:r>
              <a:t>4. 전기적손실</a:t>
            </a:r>
          </a:p>
          <a:p>
            <a:r>
              <a:t>: 배선저항손실: 전원선~열선사이배선자체의저항으로인한손실</a:t>
            </a:r>
          </a:p>
          <a:p>
            <a:r>
              <a:t>: 대기전력/제어부손실: 컨트롤러, 센서, 순환펌프등부속전자장치가소비하는전력</a:t>
            </a:r>
          </a:p>
          <a:p>
            <a:endParaRPr/>
          </a:p>
        </p:txBody>
      </p:sp>
      <p:sp>
        <p:nvSpPr>
          <p:cNvPr id="4" name="Slide Number Placeholder 3"/>
          <p:cNvSpPr>
            <a:spLocks noGrp="1"/>
          </p:cNvSpPr>
          <p:nvPr>
            <p:ph type="sldNum" sz="quarter" idx="5"/>
          </p:nvPr>
        </p:nvSpPr>
        <p:spPr/>
      </p:sp>
      <p:pic>
        <p:nvPicPr>
          <p:cNvPr id="5" name="원본 PDF 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6</a:t>
            </a:r>
          </a:p>
          <a:p>
            <a:r>
              <a:t>새 파일 페이지: 3</a:t>
            </a:r>
          </a:p>
          <a:p>
            <a:r>
              <a:t>원본 PDF 6페이지. 디자인 수정 범위: 4~37페이지.</a:t>
            </a:r>
          </a:p>
          <a:p>
            <a:r>
              <a:t>원문 추출 텍스트(원본 표·사진은 해당 PDF 참조):</a:t>
            </a:r>
          </a:p>
          <a:p>
            <a:r>
              <a:t>6</a:t>
            </a:r>
          </a:p>
          <a:p>
            <a:r>
              <a:t>전극형보일링시스템정의</a:t>
            </a:r>
          </a:p>
          <a:p>
            <a:r>
              <a:t>전기보일러공급전압제어를왜하지않는지?</a:t>
            </a:r>
          </a:p>
          <a:p>
            <a:r>
              <a:t>SCR(사이리스터) 위상제어</a:t>
            </a:r>
          </a:p>
          <a:p>
            <a:r>
              <a:t>반도체소자로교류파형일부만통과시켜실효전압을연속조절. </a:t>
            </a:r>
          </a:p>
          <a:p>
            <a:r>
              <a:t>산업용정밀히터에사용</a:t>
            </a:r>
          </a:p>
          <a:p>
            <a:r>
              <a:t>시간비례제어(SSR 방식)</a:t>
            </a:r>
          </a:p>
          <a:p>
            <a:r>
              <a:t>열선을초단위로On/Off 반복해평균출력을조절(예: 60% On = </a:t>
            </a:r>
          </a:p>
          <a:p>
            <a:r>
              <a:t>평균60% 출력)</a:t>
            </a:r>
          </a:p>
          <a:p>
            <a:r>
              <a:t>이유</a:t>
            </a:r>
          </a:p>
          <a:p>
            <a:r>
              <a:t>설명</a:t>
            </a:r>
          </a:p>
          <a:p>
            <a:r>
              <a:t>비용</a:t>
            </a:r>
          </a:p>
          <a:p>
            <a:r>
              <a:t>SCR·SSR은접촉기(마그네틱스위치)보다훨씬비쌈</a:t>
            </a:r>
          </a:p>
          <a:p>
            <a:r>
              <a:t>필요성</a:t>
            </a:r>
          </a:p>
          <a:p>
            <a:r>
              <a:t>난방·온수는정밀제어불필요, 계단식으로도충분</a:t>
            </a:r>
          </a:p>
          <a:p>
            <a:r>
              <a:t>발열체특성</a:t>
            </a:r>
          </a:p>
          <a:p>
            <a:r>
              <a:t>열선은열용량이커서반응느림→ 정밀제어이점상쇄</a:t>
            </a:r>
          </a:p>
          <a:p>
            <a:r>
              <a:t>전력품질</a:t>
            </a:r>
          </a:p>
          <a:p>
            <a:r>
              <a:t>SCR 위상제어는고조파등전력품질문제유발가능</a:t>
            </a:r>
          </a:p>
          <a:p>
            <a:r>
              <a:t>내구성</a:t>
            </a:r>
          </a:p>
          <a:p>
            <a:r>
              <a:t>잦은스위칭은접점·소자수명에불리</a:t>
            </a:r>
          </a:p>
          <a:p>
            <a:endParaRPr/>
          </a:p>
        </p:txBody>
      </p:sp>
      <p:sp>
        <p:nvSpPr>
          <p:cNvPr id="4" name="Slide Number Placeholder 3"/>
          <p:cNvSpPr>
            <a:spLocks noGrp="1"/>
          </p:cNvSpPr>
          <p:nvPr>
            <p:ph type="sldNum" sz="quarter" idx="5"/>
          </p:nvPr>
        </p:nvSpPr>
        <p:spPr/>
      </p:sp>
      <p:pic>
        <p:nvPicPr>
          <p:cNvPr id="5" name="원본 PDF 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7</a:t>
            </a:r>
          </a:p>
          <a:p>
            <a:r>
              <a:t>새 파일 페이지: 4</a:t>
            </a:r>
          </a:p>
          <a:p>
            <a:r>
              <a:t>원본 PDF 7페이지. 디자인 수정 범위: 4~37페이지.</a:t>
            </a:r>
          </a:p>
          <a:p>
            <a:r>
              <a:t>원문 추출 텍스트(원본 표·사진은 해당 PDF 참조):</a:t>
            </a:r>
          </a:p>
          <a:p>
            <a:r>
              <a:t>1</a:t>
            </a:r>
          </a:p>
          <a:p>
            <a:r>
              <a:t>전기보일러(저항식)</a:t>
            </a:r>
          </a:p>
          <a:p>
            <a:r>
              <a:t>장점</a:t>
            </a:r>
          </a:p>
          <a:p>
            <a:r>
              <a:t>▪</a:t>
            </a:r>
          </a:p>
          <a:p>
            <a:r>
              <a:t>구조가단순하고설치가쉬움</a:t>
            </a:r>
          </a:p>
          <a:p>
            <a:r>
              <a:t>▪</a:t>
            </a:r>
          </a:p>
          <a:p>
            <a:r>
              <a:t>초기비용이낮음</a:t>
            </a:r>
          </a:p>
          <a:p>
            <a:r>
              <a:t>▪</a:t>
            </a:r>
          </a:p>
          <a:p>
            <a:r>
              <a:t>가정·소규모시설에적합</a:t>
            </a:r>
          </a:p>
          <a:p>
            <a:r>
              <a:t>▪</a:t>
            </a:r>
          </a:p>
          <a:p>
            <a:r>
              <a:t>유지보수가상대적으로쉬움</a:t>
            </a:r>
          </a:p>
          <a:p>
            <a:r>
              <a:t>단점</a:t>
            </a:r>
          </a:p>
          <a:p>
            <a:r>
              <a:t>▪</a:t>
            </a:r>
          </a:p>
          <a:p>
            <a:r>
              <a:t>열선→물전달과정에서열손실발생</a:t>
            </a:r>
          </a:p>
          <a:p>
            <a:r>
              <a:t>▪</a:t>
            </a:r>
          </a:p>
          <a:p>
            <a:r>
              <a:t>출력제어가계단식(열선개수조합)</a:t>
            </a:r>
          </a:p>
          <a:p>
            <a:r>
              <a:t>▪</a:t>
            </a:r>
          </a:p>
          <a:p>
            <a:r>
              <a:t>대용량확장에불리</a:t>
            </a:r>
          </a:p>
          <a:p>
            <a:r>
              <a:t>▪</a:t>
            </a:r>
          </a:p>
          <a:p>
            <a:r>
              <a:t>열선스케일부착시효율저하</a:t>
            </a:r>
          </a:p>
          <a:p>
            <a:r>
              <a:t>전극보일러</a:t>
            </a:r>
          </a:p>
          <a:p>
            <a:r>
              <a:t>장점</a:t>
            </a:r>
          </a:p>
          <a:p>
            <a:r>
              <a:t>▪</a:t>
            </a:r>
          </a:p>
          <a:p>
            <a:r>
              <a:t>효율이매우높음(거의100%)</a:t>
            </a:r>
          </a:p>
          <a:p>
            <a:r>
              <a:t>▪</a:t>
            </a:r>
          </a:p>
          <a:p>
            <a:r>
              <a:t>전압조절로정밀한출력제어가능</a:t>
            </a:r>
          </a:p>
          <a:p>
            <a:r>
              <a:t>▪</a:t>
            </a:r>
          </a:p>
          <a:p>
            <a:r>
              <a:t>부하변동대응속도가빠름</a:t>
            </a:r>
          </a:p>
          <a:p>
            <a:r>
              <a:t>▪</a:t>
            </a:r>
          </a:p>
          <a:p>
            <a:r>
              <a:t>대용량·산업용에서경제적</a:t>
            </a:r>
          </a:p>
          <a:p>
            <a:r>
              <a:t>단점</a:t>
            </a:r>
          </a:p>
          <a:p>
            <a:r>
              <a:t>▪</a:t>
            </a:r>
          </a:p>
          <a:p>
            <a:r>
              <a:t>수질(전기전도도) 관리가필수</a:t>
            </a:r>
          </a:p>
          <a:p>
            <a:r>
              <a:t>▪</a:t>
            </a:r>
          </a:p>
          <a:p>
            <a:r>
              <a:t>전극부식·스케일관리필요</a:t>
            </a:r>
          </a:p>
          <a:p>
            <a:r>
              <a:t>▪</a:t>
            </a:r>
          </a:p>
          <a:p>
            <a:r>
              <a:t>소용량에서는초기비용이높음</a:t>
            </a:r>
          </a:p>
          <a:p>
            <a:r>
              <a:t>▪</a:t>
            </a:r>
          </a:p>
          <a:p>
            <a:r>
              <a:t>전문적인유지보수인력필요</a:t>
            </a:r>
          </a:p>
          <a:p>
            <a:r>
              <a:t>전극형보일링시스템정의</a:t>
            </a:r>
          </a:p>
          <a:p>
            <a:r>
              <a:t>전기보일러및전극보일러장단점비교</a:t>
            </a:r>
          </a:p>
          <a:p>
            <a:endParaRPr/>
          </a:p>
        </p:txBody>
      </p:sp>
      <p:sp>
        <p:nvSpPr>
          <p:cNvPr id="4" name="Slide Number Placeholder 3"/>
          <p:cNvSpPr>
            <a:spLocks noGrp="1"/>
          </p:cNvSpPr>
          <p:nvPr>
            <p:ph type="sldNum" sz="quarter" idx="5"/>
          </p:nvPr>
        </p:nvSpPr>
        <p:spPr/>
      </p:sp>
      <p:pic>
        <p:nvPicPr>
          <p:cNvPr id="5" name="원본 PDF 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8</a:t>
            </a:r>
          </a:p>
          <a:p>
            <a:r>
              <a:t>새 파일 페이지: 5</a:t>
            </a:r>
          </a:p>
          <a:p>
            <a:r>
              <a:t>원본 PDF 8페이지. 디자인 수정 범위: 4~37페이지.</a:t>
            </a:r>
          </a:p>
          <a:p>
            <a:r>
              <a:t>원문 추출 텍스트(원본 표·사진은 해당 PDF 참조):</a:t>
            </a:r>
          </a:p>
          <a:p>
            <a:r>
              <a:t>1</a:t>
            </a:r>
          </a:p>
          <a:p>
            <a:r>
              <a:t>전극형보일링시스템정의</a:t>
            </a:r>
          </a:p>
          <a:p>
            <a:r>
              <a:t>전극보일러정의</a:t>
            </a:r>
          </a:p>
          <a:p>
            <a:r>
              <a:t>: 물속에담긴전극(electrode) 사이로전류를직접흘려보내, 물자체의전기저항을이용해발열시키는보일러</a:t>
            </a:r>
          </a:p>
          <a:p>
            <a:r>
              <a:t>핵심원리</a:t>
            </a:r>
          </a:p>
          <a:p>
            <a:r>
              <a:t>1</a:t>
            </a:r>
          </a:p>
          <a:p>
            <a:r>
              <a:t>별도열선(발열체) 없이, 전극에전압을걸어물에</a:t>
            </a:r>
          </a:p>
          <a:p>
            <a:r>
              <a:t>전류를흘림</a:t>
            </a:r>
          </a:p>
          <a:p>
            <a:r>
              <a:t>2</a:t>
            </a:r>
          </a:p>
          <a:p>
            <a:r>
              <a:t>물이도체역할을하며전류가흐르는저항체가되</a:t>
            </a:r>
          </a:p>
          <a:p>
            <a:r>
              <a:t>어스스로발열(줄열효과)</a:t>
            </a:r>
          </a:p>
          <a:p>
            <a:r>
              <a:t>특징</a:t>
            </a:r>
          </a:p>
          <a:p>
            <a:r>
              <a:t>- 열전달과정자체가없어효율이매우높음(Near 100%))</a:t>
            </a:r>
          </a:p>
          <a:p>
            <a:r>
              <a:t>- 전극에공급전압을조절하여출력을정밀하게제어가능</a:t>
            </a:r>
          </a:p>
          <a:p>
            <a:r>
              <a:t>- 물의전기전도도(수질)가발열량에직접적영향을주며수질관리가필수</a:t>
            </a:r>
          </a:p>
          <a:p>
            <a:r>
              <a:t>- 주로대용량및산업용스팀발생이나지역난방등큰출력/정밀부하대응이필요한곳에사용</a:t>
            </a:r>
          </a:p>
          <a:p>
            <a:r>
              <a:t>운전원리</a:t>
            </a:r>
          </a:p>
          <a:p>
            <a:r>
              <a:t>1. 전극침수</a:t>
            </a:r>
          </a:p>
          <a:p>
            <a:r>
              <a:t>2. 고전압인가→ 이온이동</a:t>
            </a:r>
          </a:p>
          <a:p>
            <a:r>
              <a:t>3. 전해질저항→ 줄열발생</a:t>
            </a:r>
          </a:p>
          <a:p>
            <a:r>
              <a:t>4. 주파수에따른진동·충돌</a:t>
            </a:r>
          </a:p>
          <a:p>
            <a:r>
              <a:t>1. 보일러용기내부물에전극(금속봉또는판)을침수</a:t>
            </a:r>
          </a:p>
          <a:p>
            <a:r>
              <a:t>2. 전극에고전압교류전원을인가하면, 물속이온(양이온·음이온)이전기장방향에따라이동</a:t>
            </a:r>
          </a:p>
          <a:p>
            <a:r>
              <a:t>3. 물은순수한물이아닌이온이녹아있는전해질상태로일정한전기저항을가지며, 전류가저항(물)을통과하면서열</a:t>
            </a:r>
          </a:p>
          <a:p>
            <a:r>
              <a:t>발생(줄열, Joule heating)</a:t>
            </a:r>
          </a:p>
          <a:p>
            <a:r>
              <a:t>4. 교류주파수(보통60Hz)에따라이온이1초에60번씩극을오가며진동·충돌에의한열생산</a:t>
            </a:r>
          </a:p>
          <a:p>
            <a:endParaRPr/>
          </a:p>
        </p:txBody>
      </p:sp>
      <p:sp>
        <p:nvSpPr>
          <p:cNvPr id="4" name="Slide Number Placeholder 3"/>
          <p:cNvSpPr>
            <a:spLocks noGrp="1"/>
          </p:cNvSpPr>
          <p:nvPr>
            <p:ph type="sldNum" sz="quarter" idx="5"/>
          </p:nvPr>
        </p:nvSpPr>
        <p:spPr/>
      </p:sp>
      <p:pic>
        <p:nvPicPr>
          <p:cNvPr id="5" name="원본 PDF 8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9</a:t>
            </a:r>
          </a:p>
          <a:p>
            <a:r>
              <a:t>새 파일 페이지: 6</a:t>
            </a:r>
          </a:p>
          <a:p>
            <a:r>
              <a:t>원본 PDF 9페이지. 디자인 수정 범위: 4~37페이지.</a:t>
            </a:r>
          </a:p>
          <a:p>
            <a:r>
              <a:t>원문 추출 텍스트(원본 표·사진은 해당 PDF 참조):</a:t>
            </a:r>
          </a:p>
          <a:p>
            <a:r>
              <a:t>1</a:t>
            </a:r>
          </a:p>
          <a:p>
            <a:r>
              <a:t>전극형보일링시스템정의</a:t>
            </a:r>
          </a:p>
          <a:p>
            <a:r>
              <a:t>전극보일러발열메커니즘</a:t>
            </a:r>
          </a:p>
          <a:p>
            <a:endParaRPr/>
          </a:p>
        </p:txBody>
      </p:sp>
      <p:sp>
        <p:nvSpPr>
          <p:cNvPr id="4" name="Slide Number Placeholder 3"/>
          <p:cNvSpPr>
            <a:spLocks noGrp="1"/>
          </p:cNvSpPr>
          <p:nvPr>
            <p:ph type="sldNum" sz="quarter" idx="5"/>
          </p:nvPr>
        </p:nvSpPr>
        <p:spPr/>
      </p:sp>
      <p:pic>
        <p:nvPicPr>
          <p:cNvPr id="5" name="원본 PDF 9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10</a:t>
            </a:r>
          </a:p>
          <a:p>
            <a:r>
              <a:t>새 파일 페이지: 7</a:t>
            </a:r>
          </a:p>
          <a:p>
            <a:r>
              <a:t>원본 PDF 10페이지. 디자인 수정 범위: 4~37페이지.</a:t>
            </a:r>
          </a:p>
          <a:p>
            <a:r>
              <a:t>원문 추출 텍스트(원본 표·사진은 해당 PDF 참조):</a:t>
            </a:r>
          </a:p>
          <a:p>
            <a:r>
              <a:t>물이저항체가되어발열하는원리</a:t>
            </a:r>
          </a:p>
          <a:p>
            <a:r>
              <a:t>1</a:t>
            </a:r>
          </a:p>
          <a:p>
            <a:r>
              <a:t>핵심순수한물은절연체에가까우며, 전해질이온이있어야전류가흐르고저항체역할을할수있음</a:t>
            </a:r>
          </a:p>
          <a:p>
            <a:r>
              <a:t>①전해질이온생성</a:t>
            </a:r>
          </a:p>
          <a:p>
            <a:r>
              <a:t>물에전해질(탄산나트륨, 인산염등)을첨가해양이온(Na⁺, Ca²⁺)·음이온(CO₃²⁻, PO₄³⁻)을형성. 이이온농도(전도도, µS/cm)</a:t>
            </a:r>
          </a:p>
          <a:p>
            <a:r>
              <a:t>가물의저항값(R)을결정— 전도도↑ → R↓</a:t>
            </a:r>
          </a:p>
          <a:p>
            <a:r>
              <a:t>②전기장속이온이동·충돌</a:t>
            </a:r>
          </a:p>
          <a:p>
            <a:r>
              <a:t>고전압으로물속에균일한전기장형성→ 양이온은음극방향, 음이온은양극방향으로가속. 촘촘한물분자사이를이동</a:t>
            </a:r>
          </a:p>
          <a:p>
            <a:r>
              <a:t>하며끊임없이충돌해드리프트속도이상가속되지못함</a:t>
            </a:r>
          </a:p>
          <a:p>
            <a:r>
              <a:t>③충돌= 저항= 줄열(I²R)</a:t>
            </a:r>
          </a:p>
          <a:p>
            <a:r>
              <a:t>이온이물분자와충돌하며운동에너지를열에너지(분자의무작위진동)로전환. 전극표면뿐아니라전류가흐르는물전</a:t>
            </a:r>
          </a:p>
          <a:p>
            <a:r>
              <a:t>체부피에서동시에발생해물전체가데워짐</a:t>
            </a:r>
          </a:p>
          <a:p>
            <a:r>
              <a:t>Q = I²Rt(Q: 발생열량, I: 전류, R: 저항, t: 시간)</a:t>
            </a:r>
          </a:p>
          <a:p>
            <a:r>
              <a:t>왜교류(60Hz)를쓰는가</a:t>
            </a:r>
          </a:p>
          <a:p>
            <a:r>
              <a:t>직류(DC)는이온이한쪽으로쌓여전기분해(수소·산소발생, 전극부식)를일으킴→ 60Hz로극성을빠르게반전시켜이온이왕복진동</a:t>
            </a:r>
          </a:p>
          <a:p>
            <a:r>
              <a:t>만하게해발열은유지하고전기분해부작용은최소화</a:t>
            </a:r>
          </a:p>
          <a:p>
            <a:endParaRPr/>
          </a:p>
        </p:txBody>
      </p:sp>
      <p:sp>
        <p:nvSpPr>
          <p:cNvPr id="4" name="Slide Number Placeholder 3"/>
          <p:cNvSpPr>
            <a:spLocks noGrp="1"/>
          </p:cNvSpPr>
          <p:nvPr>
            <p:ph type="sldNum" sz="quarter" idx="5"/>
          </p:nvPr>
        </p:nvSpPr>
        <p:spPr/>
      </p:sp>
      <p:pic>
        <p:nvPicPr>
          <p:cNvPr id="5" name="원본 PDF 10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11</a:t>
            </a:r>
          </a:p>
          <a:p>
            <a:r>
              <a:t>새 파일 페이지: 8</a:t>
            </a:r>
          </a:p>
          <a:p>
            <a:r>
              <a:t>원본 PDF 11페이지. 디자인 수정 범위: 4~37페이지.</a:t>
            </a:r>
          </a:p>
          <a:p>
            <a:r>
              <a:t>원문 추출 텍스트(원본 표·사진은 해당 PDF 참조):</a:t>
            </a:r>
          </a:p>
          <a:p>
            <a:r>
              <a:t>물이저항체가되어발열하는원리</a:t>
            </a:r>
          </a:p>
          <a:p>
            <a:r>
              <a:t>1</a:t>
            </a:r>
          </a:p>
          <a:p>
            <a:r>
              <a:t>줄열설명추가</a:t>
            </a:r>
          </a:p>
          <a:p>
            <a:r>
              <a:t>60Hz의경우</a:t>
            </a:r>
          </a:p>
          <a:p>
            <a:r>
              <a:t>t1→t2→t3 흐름이1초에60번발생</a:t>
            </a:r>
          </a:p>
          <a:p>
            <a:r>
              <a:t>전류방향전환(3상만의특징)</a:t>
            </a:r>
          </a:p>
          <a:p>
            <a:r>
              <a:t>3상(R, S, T)</a:t>
            </a:r>
          </a:p>
          <a:p>
            <a:r>
              <a:t>R, S, T는서로다른타이밍으로120°씩</a:t>
            </a:r>
          </a:p>
          <a:p>
            <a:r>
              <a:t>어긋난파장3개가동시에존재</a:t>
            </a:r>
          </a:p>
          <a:p>
            <a:r>
              <a:t>→ 항상어느순간이든셋중하나는</a:t>
            </a:r>
          </a:p>
          <a:p>
            <a:r>
              <a:t>제일높고, 하나는제일낮음</a:t>
            </a:r>
          </a:p>
          <a:p>
            <a:endParaRPr/>
          </a:p>
        </p:txBody>
      </p:sp>
      <p:sp>
        <p:nvSpPr>
          <p:cNvPr id="4" name="Slide Number Placeholder 3"/>
          <p:cNvSpPr>
            <a:spLocks noGrp="1"/>
          </p:cNvSpPr>
          <p:nvPr>
            <p:ph type="sldNum" sz="quarter" idx="5"/>
          </p:nvPr>
        </p:nvSpPr>
        <p:spPr/>
      </p:sp>
      <p:pic>
        <p:nvPicPr>
          <p:cNvPr id="5" name="원본 PDF 11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12</a:t>
            </a:r>
          </a:p>
          <a:p>
            <a:r>
              <a:t>새 파일 페이지: 9</a:t>
            </a:r>
          </a:p>
          <a:p>
            <a:r>
              <a:t>원본 PDF 12페이지. 디자인 수정 범위: 4~37페이지.</a:t>
            </a:r>
          </a:p>
          <a:p>
            <a:r>
              <a:t>원문 추출 텍스트(원본 표·사진은 해당 PDF 참조):</a:t>
            </a:r>
          </a:p>
          <a:p>
            <a:r>
              <a:t>발열량을좌우하는실제설계변수</a:t>
            </a:r>
          </a:p>
          <a:p>
            <a:r>
              <a:t>2</a:t>
            </a:r>
          </a:p>
          <a:p>
            <a:r>
              <a:t>핵심같은I²R 공식이라도, 실제설비에서는아래요소들이물의저항(R)을결정함</a:t>
            </a:r>
          </a:p>
          <a:p>
            <a:r>
              <a:t>설계변수</a:t>
            </a:r>
          </a:p>
          <a:p>
            <a:r>
              <a:t>저항(R)에미치는영향</a:t>
            </a:r>
          </a:p>
          <a:p>
            <a:r>
              <a:t>물의전도도(전해질농도)</a:t>
            </a:r>
          </a:p>
          <a:p>
            <a:r>
              <a:t>전도도가높을수록R 감소</a:t>
            </a:r>
          </a:p>
          <a:p>
            <a:r>
              <a:t>전극간거리</a:t>
            </a:r>
          </a:p>
          <a:p>
            <a:r>
              <a:t>거리가멀수록R 증가</a:t>
            </a:r>
          </a:p>
          <a:p>
            <a:r>
              <a:t>전극의유효접촉면적</a:t>
            </a:r>
          </a:p>
          <a:p>
            <a:r>
              <a:t>면적이넓을수록R 감소</a:t>
            </a:r>
          </a:p>
          <a:p>
            <a:r>
              <a:t>침수깊이/ 분사량</a:t>
            </a:r>
          </a:p>
          <a:p>
            <a:r>
              <a:t>유효저항경로를실시간으로조절(침지형·분사형제어의원리)</a:t>
            </a:r>
          </a:p>
          <a:p>
            <a:r>
              <a:t>P = V² / R</a:t>
            </a:r>
          </a:p>
          <a:p>
            <a:r>
              <a:t>실제운전방식</a:t>
            </a:r>
          </a:p>
          <a:p>
            <a:r>
              <a:t>전압(V)은일정하게유지하고, 침수깊이나분사량으로저항(R)을조절해필요한출력(P)을</a:t>
            </a:r>
          </a:p>
          <a:p>
            <a:r>
              <a:t>맞추는방식이흔히쓰임</a:t>
            </a:r>
          </a:p>
          <a:p>
            <a:r>
              <a:t>한줄정리</a:t>
            </a:r>
          </a:p>
          <a:p>
            <a:r>
              <a:t>전해질이온이전기장속에서물분자와충돌을반복하며운동에너지를열로바꾸는것이줄열의실체이며</a:t>
            </a:r>
          </a:p>
          <a:p>
            <a:r>
              <a:t>침수깊이로저항(R)을조절해원하는출력을얻는다</a:t>
            </a:r>
          </a:p>
          <a:p>
            <a:r>
              <a:t>전극판</a:t>
            </a:r>
          </a:p>
          <a:p>
            <a:r>
              <a:t>전극판</a:t>
            </a:r>
          </a:p>
          <a:p>
            <a:r>
              <a:t>전해질(물)  ρ</a:t>
            </a:r>
          </a:p>
          <a:p>
            <a:r>
              <a:t>L (전극간거리)</a:t>
            </a:r>
          </a:p>
          <a:p>
            <a:r>
              <a:t>A</a:t>
            </a:r>
          </a:p>
          <a:p>
            <a:r>
              <a:t>ρ (비저항)</a:t>
            </a:r>
          </a:p>
          <a:p>
            <a:r>
              <a:t>전해질농도↑  →  ρ ↓ (전도도상승, 저항감소)</a:t>
            </a:r>
          </a:p>
          <a:p>
            <a:r>
              <a:t>L (거리)</a:t>
            </a:r>
          </a:p>
          <a:p>
            <a:r>
              <a:t>전극사이거리가멀수록→ 저항증가</a:t>
            </a:r>
          </a:p>
          <a:p>
            <a:r>
              <a:t>A (단면적)</a:t>
            </a:r>
          </a:p>
          <a:p>
            <a:r>
              <a:t>전류가통과하는면적이넓을수록→ 저항감소</a:t>
            </a:r>
          </a:p>
          <a:p>
            <a:r>
              <a:t>(전극판형설계로A를넓혀저항을낮춤)</a:t>
            </a:r>
          </a:p>
          <a:p>
            <a:endParaRPr/>
          </a:p>
        </p:txBody>
      </p:sp>
      <p:sp>
        <p:nvSpPr>
          <p:cNvPr id="4" name="Slide Number Placeholder 3"/>
          <p:cNvSpPr>
            <a:spLocks noGrp="1"/>
          </p:cNvSpPr>
          <p:nvPr>
            <p:ph type="sldNum" sz="quarter" idx="5"/>
          </p:nvPr>
        </p:nvSpPr>
        <p:spPr/>
      </p:sp>
      <p:pic>
        <p:nvPicPr>
          <p:cNvPr id="5" name="원본 PDF 12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13</a:t>
            </a:r>
          </a:p>
          <a:p>
            <a:r>
              <a:t>새 파일 페이지: 10</a:t>
            </a:r>
          </a:p>
          <a:p>
            <a:r>
              <a:t>원본 PDF 13페이지. 디자인 수정 범위: 4~37페이지.</a:t>
            </a:r>
          </a:p>
          <a:p>
            <a:r>
              <a:t>원문 추출 텍스트(원본 표·사진은 해당 PDF 참조):</a:t>
            </a:r>
          </a:p>
          <a:p>
            <a:r>
              <a:t>R = ρ × (L / A)</a:t>
            </a:r>
          </a:p>
          <a:p>
            <a:r>
              <a:t>전극판</a:t>
            </a:r>
          </a:p>
          <a:p>
            <a:r>
              <a:t>전극판</a:t>
            </a:r>
          </a:p>
          <a:p>
            <a:r>
              <a:t>전해질(물)  ρ</a:t>
            </a:r>
          </a:p>
          <a:p>
            <a:r>
              <a:t>L (전극간거리)</a:t>
            </a:r>
          </a:p>
          <a:p>
            <a:r>
              <a:t>A</a:t>
            </a:r>
          </a:p>
          <a:p>
            <a:r>
              <a:t>ρ (비저항)</a:t>
            </a:r>
          </a:p>
          <a:p>
            <a:r>
              <a:t>전해질농도↑  →  ρ ↓ (전도도상승, 저항감소)</a:t>
            </a:r>
          </a:p>
          <a:p>
            <a:r>
              <a:t>L (거리)</a:t>
            </a:r>
          </a:p>
          <a:p>
            <a:r>
              <a:t>전극사이거리가멀수록→ 저항증가</a:t>
            </a:r>
          </a:p>
          <a:p>
            <a:r>
              <a:t>A (단면적)</a:t>
            </a:r>
          </a:p>
          <a:p>
            <a:r>
              <a:t>전류가통과하는면적이넓을수록→ 저항감소</a:t>
            </a:r>
          </a:p>
          <a:p>
            <a:r>
              <a:t>(전극판형설계로A를넓혀저항을낮춤)</a:t>
            </a:r>
          </a:p>
          <a:p>
            <a:r>
              <a:t>실전포인트: 전극표면근처전류밀도집중</a:t>
            </a:r>
          </a:p>
          <a:p>
            <a:r>
              <a:t>전극표면바로근처는전류가좁은면적으로몰려흐르기때문에, 전극표면근처에서전류밀도가가장높고국부적</a:t>
            </a:r>
          </a:p>
          <a:p>
            <a:r>
              <a:t>으로발열과마모(전식)도이부근에집중되는경향이있음→ 전극표면적을넓히는판형설계, 내식성코팅이필요한</a:t>
            </a:r>
          </a:p>
          <a:p>
            <a:r>
              <a:t>실제이유</a:t>
            </a:r>
          </a:p>
          <a:p>
            <a:endParaRPr/>
          </a:p>
        </p:txBody>
      </p:sp>
      <p:sp>
        <p:nvSpPr>
          <p:cNvPr id="4" name="Slide Number Placeholder 3"/>
          <p:cNvSpPr>
            <a:spLocks noGrp="1"/>
          </p:cNvSpPr>
          <p:nvPr>
            <p:ph type="sldNum" sz="quarter" idx="5"/>
          </p:nvPr>
        </p:nvSpPr>
        <p:spPr/>
      </p:sp>
      <p:pic>
        <p:nvPicPr>
          <p:cNvPr id="5" name="원본 PDF 13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14</a:t>
            </a:r>
          </a:p>
          <a:p>
            <a:r>
              <a:t>새 파일 페이지: 11</a:t>
            </a:r>
          </a:p>
          <a:p>
            <a:r>
              <a:t>원본 PDF 14페이지. 디자인 수정 범위: 4~37페이지.</a:t>
            </a:r>
          </a:p>
          <a:p>
            <a:r>
              <a:t>원문 추출 텍스트(원본 표·사진은 해당 PDF 참조):</a:t>
            </a:r>
          </a:p>
          <a:p>
            <a:r>
              <a:t>발열량을좌우하는실제설계변수</a:t>
            </a:r>
          </a:p>
          <a:p>
            <a:r>
              <a:t>2</a:t>
            </a:r>
          </a:p>
          <a:p>
            <a:r>
              <a:t>전극보일러효율계산과정추가</a:t>
            </a:r>
          </a:p>
          <a:p>
            <a:endParaRPr/>
          </a:p>
        </p:txBody>
      </p:sp>
      <p:sp>
        <p:nvSpPr>
          <p:cNvPr id="4" name="Slide Number Placeholder 3"/>
          <p:cNvSpPr>
            <a:spLocks noGrp="1"/>
          </p:cNvSpPr>
          <p:nvPr>
            <p:ph type="sldNum" sz="quarter" idx="5"/>
          </p:nvPr>
        </p:nvSpPr>
        <p:spPr/>
      </p:sp>
      <p:pic>
        <p:nvPicPr>
          <p:cNvPr id="5" name="원본 PDF 1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15</a:t>
            </a:r>
          </a:p>
          <a:p>
            <a:r>
              <a:t>새 파일 페이지: 12</a:t>
            </a:r>
          </a:p>
          <a:p>
            <a:r>
              <a:t>원본 PDF 15페이지. 디자인 수정 범위: 4~37페이지.</a:t>
            </a:r>
          </a:p>
          <a:p>
            <a:r>
              <a:t>원문 추출 텍스트(원본 표·사진은 해당 PDF 참조):</a:t>
            </a:r>
          </a:p>
          <a:p>
            <a:r>
              <a:t>회사개요</a:t>
            </a:r>
          </a:p>
          <a:p>
            <a:r>
              <a:t>•정식명칭은Elpanneteknik Sweden AB, 본사는스웨덴예테보리(Göteborg), 공장은</a:t>
            </a:r>
          </a:p>
          <a:p>
            <a:r>
              <a:t>뉘셰핑(Nyköping)에있습니다. (https://e-boiler.se/)</a:t>
            </a:r>
          </a:p>
          <a:p>
            <a:r>
              <a:t>•고전압(High Voltage) 전극보일러분야에서세계적으로손꼽히는전문제조사로자체</a:t>
            </a:r>
          </a:p>
          <a:p>
            <a:r>
              <a:t>소개하고있으며, 스웨덴은1920년대부터전기보일러분야를선도해온나라로, 이회사</a:t>
            </a:r>
          </a:p>
          <a:p>
            <a:r>
              <a:t>도수십년의설계·생산·설치경험을갖고있다고밝히고있습니다.</a:t>
            </a:r>
          </a:p>
          <a:p>
            <a:r>
              <a:t>주요사업분야</a:t>
            </a:r>
          </a:p>
          <a:p>
            <a:r>
              <a:t>•지역난방(District heating)</a:t>
            </a:r>
          </a:p>
          <a:p>
            <a:r>
              <a:t>•산업용열원(Industrial heating)</a:t>
            </a:r>
          </a:p>
          <a:p>
            <a:r>
              <a:t>•원자력발전소열원(Nuclear) - 실제로스웨덴링할스(Ringhals) 원전에20MW급전극</a:t>
            </a:r>
          </a:p>
          <a:p>
            <a:r>
              <a:t>증기보일러(ETSH35)를공급한사례, 러시아레닌그라드원전에고전압전극보일러4</a:t>
            </a:r>
          </a:p>
          <a:p>
            <a:r>
              <a:t>기를커미셔닝한사례도확인됩니다.</a:t>
            </a:r>
          </a:p>
          <a:p>
            <a:r>
              <a:t>•열에너지저장(Thermal energy storage), 전력망주파수조정(Electric grid balancing) -</a:t>
            </a:r>
          </a:p>
          <a:p>
            <a:r>
              <a:t>앞서말씀드린P2H(Power to Heat)와같은개념입니다.</a:t>
            </a:r>
          </a:p>
          <a:p>
            <a:r>
              <a:t>앞서보신그림과의연결</a:t>
            </a:r>
          </a:p>
          <a:p>
            <a:r>
              <a:t>효율이거의100%에가깝다고소개하고있고, 최소~최대부하전환이30초이내로매</a:t>
            </a:r>
          </a:p>
          <a:p>
            <a:r>
              <a:t>우빠르다는점을강조하는데, 이건앞서우리가얘기한"분사형/순환펌프기반설계가</a:t>
            </a:r>
          </a:p>
          <a:p>
            <a:r>
              <a:t>부하추종성이뛰어나다"는특징과정확히일치합니다. 실제로이회사자료에서는3개</a:t>
            </a:r>
          </a:p>
          <a:p>
            <a:r>
              <a:t>의튜브로구성된포인트전극이압력용기에고정설치되고, 상(phase)과중성점사이</a:t>
            </a:r>
          </a:p>
          <a:p>
            <a:r>
              <a:t>전류가흐를수있는표면적크기에따라출력이결정된다고설명하고있어, 업로드해주</a:t>
            </a:r>
          </a:p>
          <a:p>
            <a:r>
              <a:t>신그림의케이지형전극·순환펌프구조와맞아떨어집니다.</a:t>
            </a:r>
          </a:p>
          <a:p>
            <a:r>
              <a:t>정리하면, 이회사는국내에서접하기쉬운봉형/침지형중소형전극보일러업체들과는</a:t>
            </a:r>
          </a:p>
          <a:p>
            <a:r>
              <a:t>결이다른, 원자력·대형지역난방급초고전압산업용전극보일러전문기업이라고보시</a:t>
            </a:r>
          </a:p>
          <a:p>
            <a:r>
              <a:t>면됩니다.</a:t>
            </a:r>
          </a:p>
          <a:p>
            <a:endParaRPr/>
          </a:p>
        </p:txBody>
      </p:sp>
      <p:sp>
        <p:nvSpPr>
          <p:cNvPr id="4" name="Slide Number Placeholder 3"/>
          <p:cNvSpPr>
            <a:spLocks noGrp="1"/>
          </p:cNvSpPr>
          <p:nvPr>
            <p:ph type="sldNum" sz="quarter" idx="5"/>
          </p:nvPr>
        </p:nvSpPr>
        <p:spPr/>
      </p:sp>
      <p:pic>
        <p:nvPicPr>
          <p:cNvPr id="5" name="원본 PDF 1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16</a:t>
            </a:r>
          </a:p>
          <a:p>
            <a:r>
              <a:t>새 파일 페이지: 13</a:t>
            </a:r>
          </a:p>
          <a:p>
            <a:r>
              <a:t>원본 PDF 16페이지. 디자인 수정 범위: 4~37페이지.</a:t>
            </a:r>
          </a:p>
          <a:p>
            <a:r>
              <a:t>원문 추출 텍스트(원본 표·사진은 해당 PDF 참조):</a:t>
            </a:r>
          </a:p>
          <a:p>
            <a:r>
              <a:t>Elpanneteknik의Hot Water Boiler(온수보일러) 제품군은전압대별로두가지로나뉩니다.</a:t>
            </a:r>
          </a:p>
          <a:p>
            <a:r>
              <a:t>1) 저전압(Low Voltage) 온수보일러- 주로엘리먼트(발열체)식</a:t>
            </a:r>
          </a:p>
          <a:p>
            <a:r>
              <a:t>•용량: 18 ~ 6,000 kW (자료에따라400~6,000kW로도소개)</a:t>
            </a:r>
          </a:p>
          <a:p>
            <a:r>
              <a:t>•전압: 400 ~ 690 V</a:t>
            </a:r>
          </a:p>
          <a:p>
            <a:r>
              <a:t>•방식: 기본적으로니크롬선같은발열체(element)로물을가열하는간접가열방식입니다. 다만필</a:t>
            </a:r>
          </a:p>
          <a:p>
            <a:r>
              <a:t>요에따라전극식(electrode)도선택가능하다고소개되어있습니다.</a:t>
            </a:r>
          </a:p>
          <a:p>
            <a:r>
              <a:t>•용도: 상대적으로소·중규모산업열원, 건물난방등에적합</a:t>
            </a:r>
          </a:p>
          <a:p>
            <a:r>
              <a:t>2) 고전압(High Voltage) 온수보일러- 전극식(앞서설명드린제품)</a:t>
            </a:r>
          </a:p>
          <a:p>
            <a:r>
              <a:t>•용량: 4 ~ 60 MW</a:t>
            </a:r>
          </a:p>
          <a:p>
            <a:r>
              <a:t>•전압: 6 ~ 15 kV, 3상</a:t>
            </a:r>
          </a:p>
          <a:p>
            <a:r>
              <a:t>•운전온도: 최대120°C (그이상은스팀보일러+열교환기조합)</a:t>
            </a:r>
          </a:p>
          <a:p>
            <a:r>
              <a:t>•효율: 99.9%</a:t>
            </a:r>
          </a:p>
          <a:p>
            <a:r>
              <a:t>•핵심구조: Y결선된상전극이압력용기천장에매달려있고, 중성점전극(고정된튜브3개)과의사</a:t>
            </a:r>
          </a:p>
          <a:p>
            <a:r>
              <a:t>이에서전류가흐르며, 절연재질의**조절식차폐판(control shield)**을상하로움직여전극노출면</a:t>
            </a:r>
          </a:p>
          <a:p>
            <a:r>
              <a:t>적을조절해출력을제어</a:t>
            </a:r>
          </a:p>
          <a:p>
            <a:r>
              <a:t>•수질관리: 충수시전도도10µS/cm 이하(25°C)·pH 7 이상으로탈염처리후, 인산삼나트륨(Na₃PO₄)</a:t>
            </a:r>
          </a:p>
          <a:p>
            <a:r>
              <a:t>으로pH 8.5~9.5까지조정</a:t>
            </a:r>
          </a:p>
          <a:p>
            <a:r>
              <a:t>•용도: 대형지역난방, 산업열원, 전력망주파수조정, 열에너지저장(P2H) 등</a:t>
            </a:r>
          </a:p>
          <a:p>
            <a:endParaRPr/>
          </a:p>
        </p:txBody>
      </p:sp>
      <p:sp>
        <p:nvSpPr>
          <p:cNvPr id="4" name="Slide Number Placeholder 3"/>
          <p:cNvSpPr>
            <a:spLocks noGrp="1"/>
          </p:cNvSpPr>
          <p:nvPr>
            <p:ph type="sldNum" sz="quarter" idx="5"/>
          </p:nvPr>
        </p:nvSpPr>
        <p:spPr/>
      </p:sp>
      <p:pic>
        <p:nvPicPr>
          <p:cNvPr id="5" name="원본 PDF 1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17</a:t>
            </a:r>
          </a:p>
          <a:p>
            <a:r>
              <a:t>새 파일 페이지: 14</a:t>
            </a:r>
          </a:p>
          <a:p>
            <a:r>
              <a:t>원본 PDF 17페이지. 디자인 수정 범위: 4~37페이지.</a:t>
            </a:r>
          </a:p>
          <a:p>
            <a:r>
              <a:t>원문 추출 텍스트(원본 표·사진은 해당 PDF 참조):</a:t>
            </a:r>
          </a:p>
          <a:p>
            <a:r>
              <a:t>확인한자료를바탕으로Elpanneteknik의Steam Boiler(증기보일러) 라인을정리해드립니다.</a:t>
            </a:r>
          </a:p>
          <a:p>
            <a:r>
              <a:t>제품라인개요</a:t>
            </a:r>
          </a:p>
          <a:p>
            <a:r>
              <a:t>Elpanneteknik은크게두종류의전기보일러만취급합니다.</a:t>
            </a:r>
          </a:p>
          <a:p>
            <a:r>
              <a:t>•전극보일러(Electrode Boilers): 공급전압6~14kV, 출력6~60MW</a:t>
            </a:r>
          </a:p>
          <a:p>
            <a:r>
              <a:t>•전기저항보일러(Electric Resistance Boilers): 공급전압380~690V, 출력최대6MW</a:t>
            </a:r>
          </a:p>
          <a:p>
            <a:r>
              <a:t>이중산업/발전용대용량증기생산은고전압전극증기보일러가주력입니다.</a:t>
            </a:r>
          </a:p>
          <a:p>
            <a:r>
              <a:t>핵심구조</a:t>
            </a:r>
          </a:p>
          <a:p>
            <a:r>
              <a:t>•외조(outer vessel)와내조(inner vessel)로구성되고, 내조는외조로부터전기적으로절연되어있습니다.</a:t>
            </a:r>
          </a:p>
          <a:p>
            <a:r>
              <a:t>•전극은내조안에침지(immersed)되어있고, 물과전극사이의옴저항(ohmic resistance)으로열을발생</a:t>
            </a:r>
          </a:p>
          <a:p>
            <a:r>
              <a:t>시킵니다.</a:t>
            </a:r>
          </a:p>
          <a:p>
            <a:r>
              <a:t>•내조의물수위가곧전극과의접촉량을결정하고, 이수위를조절밸브로제어해출력을0~100%까지</a:t>
            </a:r>
          </a:p>
          <a:p>
            <a:r>
              <a:t>조절합니다. (앞서다룬침지형의"침수깊이조절"과같은원리입니다.)</a:t>
            </a:r>
          </a:p>
          <a:p>
            <a:r>
              <a:t>증기발생방식</a:t>
            </a:r>
          </a:p>
          <a:p>
            <a:r>
              <a:t>•내부순환펌프가물을전극쪽으로계속순환시키는데, 증발비율이대략10:1(순환량:증발량)로관리됩</a:t>
            </a:r>
          </a:p>
          <a:p>
            <a:r>
              <a:t>니다.</a:t>
            </a:r>
          </a:p>
          <a:p>
            <a:r>
              <a:t>•발생한증기는압력용기상부에모였다가주증기밸브를통해배출됩니다.</a:t>
            </a:r>
          </a:p>
          <a:p>
            <a:r>
              <a:t>•증기압이설정치를넘으면자동으로출력이낮아집니다.</a:t>
            </a:r>
          </a:p>
          <a:p>
            <a:r>
              <a:t>수질관리- 자동블로우다운</a:t>
            </a:r>
          </a:p>
          <a:p>
            <a:r>
              <a:t>•전도도가전극보일러성능의핵심변수이므로, **자동표면블로우다운(surface blowdown)**으로항상</a:t>
            </a:r>
          </a:p>
          <a:p>
            <a:r>
              <a:t>적정전도도를유지합니다.</a:t>
            </a:r>
          </a:p>
          <a:p>
            <a:r>
              <a:t>•블로우다운으로인한효율손실은열회수장치(recovery device) 적용시0.1% 미만으로최소화됩니다.</a:t>
            </a:r>
          </a:p>
          <a:p>
            <a:r>
              <a:t>전기적안정성</a:t>
            </a:r>
          </a:p>
          <a:p>
            <a:r>
              <a:t>•탈염수급수와엄격한전도도관리덕분에거품(foaming)이나아크(arcing) 발생문제가거의없다고소</a:t>
            </a:r>
          </a:p>
          <a:p>
            <a:r>
              <a:t>개하고있습니다.</a:t>
            </a:r>
          </a:p>
          <a:p>
            <a:endParaRPr/>
          </a:p>
        </p:txBody>
      </p:sp>
      <p:sp>
        <p:nvSpPr>
          <p:cNvPr id="4" name="Slide Number Placeholder 3"/>
          <p:cNvSpPr>
            <a:spLocks noGrp="1"/>
          </p:cNvSpPr>
          <p:nvPr>
            <p:ph type="sldNum" sz="quarter" idx="5"/>
          </p:nvPr>
        </p:nvSpPr>
        <p:spPr/>
      </p:sp>
      <p:pic>
        <p:nvPicPr>
          <p:cNvPr id="5" name="원본 PDF 1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rPr sz="900">
                <a:latin typeface="Malgun Gothic"/>
              </a:rPr>
              <a:t>원본 PDF 18페이지. 디자인 수정 범위: 4~37페이지.</a:t>
            </a:r>
          </a:p>
          <a:p>
            <a:r>
              <a:rPr sz="900">
                <a:latin typeface="Malgun Gothic"/>
              </a:rPr>
              <a:t>원문 추출 텍스트(원본 표·사진은 해당 PDF 참조):</a:t>
            </a:r>
          </a:p>
          <a:p>
            <a:r>
              <a:rPr sz="900">
                <a:latin typeface="Malgun Gothic"/>
              </a:rPr>
              <a:t>high voltage hot water system</a:t>
            </a:r>
          </a:p>
          <a:p>
            <a:r>
              <a:rPr sz="900">
                <a:latin typeface="Malgun Gothic"/>
              </a:rPr>
              <a:t>브로슈어자료를확인했습니다. Elpanneteknik의High Voltage Electrode Hot Water Boiler(고전압전</a:t>
            </a:r>
          </a:p>
          <a:p>
            <a:r>
              <a:rPr sz="900">
                <a:latin typeface="Malgun Gothic"/>
              </a:rPr>
              <a:t>극온수보일러) 상세스펙과구조입니다.</a:t>
            </a:r>
          </a:p>
          <a:p>
            <a:r>
              <a:rPr sz="900">
                <a:latin typeface="Malgun Gothic"/>
              </a:rPr>
              <a:t>핵심구조- Y결선+ 중성점판(Neutral point plate)</a:t>
            </a:r>
          </a:p>
          <a:p>
            <a:r>
              <a:rPr sz="900">
                <a:latin typeface="Malgun Gothic"/>
              </a:rPr>
              <a:t>•각상(phase) 전극이압력용기천장에애자(insulator)로매달려Y결선(성형결선)으로연결됩니다.</a:t>
            </a:r>
          </a:p>
          <a:p>
            <a:r>
              <a:rPr sz="900">
                <a:latin typeface="Malgun Gothic"/>
              </a:rPr>
              <a:t>•전류는상전극과, 고정설치된3개의튜브형중성점전극(neutral point electrodes) 사이의물을통해</a:t>
            </a:r>
          </a:p>
          <a:p>
            <a:r>
              <a:rPr sz="900">
                <a:latin typeface="Malgun Gothic"/>
              </a:rPr>
              <a:t>직접흐릅니다.</a:t>
            </a:r>
          </a:p>
          <a:p>
            <a:r>
              <a:rPr sz="900">
                <a:latin typeface="Malgun Gothic"/>
              </a:rPr>
              <a:t>•출력은상전극과중성점사이에서전류가통할수있는"표면적크기"에좌우됩니다.</a:t>
            </a:r>
          </a:p>
          <a:p>
            <a:r>
              <a:rPr sz="900">
                <a:latin typeface="Malgun Gothic"/>
              </a:rPr>
              <a:t>출력제어방식- Control shield(제어차폐판)</a:t>
            </a:r>
          </a:p>
          <a:p>
            <a:r>
              <a:rPr sz="900">
                <a:latin typeface="Malgun Gothic"/>
              </a:rPr>
              <a:t>앞서말씀드린침지형/분사형과는또다른제3의제어방식입니다.</a:t>
            </a:r>
          </a:p>
          <a:p>
            <a:r>
              <a:rPr sz="900">
                <a:latin typeface="Malgun Gothic"/>
              </a:rPr>
              <a:t>•절연재질로만든조절가능한차폐판(control shield) 을상전극과중성점사이에설치하고, 이차폐판</a:t>
            </a:r>
          </a:p>
          <a:p>
            <a:r>
              <a:rPr sz="900">
                <a:latin typeface="Malgun Gothic"/>
              </a:rPr>
              <a:t>을공용요크(yoke)에달아위아래로움직여전류가흐를수있는유효표면적을늘리거나줄입니다.</a:t>
            </a:r>
          </a:p>
          <a:p>
            <a:r>
              <a:rPr sz="900">
                <a:latin typeface="Malgun Gothic"/>
              </a:rPr>
              <a:t>•전극이완전히노출되면최대출력, 차폐판이많이가리면출력감소- 이게이회사의핵심특허포인트</a:t>
            </a:r>
          </a:p>
          <a:p>
            <a:r>
              <a:rPr sz="900">
                <a:latin typeface="Malgun Gothic"/>
              </a:rPr>
              <a:t>입니다.</a:t>
            </a:r>
          </a:p>
          <a:p>
            <a:r>
              <a:rPr sz="900">
                <a:latin typeface="Malgun Gothic"/>
              </a:rPr>
              <a:t>전도도(수질) 관리방식</a:t>
            </a:r>
          </a:p>
          <a:p>
            <a:r>
              <a:rPr sz="900">
                <a:latin typeface="Malgun Gothic"/>
              </a:rPr>
              <a:t>•출력이너무높으면→ 물을교체해전도도를낮춤(희석)</a:t>
            </a:r>
          </a:p>
          <a:p>
            <a:r>
              <a:rPr sz="900">
                <a:latin typeface="Malgun Gothic"/>
              </a:rPr>
              <a:t>•출력이너무낮으면→ 화학약품(정량주입) 을추가해전도도를높임</a:t>
            </a:r>
          </a:p>
          <a:p>
            <a:r>
              <a:rPr sz="900">
                <a:latin typeface="Malgun Gothic"/>
              </a:rPr>
              <a:t>•시스템충수(filling) 시에는탈염필터를거쳐전도도10µS/cm 이하(25°C 기준), pH 7 이상으로맞추고, </a:t>
            </a:r>
          </a:p>
          <a:p>
            <a:r>
              <a:rPr sz="900">
                <a:latin typeface="Malgun Gothic"/>
              </a:rPr>
              <a:t>이후**인산삼나트륨(Na₃PO₄)**을도징펌프로주입해pH 8.5~9.5 범위로조정합니다.</a:t>
            </a:r>
          </a:p>
          <a:p>
            <a:r>
              <a:rPr sz="900">
                <a:latin typeface="Malgun Gothic"/>
              </a:rPr>
              <a:t>전체시스템구성(High Voltage Hot Water System)</a:t>
            </a:r>
          </a:p>
          <a:p>
            <a:r>
              <a:rPr sz="900">
                <a:latin typeface="Malgun Gothic"/>
              </a:rPr>
              <a:t>탈염필터→ 전극보일러→ 팽창탱크(expansion vessel) → 가압펌프(pressurizing pumps) → 순환펌프</a:t>
            </a:r>
          </a:p>
          <a:p>
            <a:r>
              <a:rPr sz="900">
                <a:latin typeface="Malgun Gothic"/>
              </a:rPr>
              <a:t>(circulation pumps) → 열교환기(heat exchanger) → 냉각탱크(cooling vessel, 시료채취용) 로이어지는</a:t>
            </a:r>
          </a:p>
          <a:p>
            <a:r>
              <a:rPr sz="900">
                <a:latin typeface="Malgun Gothic"/>
              </a:rPr>
              <a:t>완결된계통입니다.</a:t>
            </a:r>
          </a:p>
          <a:p>
            <a:r>
              <a:rPr sz="900">
                <a:latin typeface="Malgun Gothic"/>
              </a:rPr>
              <a:t>•운전압력은팽창탱크에서물을퍼올리는가압펌프(2대, 1대는예비) 로유지되며, 압력이계속오르면</a:t>
            </a:r>
          </a:p>
          <a:p>
            <a:r>
              <a:rPr sz="900">
                <a:latin typeface="Malgun Gothic"/>
              </a:rPr>
              <a:t>오버플로밸브가열려팽창탱크로물을돌려보냅니다.</a:t>
            </a:r>
          </a:p>
          <a:p>
            <a:r>
              <a:rPr sz="900">
                <a:latin typeface="Malgun Gothic"/>
              </a:rPr>
              <a:t>용도</a:t>
            </a:r>
          </a:p>
          <a:p>
            <a:r>
              <a:rPr sz="900">
                <a:latin typeface="Malgun Gothic"/>
              </a:rPr>
              <a:t>•지역난방, 산업용열원은물론, **전력망주파수조정(grid frequency balancing)**과열에너지저장</a:t>
            </a:r>
          </a:p>
          <a:p>
            <a:r>
              <a:rPr sz="900">
                <a:latin typeface="Malgun Gothic"/>
              </a:rPr>
              <a:t>(thermal energy storage) 용도로도사용됩니다. 앞서다룬한난화성지사P2H 설비와정확히같은개념</a:t>
            </a:r>
          </a:p>
          <a:p>
            <a:r>
              <a:rPr sz="900">
                <a:latin typeface="Malgun Gothic"/>
              </a:rPr>
              <a:t>의활용방식입니다.</a:t>
            </a:r>
          </a:p>
          <a:p>
            <a:r>
              <a:rPr sz="900">
                <a:latin typeface="Malgun Gothic"/>
              </a:rPr>
              <a:t>•최소~최대부하전환이30초이내로매우빨라, 재생에너지잉여전력을흡수하는데최적화되어있습니</a:t>
            </a:r>
          </a:p>
          <a:p>
            <a:r>
              <a:rPr sz="900">
                <a:latin typeface="Malgun Gothic"/>
              </a:rPr>
              <a:t>다.</a:t>
            </a:r>
          </a:p>
          <a:p>
            <a:endParaRPr sz="900">
              <a:latin typeface="Malgun Gothic"/>
            </a:endParaRPr>
          </a:p>
        </p:txBody>
      </p:sp>
      <p:sp>
        <p:nvSpPr>
          <p:cNvPr id="4" name="Slide Number Placeholder 3"/>
          <p:cNvSpPr>
            <a:spLocks noGrp="1"/>
          </p:cNvSpPr>
          <p:nvPr>
            <p:ph type="sldNum" sz="quarter" idx="5"/>
          </p:nvPr>
        </p:nvSpPr>
        <p:spPr/>
      </p:sp>
      <p:pic>
        <p:nvPicPr>
          <p:cNvPr id="5" name="원본 PDF 18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18-2</a:t>
            </a:r>
          </a:p>
          <a:p>
            <a:r>
              <a:t>새 파일 페이지: 16</a:t>
            </a:r>
          </a:p>
          <a:p>
            <a:r>
              <a:t>출처 슬라이드: 18-2</a:t>
            </a:r>
          </a:p>
          <a:p>
            <a:r>
              <a:t>분할·중복 정리 후 구성. 원본 설명과 수치는 아래 원본 페이지 이미지를 참조.</a:t>
            </a:r>
          </a:p>
          <a:p>
            <a:r>
              <a:t>원본 PDF 18페이지. 디자인 수정 범위: 4~37페이지.</a:t>
            </a:r>
          </a:p>
          <a:p>
            <a:r>
              <a:t>원문 추출 텍스트(원본 표·사진은 해당 PDF 참조):</a:t>
            </a:r>
          </a:p>
          <a:p>
            <a:r>
              <a:t>high voltage hot water system</a:t>
            </a:r>
          </a:p>
          <a:p>
            <a:r>
              <a:t>브로슈어자료를확인했습니다. Elpanneteknik의High Voltage Electrode Hot Water Boiler(고전압전</a:t>
            </a:r>
          </a:p>
          <a:p>
            <a:r>
              <a:t>극온수보일러) 상세스펙과구조입니다.</a:t>
            </a:r>
          </a:p>
          <a:p>
            <a:r>
              <a:t>핵심구조- Y결선+ 중성점판(Neutral point plate)</a:t>
            </a:r>
          </a:p>
          <a:p>
            <a:r>
              <a:t>•각상(phase) 전극이압력용기천장에애자(insulator)로매달려Y결선(성형결선)으로연결됩니다.</a:t>
            </a:r>
          </a:p>
          <a:p>
            <a:r>
              <a:t>•전류는상전극과, 고정설치된3개의튜브형중성점전극(neutral point electrodes) 사이의물을통해</a:t>
            </a:r>
          </a:p>
          <a:p>
            <a:r>
              <a:t>직접흐릅니다.</a:t>
            </a:r>
          </a:p>
          <a:p>
            <a:r>
              <a:t>•출력은상전극과중성점사이에서전류가통할수있는"표면적크기"에좌우됩니다.</a:t>
            </a:r>
          </a:p>
          <a:p>
            <a:r>
              <a:t>출력제어방식- Control shield(제어차폐판)</a:t>
            </a:r>
          </a:p>
          <a:p>
            <a:r>
              <a:t>앞서말씀드린침지형/분사형과는또다른제3의제어방식입니다.</a:t>
            </a:r>
          </a:p>
          <a:p>
            <a:r>
              <a:t>•절연재질로만든조절가능한차폐판(control shield) 을상전극과중성점사이에설치하고, 이차폐판</a:t>
            </a:r>
          </a:p>
          <a:p>
            <a:r>
              <a:t>을공용요크(yoke)에달아위아래로움직여전류가흐를수있는유효표면적을늘리거나줄입니다.</a:t>
            </a:r>
          </a:p>
          <a:p>
            <a:r>
              <a:t>•전극이완전히노출되면최대출력, 차폐판이많이가리면출력감소- 이게이회사의핵심특허포인트</a:t>
            </a:r>
          </a:p>
          <a:p>
            <a:r>
              <a:t>입니다.</a:t>
            </a:r>
          </a:p>
          <a:p>
            <a:r>
              <a:t>전도도(수질) 관리방식</a:t>
            </a:r>
          </a:p>
          <a:p>
            <a:r>
              <a:t>•출력이너무높으면→ 물을교체해전도도를낮춤(희석)</a:t>
            </a:r>
          </a:p>
          <a:p>
            <a:r>
              <a:t>•출력이너무낮으면→ 화학약품(정량주입) 을추가해전도도를높임</a:t>
            </a:r>
          </a:p>
          <a:p>
            <a:r>
              <a:t>•시스템충수(filling) 시에는탈염필터를거쳐전도도10µS/cm 이하(25°C 기준), pH 7 이상으로맞추고, </a:t>
            </a:r>
          </a:p>
          <a:p>
            <a:r>
              <a:t>이후**인산삼나트륨(Na₃PO₄)**을도징펌프로주입해pH 8.5~9.5 범위로조정합니다.</a:t>
            </a:r>
          </a:p>
          <a:p>
            <a:r>
              <a:t>전체시스템구성(High Voltage Hot Water System)</a:t>
            </a:r>
          </a:p>
          <a:p>
            <a:r>
              <a:t>탈염필터→ 전극보일러→ 팽창탱크(expansion vessel) → 가압펌프(pressurizing pumps) → 순환펌프</a:t>
            </a:r>
          </a:p>
          <a:p>
            <a:r>
              <a:t>(circulation pumps) → 열교환기(heat exchanger) → 냉각탱크(cooling vessel, 시료채취용) 로이어지는</a:t>
            </a:r>
          </a:p>
          <a:p>
            <a:r>
              <a:t>완결된계통입니다.</a:t>
            </a:r>
          </a:p>
          <a:p>
            <a:r>
              <a:t>•운전압력은팽창탱크에서물을퍼올리는가압펌프(2대, 1대는예비) 로유지되며, 압력이계속오르면</a:t>
            </a:r>
          </a:p>
          <a:p>
            <a:r>
              <a:t>오버플로밸브가열려팽창탱크로물을돌려보냅니다.</a:t>
            </a:r>
          </a:p>
          <a:p>
            <a:r>
              <a:t>용도</a:t>
            </a:r>
          </a:p>
          <a:p>
            <a:r>
              <a:t>•지역난방, 산업용열원은물론, **전력망주파수조정(grid frequency balancing)**과열에너지저장</a:t>
            </a:r>
          </a:p>
          <a:p>
            <a:r>
              <a:t>(thermal energy storage) 용도로도사용됩니다. 앞서다룬한난화성지사P2H 설비와정확히같은개념</a:t>
            </a:r>
          </a:p>
          <a:p>
            <a:r>
              <a:t>의활용방식입니다.</a:t>
            </a:r>
          </a:p>
          <a:p>
            <a:r>
              <a:t>•최소~최대부하전환이30초이내로매우빨라, 재생에너지잉여전력을흡수하는데최적화되어있습니</a:t>
            </a:r>
          </a:p>
          <a:p>
            <a:r>
              <a:t>다.</a:t>
            </a:r>
          </a:p>
          <a:p>
            <a:endParaRPr/>
          </a:p>
        </p:txBody>
      </p:sp>
      <p:sp>
        <p:nvSpPr>
          <p:cNvPr id="4" name="Slide Number Placeholder 3"/>
          <p:cNvSpPr>
            <a:spLocks noGrp="1"/>
          </p:cNvSpPr>
          <p:nvPr>
            <p:ph type="sldNum" sz="quarter" idx="5"/>
          </p:nvPr>
        </p:nvSpPr>
        <p:spPr/>
      </p:sp>
      <p:pic>
        <p:nvPicPr>
          <p:cNvPr id="5" name="원본 최신 업로드 페이지" descr="원본 페이지 참조"/>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rPr sz="900">
                <a:latin typeface="Malgun Gothic"/>
              </a:rPr>
              <a:t>원본 PDF 19페이지. 디자인 수정 범위: 4~37페이지.</a:t>
            </a:r>
          </a:p>
          <a:p>
            <a:r>
              <a:rPr sz="900">
                <a:latin typeface="Malgun Gothic"/>
              </a:rPr>
              <a:t>원문 추출 텍스트(원본 표·사진은 해당 PDF 참조):</a:t>
            </a:r>
          </a:p>
          <a:p>
            <a:r>
              <a:rPr sz="900">
                <a:latin typeface="Malgun Gothic"/>
              </a:rPr>
              <a:t>확인한자료를바탕으로Elpanneteknik의High Voltage Steam System(고전압증기시스템) 정보</a:t>
            </a:r>
          </a:p>
          <a:p>
            <a:r>
              <a:rPr sz="900">
                <a:latin typeface="Malgun Gothic"/>
              </a:rPr>
              <a:t>를정리해드립니다. 이회사는자사증기보일러를**침지형(Immersion type)**으로분류하고, 경쟁</a:t>
            </a:r>
          </a:p>
          <a:p>
            <a:r>
              <a:rPr sz="900">
                <a:latin typeface="Malgun Gothic"/>
              </a:rPr>
              <a:t>사의분사형(Jet-type)과명확히대비시켜소개하고있습니다.</a:t>
            </a:r>
          </a:p>
          <a:p>
            <a:r>
              <a:rPr sz="900">
                <a:latin typeface="Malgun Gothic"/>
              </a:rPr>
              <a:t>운전원리- 침지형(Immersion) 3단계흐름</a:t>
            </a:r>
          </a:p>
          <a:p>
            <a:r>
              <a:rPr sz="900">
                <a:latin typeface="Malgun Gothic"/>
              </a:rPr>
              <a:t>1.급수공급(Feedwater Supply): 탈염·탈기처리된물이급수탱크에서외조(outer vessel)로펌핑되</a:t>
            </a:r>
          </a:p>
          <a:p>
            <a:r>
              <a:rPr sz="900">
                <a:latin typeface="Malgun Gothic"/>
              </a:rPr>
              <a:t>어전체수량을일정하게유지</a:t>
            </a:r>
          </a:p>
          <a:p>
            <a:r>
              <a:rPr sz="900">
                <a:latin typeface="Malgun Gothic"/>
              </a:rPr>
              <a:t>2.물순환(Water Circulation): 순환펌프가외조의물을내조(inner vessel)로이송(이중화를위해</a:t>
            </a:r>
          </a:p>
          <a:p>
            <a:r>
              <a:rPr sz="900">
                <a:latin typeface="Malgun Gothic"/>
              </a:rPr>
              <a:t>펌프2대설치, 한대고장시나머지가자동기동)</a:t>
            </a:r>
          </a:p>
          <a:p>
            <a:r>
              <a:rPr sz="900">
                <a:latin typeface="Malgun Gothic"/>
              </a:rPr>
              <a:t>3.출력/증기량결정: 전기적으로절연된내조의수위가전극과의접촉량을정하고, 내조제어밸브로</a:t>
            </a:r>
          </a:p>
          <a:p>
            <a:r>
              <a:rPr sz="900">
                <a:latin typeface="Malgun Gothic"/>
              </a:rPr>
              <a:t>물을외조로빼내는양을조절해수위를관리→ 출력을0~100%까지정밀조절</a:t>
            </a:r>
          </a:p>
          <a:p>
            <a:r>
              <a:rPr sz="900">
                <a:latin typeface="Malgun Gothic"/>
              </a:rPr>
              <a:t>블로우다운(Blowdown)</a:t>
            </a:r>
          </a:p>
          <a:p>
            <a:r>
              <a:rPr sz="900">
                <a:latin typeface="Malgun Gothic"/>
              </a:rPr>
              <a:t>•자동표면블로우다운으로보일러수전도도를적정범위로항상유지</a:t>
            </a:r>
          </a:p>
          <a:p>
            <a:r>
              <a:rPr sz="900">
                <a:latin typeface="Malgun Gothic"/>
              </a:rPr>
              <a:t>•블로우다운열회수장치적용시효율손실은0.1% 미만</a:t>
            </a:r>
          </a:p>
          <a:p>
            <a:r>
              <a:rPr sz="900">
                <a:latin typeface="Malgun Gothic"/>
              </a:rPr>
              <a:t>전체플랜트구성(핀란드Olkiluoto 3 원전사례기준)</a:t>
            </a:r>
          </a:p>
          <a:p>
            <a:r>
              <a:rPr sz="900">
                <a:latin typeface="Malgun Gothic"/>
              </a:rPr>
              <a:t>급수탱크(탈기기포함) → 급수펌프→ 전극증기보일러→ 순환펌프→ 블로우다운분리기</a:t>
            </a:r>
          </a:p>
          <a:p>
            <a:r>
              <a:rPr sz="900">
                <a:latin typeface="Malgun Gothic"/>
              </a:rPr>
              <a:t>(Separator) → 소음기(Silencer) / 보호케이지(Protection Cage) 로이어지는완결시스템입니다.</a:t>
            </a:r>
          </a:p>
          <a:p>
            <a:r>
              <a:rPr sz="900">
                <a:latin typeface="Malgun Gothic"/>
              </a:rPr>
              <a:t>•분사형은증발표면적이작고증기유속이빠르며염분함량·캐리오버(carry-over)율이높아증기품질·</a:t>
            </a:r>
          </a:p>
          <a:p>
            <a:r>
              <a:rPr sz="900">
                <a:latin typeface="Malgun Gothic"/>
              </a:rPr>
              <a:t>순도가떨어지고, 이로인해배관부식·스케일이더잘생긴다고설명합니다.</a:t>
            </a:r>
          </a:p>
          <a:p>
            <a:r>
              <a:rPr sz="900">
                <a:latin typeface="Malgun Gothic"/>
              </a:rPr>
              <a:t>•침지형은엄격한수질관리덕분에이런문제가적어배관부식·스케일위험이낮다고소개합니다.</a:t>
            </a:r>
          </a:p>
          <a:p>
            <a:r>
              <a:rPr sz="900">
                <a:latin typeface="Malgun Gothic"/>
              </a:rPr>
              <a:t>즉, 앞서업로드해주신이미지속케이지형·순환펌프구조가바로이침지형(Immersion) 방식이었던것</a:t>
            </a:r>
          </a:p>
          <a:p>
            <a:r>
              <a:rPr sz="900">
                <a:latin typeface="Malgun Gothic"/>
              </a:rPr>
              <a:t>이고, Elpanneteknik은이방식을자사의핵심경쟁력으로내세우고있습니다.</a:t>
            </a:r>
          </a:p>
          <a:p>
            <a:r>
              <a:rPr sz="900">
                <a:latin typeface="Malgun Gothic"/>
              </a:rPr>
              <a:t>전기적특성- 왜원전에선정되는가</a:t>
            </a:r>
          </a:p>
          <a:p>
            <a:r>
              <a:rPr sz="900">
                <a:latin typeface="Malgun Gothic"/>
              </a:rPr>
              <a:t>•중성점을절연(고저항) 방식으로설계해표준상용전력망에바로연계가능- 경쟁사(분사형)는접지중</a:t>
            </a:r>
          </a:p>
          <a:p>
            <a:r>
              <a:rPr sz="900">
                <a:latin typeface="Malgun Gothic"/>
              </a:rPr>
              <a:t>성점설계라별도의고가변압기가필요한것과대비됩니다.</a:t>
            </a:r>
          </a:p>
          <a:p>
            <a:r>
              <a:rPr sz="900">
                <a:latin typeface="Malgun Gothic"/>
              </a:rPr>
              <a:t>•거품(foaming)·아크(arcing) 문제가거의없어변압기·차단기수명에유리(분사형은아크발생이잦아접</a:t>
            </a:r>
          </a:p>
          <a:p>
            <a:r>
              <a:rPr sz="900">
                <a:latin typeface="Malgun Gothic"/>
              </a:rPr>
              <a:t>점·탭체인저손상위험이있다고지적)</a:t>
            </a:r>
          </a:p>
          <a:p>
            <a:r>
              <a:rPr sz="900">
                <a:latin typeface="Malgun Gothic"/>
              </a:rPr>
              <a:t>•이런안정성덕분에원전보조증기(기동·정비시gland steam 공급)처럼신뢰성이극도로중요한곳에</a:t>
            </a:r>
          </a:p>
          <a:p>
            <a:r>
              <a:rPr sz="900">
                <a:latin typeface="Malgun Gothic"/>
              </a:rPr>
              <a:t>채택됩니다.</a:t>
            </a:r>
          </a:p>
          <a:p>
            <a:r>
              <a:rPr sz="900">
                <a:latin typeface="Malgun Gothic"/>
              </a:rPr>
              <a:t>정리</a:t>
            </a:r>
          </a:p>
          <a:p>
            <a:r>
              <a:rPr sz="900">
                <a:latin typeface="Malgun Gothic"/>
              </a:rPr>
              <a:t>Elpanneteknik의고전압증기시스템은단순히"전극보일러한대"가아니라, 급수처리→ 순환→ 발생</a:t>
            </a:r>
          </a:p>
          <a:p>
            <a:r>
              <a:rPr sz="900">
                <a:latin typeface="Malgun Gothic"/>
              </a:rPr>
              <a:t>→ 블로우다운/수질관리까지아우르는완결된침지형증기플랜트이며, 이침지방식이분사형대비증기</a:t>
            </a:r>
          </a:p>
          <a:p>
            <a:r>
              <a:rPr sz="900">
                <a:latin typeface="Malgun Gothic"/>
              </a:rPr>
              <a:t>품질·순도·신뢰성면에서우위에있다는점을회사의핵심세일즈포인트로삼고있습니다.</a:t>
            </a:r>
          </a:p>
          <a:p>
            <a:endParaRPr sz="900">
              <a:latin typeface="Malgun Gothic"/>
            </a:endParaRPr>
          </a:p>
        </p:txBody>
      </p:sp>
      <p:sp>
        <p:nvSpPr>
          <p:cNvPr id="4" name="Slide Number Placeholder 3"/>
          <p:cNvSpPr>
            <a:spLocks noGrp="1"/>
          </p:cNvSpPr>
          <p:nvPr>
            <p:ph type="sldNum" sz="quarter" idx="5"/>
          </p:nvPr>
        </p:nvSpPr>
        <p:spPr/>
      </p:sp>
      <p:pic>
        <p:nvPicPr>
          <p:cNvPr id="5" name="원본 PDF 19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20</a:t>
            </a:r>
          </a:p>
          <a:p>
            <a:r>
              <a:t>새 파일 페이지: 19</a:t>
            </a:r>
          </a:p>
          <a:p>
            <a:r>
              <a:t>원본 PDF 20페이지. 디자인 수정 범위: 4~37페이지.</a:t>
            </a:r>
          </a:p>
          <a:p>
            <a:r>
              <a:t>원문 추출 텍스트(원본 표·사진은 해당 PDF 참조):</a:t>
            </a:r>
          </a:p>
          <a:p>
            <a:r>
              <a:t>•Feedwater Tank: 급수탱크(또는급수조)</a:t>
            </a:r>
          </a:p>
          <a:p>
            <a:r>
              <a:t>•Deaerator: 탈기기(또는탈기조)</a:t>
            </a:r>
          </a:p>
          <a:p>
            <a:r>
              <a:t>두설비는보통하나로결합하여"탈기기부착급수탱크(Feedwater Tank with Deaerator)" 형태로자주쓰입니다.</a:t>
            </a:r>
          </a:p>
          <a:p>
            <a:r>
              <a:t>1.</a:t>
            </a:r>
          </a:p>
          <a:p>
            <a:r>
              <a:t>Feedwater Tank (급수탱크)보일러에공급할물(급수)을임시로저장해두는탱크입니다. 응축수처리계통에서돌아온물이나새롭게보충되는</a:t>
            </a:r>
          </a:p>
          <a:p>
            <a:r>
              <a:t>물(보충수)이이곳에모인후, 급수펌프를통해보일러본체로들어가게됩니다.</a:t>
            </a:r>
          </a:p>
          <a:p>
            <a:r>
              <a:t>2.</a:t>
            </a:r>
          </a:p>
          <a:p>
            <a:r>
              <a:t>2. Deaerator (탈기기)급수중에녹아있는용존산소($O_2$)와이산화탄소($CO_2$) 등의기체를제거(탈기)하는장치입니다</a:t>
            </a:r>
          </a:p>
          <a:p>
            <a:r>
              <a:t>3.</a:t>
            </a:r>
          </a:p>
          <a:p>
            <a:r>
              <a:t>이유: 물속에산소나이산화탄소가그대로남아있으면, 고온·고압의보일러내부와배관을심각하게부식(산화)시키기때문에반드시사전에제거해야</a:t>
            </a:r>
          </a:p>
          <a:p>
            <a:r>
              <a:t>합니다.방식: 보통급수탱크상부에탑(Tower) 형태로설치되며, 보일러에서나온증기(Steam)를뿜어물을끓임으로써기체를분리해밖으로</a:t>
            </a:r>
          </a:p>
          <a:p>
            <a:r>
              <a:t>배출합니다.</a:t>
            </a:r>
          </a:p>
          <a:p>
            <a:r>
              <a:t>Industrial Electric Boiler 3D Animation | Novovision AB</a:t>
            </a:r>
          </a:p>
          <a:p>
            <a:r>
              <a:t>https://www.youtube.com/watch?v=bzaoIhKtXHw</a:t>
            </a:r>
          </a:p>
          <a:p>
            <a:endParaRPr/>
          </a:p>
        </p:txBody>
      </p:sp>
      <p:sp>
        <p:nvSpPr>
          <p:cNvPr id="4" name="Slide Number Placeholder 3"/>
          <p:cNvSpPr>
            <a:spLocks noGrp="1"/>
          </p:cNvSpPr>
          <p:nvPr>
            <p:ph type="sldNum" sz="quarter" idx="5"/>
          </p:nvPr>
        </p:nvSpPr>
        <p:spPr/>
      </p:sp>
      <p:pic>
        <p:nvPicPr>
          <p:cNvPr id="5" name="원본 PDF 20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21</a:t>
            </a:r>
          </a:p>
          <a:p>
            <a:r>
              <a:t>새 파일 페이지: 20</a:t>
            </a:r>
          </a:p>
          <a:p>
            <a:r>
              <a:t>원본 PDF 21페이지. 디자인 수정 범위: 4~37페이지.</a:t>
            </a:r>
          </a:p>
          <a:p>
            <a:r>
              <a:t>원문 추출 텍스트(원본 표·사진은 해당 PDF 참조):</a:t>
            </a:r>
          </a:p>
          <a:p>
            <a:r>
              <a:t>Feedwater Pump(급수펌프)는보일러시스템의'심장'과같은역할을하는핵심설비입니다.</a:t>
            </a:r>
          </a:p>
          <a:p>
            <a:r>
              <a:t>앞서설명한급수탱크(Feedwater Tank)나탈기기(Deaerator)에모인물을보일러내부의높은</a:t>
            </a:r>
          </a:p>
          <a:p>
            <a:r>
              <a:t>압력을뚫고강제로밀어넣어주는역할을합니다. 보일러내부압력보다펌프의토출압력이더</a:t>
            </a:r>
          </a:p>
          <a:p>
            <a:r>
              <a:t>높아야만물이들어갈수있기때문에, 보통매우강력한고압펌프가사용됩니다.  </a:t>
            </a:r>
          </a:p>
          <a:p>
            <a:r>
              <a:t>주요역할및중요성보일러수위유지: 보일러가증기를만들어보내면내부물이줄어듭니다. </a:t>
            </a:r>
          </a:p>
          <a:p>
            <a:r>
              <a:t>이때감소한양만큼정확하게물을보충하여보일러가마른상태로가열되는것(Dry Firing, 공</a:t>
            </a:r>
          </a:p>
          <a:p>
            <a:r>
              <a:t>가열)을방지합니다.</a:t>
            </a:r>
          </a:p>
          <a:p>
            <a:r>
              <a:t>배압극복: 보일러내부는고온·고압의증기로가득차있습니다. 급수펌프는이강한압력(배압)</a:t>
            </a:r>
          </a:p>
          <a:p>
            <a:r>
              <a:t>을이겨내고물을밀어넣을수있도록높은압력(경우에따라수십~수백bar 이상)을형성합니</a:t>
            </a:r>
          </a:p>
          <a:p>
            <a:r>
              <a:t>다.  </a:t>
            </a:r>
          </a:p>
          <a:p>
            <a:r>
              <a:t>시스템보호: 급수공급이원활하지않으면보일러동체가과열되어폭발하거나장비가파손되</a:t>
            </a:r>
          </a:p>
          <a:p>
            <a:r>
              <a:t>는대형사고로이어질수있습니다.</a:t>
            </a:r>
          </a:p>
          <a:p>
            <a:r>
              <a:t>2. 주로사용되는펌프의종류산업용보일러환경에서는압력을단계적으로높일수있는원심</a:t>
            </a:r>
          </a:p>
          <a:p>
            <a:r>
              <a:t>식펌프가압도적으로많이사용됩니다.</a:t>
            </a:r>
          </a:p>
          <a:p>
            <a:r>
              <a:t>다단원심펌프(Multistage Centrifugal Pump): 가장대중적인형태입니다. 한대의펌프내부에</a:t>
            </a:r>
          </a:p>
          <a:p>
            <a:r>
              <a:t>여러개의임펠러(날개차)가직렬로연결되어있어, 물이각단계를거칠때마다압력이계단식</a:t>
            </a:r>
          </a:p>
          <a:p>
            <a:r>
              <a:t>으로높아집니다. 고압을내기에매우유리합니다. </a:t>
            </a:r>
          </a:p>
          <a:p>
            <a:r>
              <a:t>수평형(Horizontal): 용량이크고고온·고압에강하며유지보수가비교적쉽지만, 설치면적을</a:t>
            </a:r>
          </a:p>
          <a:p>
            <a:r>
              <a:t>많이차지합니다.  </a:t>
            </a:r>
          </a:p>
          <a:p>
            <a:r>
              <a:t>수직형(Vertical): 설치면적이좁은곳에유리하며, 소형~중형보일러패키지에자주쓰입니다.  </a:t>
            </a:r>
          </a:p>
          <a:p>
            <a:r>
              <a:t>용적식/왕복동펌프(Positive Displacement / Reciprocating Pump):피스톤이나플런저의왕복</a:t>
            </a:r>
          </a:p>
          <a:p>
            <a:r>
              <a:t>운동으로물을밀어내는방식입니다. 유량은적지만극도로높은압력이필요하거나, 정밀한유</a:t>
            </a:r>
          </a:p>
          <a:p>
            <a:r>
              <a:t>량제어가필요한특수산업공정에간혹사용됩니다.</a:t>
            </a:r>
          </a:p>
          <a:p>
            <a:r>
              <a:t>3. 운전방식(제어형태)급수펌프를어떻게구동하느냐에따라보일러의효율과수명이달라집</a:t>
            </a:r>
          </a:p>
          <a:p>
            <a:r>
              <a:t>니다.</a:t>
            </a:r>
          </a:p>
          <a:p>
            <a:r>
              <a:t>On/Off 제어(단순수위제어): 보일러내의플로트(부표) 스위치가내려가면펌프가켜지고, 물</a:t>
            </a:r>
          </a:p>
          <a:p>
            <a:r>
              <a:t>이차면꺼지는방식입니다. 구조가간단하고비용이저렴하지만, 뜨거운보일러에찬물이갑자</a:t>
            </a:r>
          </a:p>
          <a:p>
            <a:r>
              <a:t>기대량으로들어오므로열충격(Thermal Shock)이발생할수있고펌프의잦은기동/정지로모</a:t>
            </a:r>
          </a:p>
          <a:p>
            <a:r>
              <a:t>터에무리가갑니다</a:t>
            </a:r>
          </a:p>
          <a:p>
            <a:r>
              <a:t>비례제어/ 변속제어(Modulating / VFD Control): 보일러의증기배출량과수위를실시간으로</a:t>
            </a:r>
          </a:p>
          <a:p>
            <a:r>
              <a:t>감지하여, 인버터(VFD)를통해펌프의회전수를미세하게조절하는방식입니다. 물을끊김없</a:t>
            </a:r>
          </a:p>
          <a:p>
            <a:r>
              <a:t>이연속적이고부드럽게공급하므로열효율이높고설비수명이훨씬길어집니다. modern 전극</a:t>
            </a:r>
          </a:p>
          <a:p>
            <a:r>
              <a:t>보일러나고성능플랜트에서는대부분이방식을채택합니다. </a:t>
            </a:r>
          </a:p>
          <a:p>
            <a:r>
              <a:t>현장핵심용어최소유량바이패스(Mi i</a:t>
            </a:r>
          </a:p>
          <a:p>
            <a:r>
              <a:t>Fl</a:t>
            </a:r>
          </a:p>
          <a:p>
            <a:r>
              <a:t>B</a:t>
            </a:r>
          </a:p>
          <a:p>
            <a:r>
              <a:t>)보일러수위가꽉차서펌프가물</a:t>
            </a:r>
          </a:p>
          <a:p>
            <a:endParaRPr/>
          </a:p>
        </p:txBody>
      </p:sp>
      <p:sp>
        <p:nvSpPr>
          <p:cNvPr id="4" name="Slide Number Placeholder 3"/>
          <p:cNvSpPr>
            <a:spLocks noGrp="1"/>
          </p:cNvSpPr>
          <p:nvPr>
            <p:ph type="sldNum" sz="quarter" idx="5"/>
          </p:nvPr>
        </p:nvSpPr>
        <p:spPr/>
      </p:sp>
      <p:pic>
        <p:nvPicPr>
          <p:cNvPr id="5" name="원본 PDF 21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22</a:t>
            </a:r>
          </a:p>
          <a:p>
            <a:r>
              <a:t>새 파일 페이지: 21</a:t>
            </a:r>
          </a:p>
          <a:p>
            <a:r>
              <a:t>원본 PDF 22페이지. 디자인 수정 범위: 4~37페이지.</a:t>
            </a:r>
          </a:p>
          <a:p>
            <a:r>
              <a:t>원문 추출 텍스트(원본 표·사진은 해당 PDF 참조):</a:t>
            </a:r>
          </a:p>
          <a:p>
            <a:endParaRPr/>
          </a:p>
        </p:txBody>
      </p:sp>
      <p:sp>
        <p:nvSpPr>
          <p:cNvPr id="4" name="Slide Number Placeholder 3"/>
          <p:cNvSpPr>
            <a:spLocks noGrp="1"/>
          </p:cNvSpPr>
          <p:nvPr>
            <p:ph type="sldNum" sz="quarter" idx="5"/>
          </p:nvPr>
        </p:nvSpPr>
        <p:spPr/>
      </p:sp>
      <p:pic>
        <p:nvPicPr>
          <p:cNvPr id="5" name="원본 PDF 22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rPr sz="900">
                <a:latin typeface="Malgun Gothic"/>
              </a:rPr>
              <a:t>원본 PDF 23페이지. 디자인 수정 범위: 4~37페이지.</a:t>
            </a:r>
          </a:p>
          <a:p>
            <a:r>
              <a:rPr sz="900">
                <a:latin typeface="Malgun Gothic"/>
              </a:rPr>
              <a:t>원문 추출 텍스트(원본 표·사진은 해당 PDF 참조):</a:t>
            </a:r>
          </a:p>
          <a:p>
            <a:r>
              <a:rPr sz="900">
                <a:latin typeface="Malgun Gothic"/>
              </a:rPr>
              <a:t>보일러, 지역난방, HVAC(냉난방공조) 시스템등에서배관</a:t>
            </a:r>
          </a:p>
          <a:p>
            <a:r>
              <a:rPr sz="900">
                <a:latin typeface="Malgun Gothic"/>
              </a:rPr>
              <a:t>내부의물(또는열매체유등)을강제로흐르게만들어열</a:t>
            </a:r>
          </a:p>
          <a:p>
            <a:r>
              <a:rPr sz="900">
                <a:latin typeface="Malgun Gothic"/>
              </a:rPr>
              <a:t>을필요한곳으로전달하는역할을하는펌프입니다.앞서</a:t>
            </a:r>
          </a:p>
          <a:p>
            <a:r>
              <a:rPr sz="900">
                <a:latin typeface="Malgun Gothic"/>
              </a:rPr>
              <a:t>설명해드린급수펌프(Feedwater Pump)가시스템외부</a:t>
            </a:r>
          </a:p>
          <a:p>
            <a:r>
              <a:rPr sz="900">
                <a:latin typeface="Malgun Gothic"/>
              </a:rPr>
              <a:t>에서새로운물을채워넣는역할이라면, 순환펌프는이미</a:t>
            </a:r>
          </a:p>
          <a:p>
            <a:r>
              <a:rPr sz="900">
                <a:latin typeface="Malgun Gothic"/>
              </a:rPr>
              <a:t>계통내부에차있는물을계속해서뱅글뱅글돌려주는역</a:t>
            </a:r>
          </a:p>
          <a:p>
            <a:r>
              <a:rPr sz="900">
                <a:latin typeface="Malgun Gothic"/>
              </a:rPr>
              <a:t>할을합니다.</a:t>
            </a:r>
          </a:p>
          <a:p>
            <a:endParaRPr sz="900">
              <a:latin typeface="Malgun Gothic"/>
            </a:endParaRPr>
          </a:p>
        </p:txBody>
      </p:sp>
      <p:sp>
        <p:nvSpPr>
          <p:cNvPr id="4" name="Slide Number Placeholder 3"/>
          <p:cNvSpPr>
            <a:spLocks noGrp="1"/>
          </p:cNvSpPr>
          <p:nvPr>
            <p:ph type="sldNum" sz="quarter" idx="5"/>
          </p:nvPr>
        </p:nvSpPr>
        <p:spPr/>
      </p:sp>
      <p:pic>
        <p:nvPicPr>
          <p:cNvPr id="5" name="원본 PDF 23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24</a:t>
            </a:r>
          </a:p>
          <a:p>
            <a:r>
              <a:t>새 파일 페이지: 23</a:t>
            </a:r>
          </a:p>
          <a:p>
            <a:r>
              <a:t>원본 PDF 24페이지. 디자인 수정 범위: 4~37페이지.</a:t>
            </a:r>
          </a:p>
          <a:p>
            <a:r>
              <a:t>원문 추출 텍스트(원본 표·사진은 해당 PDF 참조):</a:t>
            </a:r>
          </a:p>
          <a:p>
            <a:r>
              <a:t>**도징스테이션(Dosing Station)**은특정물질(주로액체화학약품이나첨가제)을정밀하게계량하여자동으로투입·주입하는설비</a:t>
            </a:r>
          </a:p>
          <a:p>
            <a:r>
              <a:t>를말합니다.</a:t>
            </a:r>
          </a:p>
          <a:p>
            <a:r>
              <a:t>주요특징</a:t>
            </a:r>
          </a:p>
          <a:p>
            <a:r>
              <a:t>정해진농도나비율에맞춰약품을정확한양만큼계속해서공급</a:t>
            </a:r>
          </a:p>
          <a:p>
            <a:r>
              <a:t>펌프(주로계량펌프, dosing pump), 저장탱크, 제어장치(컨트롤러), 센서등으로구성</a:t>
            </a:r>
          </a:p>
          <a:p>
            <a:r>
              <a:t>유량, pH, 농도등을센서로측정하면서자동으로투입량을조절하는경우가많음</a:t>
            </a:r>
          </a:p>
          <a:p>
            <a:r>
              <a:t>주로사용되는분야</a:t>
            </a:r>
          </a:p>
          <a:p>
            <a:r>
              <a:t>수처리(정수/폐수처리): 염소, 응집제, pH 조절제등을투입</a:t>
            </a:r>
          </a:p>
          <a:p>
            <a:r>
              <a:t>식음료/제약산업: 특정성분을정확한비율로배합</a:t>
            </a:r>
          </a:p>
          <a:p>
            <a:r>
              <a:t>농업: 비료나농약을관수시스템에정밀혼합(예: 액비시스템)</a:t>
            </a:r>
          </a:p>
          <a:p>
            <a:r>
              <a:t>수영장관리: 염소나소독제자동투입</a:t>
            </a:r>
          </a:p>
          <a:p>
            <a:r>
              <a:t>산업공정전반: 세척액, 첨가제, 방부제등의자동주입</a:t>
            </a:r>
          </a:p>
          <a:p>
            <a:r>
              <a:t>핵심목적은사람이수동으로계량하는것보다더정확하고일관되게, 그리고지속적으로물질을공급함으로써품질관리와효율성을</a:t>
            </a:r>
          </a:p>
          <a:p>
            <a:r>
              <a:t>높이는것입니다.</a:t>
            </a:r>
          </a:p>
          <a:p>
            <a:endParaRPr/>
          </a:p>
        </p:txBody>
      </p:sp>
      <p:sp>
        <p:nvSpPr>
          <p:cNvPr id="4" name="Slide Number Placeholder 3"/>
          <p:cNvSpPr>
            <a:spLocks noGrp="1"/>
          </p:cNvSpPr>
          <p:nvPr>
            <p:ph type="sldNum" sz="quarter" idx="5"/>
          </p:nvPr>
        </p:nvSpPr>
        <p:spPr/>
      </p:sp>
      <p:pic>
        <p:nvPicPr>
          <p:cNvPr id="5" name="원본 PDF 2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25</a:t>
            </a:r>
          </a:p>
          <a:p>
            <a:r>
              <a:t>새 파일 페이지: 24</a:t>
            </a:r>
          </a:p>
          <a:p>
            <a:r>
              <a:t>원본 PDF 25페이지. 디자인 수정 범위: 4~37페이지.</a:t>
            </a:r>
          </a:p>
          <a:p>
            <a:r>
              <a:t>원문 추출 텍스트(원본 표·사진은 해당 PDF 참조):</a:t>
            </a:r>
          </a:p>
          <a:p>
            <a:r>
              <a:t>**플래시탱크(Flash Tank)**는고압·고온상태의액체(주로응축수나공정유체)가갑자기낮은압력영역으로이동할때, 일부가순간</a:t>
            </a:r>
          </a:p>
          <a:p>
            <a:r>
              <a:t>적으로증발(flashing)하도록만들어주는압력용기입니다.</a:t>
            </a:r>
          </a:p>
          <a:p>
            <a:r>
              <a:t>작동원리</a:t>
            </a:r>
          </a:p>
          <a:p>
            <a:r>
              <a:t>고압상태에서는물이포화온도이상이어도액체상태를유지할수있음</a:t>
            </a:r>
          </a:p>
          <a:p>
            <a:r>
              <a:t>이액체가압력이낮은플래시탱크로들어오면, 그압력에서의포화온도보다온도가높은상태가되어일부가즉시증기로변함(이를</a:t>
            </a:r>
          </a:p>
          <a:p>
            <a:r>
              <a:t>"flash evaporation" 또는"flashing"이라함)</a:t>
            </a:r>
          </a:p>
          <a:p>
            <a:r>
              <a:t>탱크내부에서증기와액체가분리됨: 증기는위쪽으로, 액체(응축수)는아래쪽으로배출</a:t>
            </a:r>
          </a:p>
          <a:p>
            <a:r>
              <a:t>주요사용처</a:t>
            </a:r>
          </a:p>
          <a:p>
            <a:r>
              <a:t>스팀시스템/ 보일러플랜트: 고압응축수트랩에서나온응축수를저압플래시탱크로보내저압증기(flash steam)를회수→ 에너지</a:t>
            </a:r>
          </a:p>
          <a:p>
            <a:r>
              <a:t>재활용</a:t>
            </a:r>
          </a:p>
          <a:p>
            <a:r>
              <a:t>냉동/냉각시스템: 냉매사이클에서압력강하시상분리</a:t>
            </a:r>
          </a:p>
          <a:p>
            <a:r>
              <a:t>석유화학공정: 감압시발생하는증기와액체분리(예: 원유정제공정)지열발전소: 고압지열수를감압하여발생한증기로터빈구동</a:t>
            </a:r>
          </a:p>
          <a:p>
            <a:r>
              <a:t>핵심목적</a:t>
            </a:r>
          </a:p>
          <a:p>
            <a:r>
              <a:t>에너지회수: 고압응축수의열에너지를저압증기형태로재사용(보일러효율향상)상분리: 증기와액체를분리해각각다른용도로활</a:t>
            </a:r>
          </a:p>
          <a:p>
            <a:r>
              <a:t>용(예: 증기는저압스팀라인으로, 액체는계속순환)압력안정화: 급격한압력변화로인한워터해머등문제방지</a:t>
            </a:r>
          </a:p>
          <a:p>
            <a:endParaRPr/>
          </a:p>
        </p:txBody>
      </p:sp>
      <p:sp>
        <p:nvSpPr>
          <p:cNvPr id="4" name="Slide Number Placeholder 3"/>
          <p:cNvSpPr>
            <a:spLocks noGrp="1"/>
          </p:cNvSpPr>
          <p:nvPr>
            <p:ph type="sldNum" sz="quarter" idx="5"/>
          </p:nvPr>
        </p:nvSpPr>
        <p:spPr/>
      </p:sp>
      <p:pic>
        <p:nvPicPr>
          <p:cNvPr id="5" name="원본 PDF 2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26</a:t>
            </a:r>
          </a:p>
          <a:p>
            <a:r>
              <a:t>새 파일 페이지: 25</a:t>
            </a:r>
          </a:p>
          <a:p>
            <a:r>
              <a:t>원본 PDF 26페이지. 디자인 수정 범위: 4~37페이지.</a:t>
            </a:r>
          </a:p>
          <a:p>
            <a:r>
              <a:t>원문 추출 텍스트(원본 표·사진은 해당 PDF 참조):</a:t>
            </a:r>
          </a:p>
          <a:p>
            <a:r>
              <a:t>용존산소를20 ppb 이하로낮추는것은주로고압보일러급수처리에서요구되는스펙입니다. 이정도수준은기계적</a:t>
            </a:r>
          </a:p>
          <a:p>
            <a:r>
              <a:t>방법만으로는부족하고, 보통기계적탈기+ 화학적산소제거제투입을함께사용해야합니다.</a:t>
            </a:r>
          </a:p>
          <a:p>
            <a:r>
              <a:t>1단계: 기계적탈기(Mechanical Deaeration)</a:t>
            </a:r>
          </a:p>
          <a:p>
            <a:r>
              <a:t>•**탈기기(Deaerator)**를통해1차적으로용존산소제거</a:t>
            </a:r>
          </a:p>
          <a:p>
            <a:r>
              <a:t>•스프레이형/트레이형탈기기로보통7~10 ppb 수준까지도달가능(설계에따라다름)</a:t>
            </a:r>
          </a:p>
          <a:p>
            <a:r>
              <a:t>•원리: 스팀으로가열하여헨리의법칙에따라용존가스방출촉진</a:t>
            </a:r>
          </a:p>
          <a:p>
            <a:r>
              <a:t>한계: 탈기기만으로는완전히20 ppb 이하를안정적으로유지하기어려움(부하변동, 운전조건에따라편차발생)</a:t>
            </a:r>
          </a:p>
          <a:p>
            <a:r>
              <a:t>2단계: 화학적산소스캐빈저투입(Chemical Oxygen Scavenging)</a:t>
            </a:r>
          </a:p>
          <a:p>
            <a:r>
              <a:t>탈기기후잔류산소를화학적으로제거하기위해도징스테이션을통해산소제거제를미량주입:</a:t>
            </a:r>
          </a:p>
          <a:p>
            <a:r>
              <a:t>모니터링</a:t>
            </a:r>
          </a:p>
          <a:p>
            <a:r>
              <a:t>•**용존산소계(DO analyzer)**를급수라인에설치해실시간ppb 단위측정</a:t>
            </a:r>
          </a:p>
          <a:p>
            <a:r>
              <a:t>•도징펌프와연동해자동피드백제어(산소농도에따라투입량자동조절)하는경우가많음</a:t>
            </a:r>
          </a:p>
          <a:p>
            <a:r>
              <a:t>실무팁</a:t>
            </a:r>
          </a:p>
          <a:p>
            <a:r>
              <a:t>•고압보일러(예: 60 bar 이상)일수록산소스펙이엄격해짐(부식방지, 특히산소피팅corrosion 방지)</a:t>
            </a:r>
          </a:p>
          <a:p>
            <a:r>
              <a:t>•배관재질(탄소강vs 스테인리스)에따라허용산소농도기준이다름</a:t>
            </a:r>
          </a:p>
          <a:p>
            <a:r>
              <a:t>•산소제거제과다투입시오히려슬러지나다른부식문제유발가능→ 정량제어가중요</a:t>
            </a:r>
          </a:p>
          <a:p>
            <a:endParaRPr/>
          </a:p>
        </p:txBody>
      </p:sp>
      <p:sp>
        <p:nvSpPr>
          <p:cNvPr id="4" name="Slide Number Placeholder 3"/>
          <p:cNvSpPr>
            <a:spLocks noGrp="1"/>
          </p:cNvSpPr>
          <p:nvPr>
            <p:ph type="sldNum" sz="quarter" idx="5"/>
          </p:nvPr>
        </p:nvSpPr>
        <p:spPr/>
      </p:sp>
      <p:pic>
        <p:nvPicPr>
          <p:cNvPr id="5" name="원본 PDF 2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27</a:t>
            </a:r>
          </a:p>
          <a:p>
            <a:r>
              <a:t>새 파일 페이지: 26</a:t>
            </a:r>
          </a:p>
          <a:p>
            <a:r>
              <a:t>원본 PDF 27페이지. 디자인 수정 범위: 4~37페이지.</a:t>
            </a:r>
          </a:p>
          <a:p>
            <a:r>
              <a:t>원문 추출 텍스트(원본 표·사진은 해당 PDF 참조):</a:t>
            </a:r>
          </a:p>
          <a:p>
            <a:r>
              <a:t>급수펌프(Feedwater Pump)를**2대구성(2×100% 또는1 Duty + 1 Standby)**로설치하여이중화(redundancy)를확보하고, 자동</a:t>
            </a:r>
          </a:p>
          <a:p>
            <a:r>
              <a:t>절체(Automatic Shifting/Changeover) 기능을두는것은보일러급수시스템에서매우일반적인표준설계입니다.</a:t>
            </a:r>
          </a:p>
          <a:p>
            <a:r>
              <a:t>기본구성방식</a:t>
            </a:r>
          </a:p>
          <a:p>
            <a:r>
              <a:t>1) 1 Duty + 1 Standby (2×100%)</a:t>
            </a:r>
          </a:p>
          <a:p>
            <a:r>
              <a:t>•평상시1대만가동, 나머지1대는대기</a:t>
            </a:r>
          </a:p>
          <a:p>
            <a:r>
              <a:t>•가장흔한구성— 유지보수시에도운전중단없음</a:t>
            </a:r>
          </a:p>
          <a:p>
            <a:r>
              <a:t>2) 2×50% 또는3×50%</a:t>
            </a:r>
          </a:p>
          <a:p>
            <a:r>
              <a:t>•부하를분산운전, 한대고장시에도부분용량유지가능</a:t>
            </a:r>
          </a:p>
          <a:p>
            <a:r>
              <a:t>•대용량시스템에서유리</a:t>
            </a:r>
          </a:p>
          <a:p>
            <a:r>
              <a:t>자동절체(Auto Changeover) 작동원리</a:t>
            </a:r>
          </a:p>
          <a:p>
            <a:r>
              <a:t>일반적으로다음조건에서자동으로대기펌프가가동됩니다:</a:t>
            </a:r>
          </a:p>
          <a:p>
            <a:endParaRPr/>
          </a:p>
        </p:txBody>
      </p:sp>
      <p:sp>
        <p:nvSpPr>
          <p:cNvPr id="4" name="Slide Number Placeholder 3"/>
          <p:cNvSpPr>
            <a:spLocks noGrp="1"/>
          </p:cNvSpPr>
          <p:nvPr>
            <p:ph type="sldNum" sz="quarter" idx="5"/>
          </p:nvPr>
        </p:nvSpPr>
        <p:spPr/>
      </p:sp>
      <p:pic>
        <p:nvPicPr>
          <p:cNvPr id="5" name="원본 PDF 2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28</a:t>
            </a:r>
          </a:p>
          <a:p>
            <a:r>
              <a:t>새 파일 페이지: 27</a:t>
            </a:r>
          </a:p>
          <a:p>
            <a:r>
              <a:t>원본 PDF 28페이지. 디자인 수정 범위: 4~37페이지.</a:t>
            </a:r>
          </a:p>
          <a:p>
            <a:r>
              <a:t>원문 추출 텍스트(원본 표·사진은 해당 PDF 참조):</a:t>
            </a:r>
          </a:p>
          <a:p>
            <a:r>
              <a:t>증기보일러회로는보일러순환펌프회로와증기배관에설치된제어</a:t>
            </a:r>
          </a:p>
          <a:p>
            <a:r>
              <a:t>밸브로구성된다.</a:t>
            </a:r>
          </a:p>
          <a:p>
            <a:r>
              <a:t>증기보일러회로는보일러순환펌프회로와증기배관에설치된제어</a:t>
            </a:r>
          </a:p>
          <a:p>
            <a:r>
              <a:t>밸브로구성된다.</a:t>
            </a:r>
          </a:p>
          <a:p>
            <a:endParaRPr/>
          </a:p>
        </p:txBody>
      </p:sp>
      <p:sp>
        <p:nvSpPr>
          <p:cNvPr id="4" name="Slide Number Placeholder 3"/>
          <p:cNvSpPr>
            <a:spLocks noGrp="1"/>
          </p:cNvSpPr>
          <p:nvPr>
            <p:ph type="sldNum" sz="quarter" idx="5"/>
          </p:nvPr>
        </p:nvSpPr>
        <p:spPr/>
      </p:sp>
      <p:pic>
        <p:nvPicPr>
          <p:cNvPr id="5" name="원본 PDF 28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29</a:t>
            </a:r>
          </a:p>
          <a:p>
            <a:r>
              <a:t>새 파일 페이지: 28</a:t>
            </a:r>
          </a:p>
          <a:p>
            <a:r>
              <a:t>원본 PDF 29페이지. 디자인 수정 범위: 4~37페이지.</a:t>
            </a:r>
          </a:p>
          <a:p>
            <a:r>
              <a:t>원문 추출 텍스트(원본 표·사진은 해당 PDF 참조):</a:t>
            </a:r>
          </a:p>
          <a:p>
            <a:r>
              <a:t>보일러내부는전극과주변에물을담는</a:t>
            </a:r>
          </a:p>
          <a:p>
            <a:r>
              <a:t>내실로이루어져있다. </a:t>
            </a:r>
          </a:p>
          <a:p>
            <a:r>
              <a:t>물은분배배관을통해외실에서내실로순환된다.</a:t>
            </a:r>
          </a:p>
          <a:p>
            <a:endParaRPr/>
          </a:p>
        </p:txBody>
      </p:sp>
      <p:sp>
        <p:nvSpPr>
          <p:cNvPr id="4" name="Slide Number Placeholder 3"/>
          <p:cNvSpPr>
            <a:spLocks noGrp="1"/>
          </p:cNvSpPr>
          <p:nvPr>
            <p:ph type="sldNum" sz="quarter" idx="5"/>
          </p:nvPr>
        </p:nvSpPr>
        <p:spPr/>
      </p:sp>
      <p:pic>
        <p:nvPicPr>
          <p:cNvPr id="5" name="원본 PDF 29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30</a:t>
            </a:r>
          </a:p>
          <a:p>
            <a:r>
              <a:t>새 파일 페이지: 29</a:t>
            </a:r>
          </a:p>
          <a:p>
            <a:r>
              <a:t>원본 PDF 30페이지. 디자인 수정 범위: 4~37페이지.</a:t>
            </a:r>
          </a:p>
          <a:p>
            <a:r>
              <a:t>원문 추출 텍스트(원본 표·사진은 해당 PDF 참조):</a:t>
            </a:r>
          </a:p>
          <a:p>
            <a:r>
              <a:t>앞서말씀드린구조는전극봉이물속에완전히잠긴채고정되어있는침지형이</a:t>
            </a:r>
          </a:p>
          <a:p>
            <a:r>
              <a:t>었습니다. 반면이그림은:</a:t>
            </a:r>
          </a:p>
          <a:p>
            <a:r>
              <a:t>•전극이케이지(그물망실린더) 형태로, 물탱크전체가아니라위쪽에매달려있</a:t>
            </a:r>
          </a:p>
          <a:p>
            <a:r>
              <a:t>고</a:t>
            </a:r>
          </a:p>
          <a:p>
            <a:r>
              <a:t>•물은탱크하단에만일부고여있으며, 순환펌프가이물을끌어올려전극케이지</a:t>
            </a:r>
          </a:p>
          <a:p>
            <a:r>
              <a:t>쪽으로분사·순환시키는구조입니다.</a:t>
            </a:r>
          </a:p>
          <a:p>
            <a:r>
              <a:t>•즉전극이물에"가만히잠겨" 있는게아니라, 물이펌프를통해전극쪽으로계</a:t>
            </a:r>
          </a:p>
          <a:p>
            <a:r>
              <a:t>속뿌려지면서접촉면과접촉시간을조절하는방식- 이게바로제가앞서말씀드</a:t>
            </a:r>
          </a:p>
          <a:p>
            <a:r>
              <a:t>린분사형(jet type) 의실제모습입니다.</a:t>
            </a:r>
          </a:p>
          <a:p>
            <a:r>
              <a:t>이렇게설계하는이유</a:t>
            </a:r>
          </a:p>
          <a:p>
            <a:r>
              <a:t>•정밀한출력제어: 침수깊이를물리적으로움직이는대신, 순환펌프의유량이나</a:t>
            </a:r>
          </a:p>
          <a:p>
            <a:r>
              <a:t>분사량을조절해서전극과물의유효접촉량(=저항)을훨씬빠르고정밀하게조</a:t>
            </a:r>
          </a:p>
          <a:p>
            <a:r>
              <a:t>절할수있습니다.</a:t>
            </a:r>
          </a:p>
          <a:p>
            <a:r>
              <a:t>•전극마모분산: 물이계속흐르면서전극표면을스치듯지나가기때문에한자</a:t>
            </a:r>
          </a:p>
          <a:p>
            <a:r>
              <a:t>리에계속고여있는침지형보다국부적인스케일침착이나전식(전기화학적부</a:t>
            </a:r>
          </a:p>
          <a:p>
            <a:r>
              <a:t>식)이덜합니다.</a:t>
            </a:r>
          </a:p>
          <a:p>
            <a:r>
              <a:t>•플래시탱크연계: 데워진물/증기를아래쪽플래시탱크로보내증기와물을분리</a:t>
            </a:r>
          </a:p>
          <a:p>
            <a:r>
              <a:t>하는데, 이건산업용증기보일러에서자주쓰이는구성이라대용량산업용에최</a:t>
            </a:r>
          </a:p>
          <a:p>
            <a:r>
              <a:t>적화된설계임을보여줍니다.</a:t>
            </a:r>
          </a:p>
          <a:p>
            <a:r>
              <a:t>•이중용기(내조/외조) 구조: 고전압이흐르는내조와바깥사람이접촉할수있는</a:t>
            </a:r>
          </a:p>
          <a:p>
            <a:r>
              <a:t>외조사이에절연공간(에어갭)을두어감전위험을원천차단하는것도목적입니</a:t>
            </a:r>
          </a:p>
          <a:p>
            <a:r>
              <a:t>다. 이건제가앞서말씀드린"N상파이프로누설전류차단"과같은목적을, 이설</a:t>
            </a:r>
          </a:p>
          <a:p>
            <a:r>
              <a:t>계에서는이중용기구조로구현한것이라볼수있습니다.</a:t>
            </a:r>
          </a:p>
          <a:p>
            <a:endParaRPr/>
          </a:p>
        </p:txBody>
      </p:sp>
      <p:sp>
        <p:nvSpPr>
          <p:cNvPr id="4" name="Slide Number Placeholder 3"/>
          <p:cNvSpPr>
            <a:spLocks noGrp="1"/>
          </p:cNvSpPr>
          <p:nvPr>
            <p:ph type="sldNum" sz="quarter" idx="5"/>
          </p:nvPr>
        </p:nvSpPr>
        <p:spPr/>
      </p:sp>
      <p:pic>
        <p:nvPicPr>
          <p:cNvPr id="5" name="원본 PDF 30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31</a:t>
            </a:r>
          </a:p>
          <a:p>
            <a:r>
              <a:t>새 파일 페이지: 30</a:t>
            </a:r>
          </a:p>
          <a:p>
            <a:r>
              <a:t>원본 PDF 31페이지. 디자인 수정 범위: 4~37페이지.</a:t>
            </a:r>
          </a:p>
          <a:p>
            <a:r>
              <a:t>원문 추출 텍스트(원본 표·사진은 해당 PDF 참조):</a:t>
            </a:r>
          </a:p>
          <a:p>
            <a:r>
              <a:t>순환의목적은증기생산에필요한물의전도성을높이기위해물속의염분을고르게분포</a:t>
            </a:r>
          </a:p>
          <a:p>
            <a:r>
              <a:t>시키는것이다. 또한순환은전극에서증기기포를제거하여전극의작동조건을개선한다. </a:t>
            </a:r>
          </a:p>
          <a:p>
            <a:r>
              <a:t>보일러출력은내실의수위와물의전도도에따라달라진다. 전도도는염분함량과관련이있다.</a:t>
            </a:r>
          </a:p>
          <a:p>
            <a:r>
              <a:t>보일러수의염분함량을높이려면약품투입장치에서화학약품을첨가하여염분함량을낮춘다.</a:t>
            </a:r>
          </a:p>
          <a:p>
            <a:endParaRPr/>
          </a:p>
        </p:txBody>
      </p:sp>
      <p:sp>
        <p:nvSpPr>
          <p:cNvPr id="4" name="Slide Number Placeholder 3"/>
          <p:cNvSpPr>
            <a:spLocks noGrp="1"/>
          </p:cNvSpPr>
          <p:nvPr>
            <p:ph type="sldNum" sz="quarter" idx="5"/>
          </p:nvPr>
        </p:nvSpPr>
        <p:spPr/>
      </p:sp>
      <p:pic>
        <p:nvPicPr>
          <p:cNvPr id="5" name="원본 PDF 31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32</a:t>
            </a:r>
          </a:p>
          <a:p>
            <a:r>
              <a:t>새 파일 페이지: 31</a:t>
            </a:r>
          </a:p>
          <a:p>
            <a:r>
              <a:t>원본 PDF 32페이지. 디자인 수정 범위: 4~37페이지.</a:t>
            </a:r>
          </a:p>
          <a:p>
            <a:r>
              <a:t>원문 추출 텍스트(원본 표·사진은 해당 PDF 참조):</a:t>
            </a:r>
          </a:p>
          <a:p>
            <a:r>
              <a:t>내부용기의내용물은플래시탱크로불어넣어지고플래시탱크에서증기가물과분리된다.</a:t>
            </a:r>
          </a:p>
          <a:p>
            <a:endParaRPr/>
          </a:p>
        </p:txBody>
      </p:sp>
      <p:sp>
        <p:nvSpPr>
          <p:cNvPr id="4" name="Slide Number Placeholder 3"/>
          <p:cNvSpPr>
            <a:spLocks noGrp="1"/>
          </p:cNvSpPr>
          <p:nvPr>
            <p:ph type="sldNum" sz="quarter" idx="5"/>
          </p:nvPr>
        </p:nvSpPr>
        <p:spPr/>
      </p:sp>
      <p:pic>
        <p:nvPicPr>
          <p:cNvPr id="5" name="원본 PDF 32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33</a:t>
            </a:r>
          </a:p>
          <a:p>
            <a:r>
              <a:t>새 파일 페이지: 32</a:t>
            </a:r>
          </a:p>
          <a:p>
            <a:r>
              <a:t>원본 PDF 33페이지. 디자인 수정 범위: 4~37페이지.</a:t>
            </a:r>
          </a:p>
          <a:p>
            <a:r>
              <a:t>원문 추출 텍스트(원본 표·사진은 해당 PDF 참조):</a:t>
            </a:r>
          </a:p>
          <a:p>
            <a:r>
              <a:t>내부용기의수위를높이면출력이증가하는데이는순환펌프회로의제어밸브를열고동시에내부용기</a:t>
            </a:r>
          </a:p>
          <a:p>
            <a:r>
              <a:t>하단의제어밸브를닫음으로써이루어진다. </a:t>
            </a:r>
          </a:p>
          <a:p>
            <a:endParaRPr/>
          </a:p>
        </p:txBody>
      </p:sp>
      <p:sp>
        <p:nvSpPr>
          <p:cNvPr id="4" name="Slide Number Placeholder 3"/>
          <p:cNvSpPr>
            <a:spLocks noGrp="1"/>
          </p:cNvSpPr>
          <p:nvPr>
            <p:ph type="sldNum" sz="quarter" idx="5"/>
          </p:nvPr>
        </p:nvSpPr>
        <p:spPr/>
      </p:sp>
      <p:pic>
        <p:nvPicPr>
          <p:cNvPr id="5" name="원본 PDF 33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34</a:t>
            </a:r>
          </a:p>
          <a:p>
            <a:r>
              <a:t>새 파일 페이지: 33</a:t>
            </a:r>
          </a:p>
          <a:p>
            <a:r>
              <a:t>원본 PDF 34페이지. 디자인 수정 범위: 4~37페이지.</a:t>
            </a:r>
          </a:p>
          <a:p>
            <a:r>
              <a:t>원문 추출 텍스트(원본 표·사진은 해당 PDF 참조):</a:t>
            </a:r>
          </a:p>
          <a:p>
            <a:r>
              <a:t>내부용기의수위를낮추면출력이감소하는데, 이는순환펌프회로의제어밸브를닫고동시에</a:t>
            </a:r>
          </a:p>
          <a:p>
            <a:r>
              <a:t>내부용기하단의제어밸브를열음으로써이루어진다.  </a:t>
            </a:r>
          </a:p>
          <a:p>
            <a:endParaRPr/>
          </a:p>
        </p:txBody>
      </p:sp>
      <p:sp>
        <p:nvSpPr>
          <p:cNvPr id="4" name="Slide Number Placeholder 3"/>
          <p:cNvSpPr>
            <a:spLocks noGrp="1"/>
          </p:cNvSpPr>
          <p:nvPr>
            <p:ph type="sldNum" sz="quarter" idx="5"/>
          </p:nvPr>
        </p:nvSpPr>
        <p:spPr/>
      </p:sp>
      <p:pic>
        <p:nvPicPr>
          <p:cNvPr id="5" name="원본 PDF 3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35</a:t>
            </a:r>
          </a:p>
          <a:p>
            <a:r>
              <a:t>새 파일 페이지: 34</a:t>
            </a:r>
          </a:p>
          <a:p>
            <a:r>
              <a:t>원본 PDF 35페이지. 디자인 수정 범위: 4~37페이지.</a:t>
            </a:r>
          </a:p>
          <a:p>
            <a:r>
              <a:t>원문 추출 텍스트(원본 표·사진은 해당 PDF 참조):</a:t>
            </a:r>
          </a:p>
          <a:p>
            <a:r>
              <a:t>당사의보일러는낮은증기속도와비교적적은양의화학약품을사용하는넓은수면적그리고대형Dryness 설치가능</a:t>
            </a:r>
          </a:p>
          <a:p>
            <a:r>
              <a:t>특징으로한다. </a:t>
            </a:r>
          </a:p>
          <a:p>
            <a:endParaRPr/>
          </a:p>
        </p:txBody>
      </p:sp>
      <p:sp>
        <p:nvSpPr>
          <p:cNvPr id="4" name="Slide Number Placeholder 3"/>
          <p:cNvSpPr>
            <a:spLocks noGrp="1"/>
          </p:cNvSpPr>
          <p:nvPr>
            <p:ph type="sldNum" sz="quarter" idx="5"/>
          </p:nvPr>
        </p:nvSpPr>
        <p:spPr/>
      </p:sp>
      <p:pic>
        <p:nvPicPr>
          <p:cNvPr id="5" name="원본 PDF 3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36</a:t>
            </a:r>
          </a:p>
          <a:p>
            <a:r>
              <a:t>새 파일 페이지: 35</a:t>
            </a:r>
          </a:p>
          <a:p>
            <a:r>
              <a:t>원본 PDF 36페이지. 디자인 수정 범위: 4~37페이지.</a:t>
            </a:r>
          </a:p>
          <a:p>
            <a:r>
              <a:t>원문 추출 텍스트(원본 표·사진은 해당 PDF 참조):</a:t>
            </a:r>
          </a:p>
          <a:p>
            <a:endParaRPr/>
          </a:p>
        </p:txBody>
      </p:sp>
      <p:sp>
        <p:nvSpPr>
          <p:cNvPr id="4" name="Slide Number Placeholder 3"/>
          <p:cNvSpPr>
            <a:spLocks noGrp="1"/>
          </p:cNvSpPr>
          <p:nvPr>
            <p:ph type="sldNum" sz="quarter" idx="5"/>
          </p:nvPr>
        </p:nvSpPr>
        <p:spPr/>
      </p:sp>
      <p:pic>
        <p:nvPicPr>
          <p:cNvPr id="5" name="원본 PDF 3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37</a:t>
            </a:r>
          </a:p>
          <a:p>
            <a:r>
              <a:t>새 파일 페이지: 36</a:t>
            </a:r>
          </a:p>
          <a:p>
            <a:r>
              <a:t>원본 PDF 37페이지. 디자인 수정 범위: 4~37페이지.</a:t>
            </a:r>
          </a:p>
          <a:p>
            <a:r>
              <a:t>원문 추출 텍스트(원본 표·사진은 해당 PDF 참조):</a:t>
            </a:r>
          </a:p>
          <a:p>
            <a:r>
              <a:t>Medium voltage jet type Vapec electrode boiler for CO2 </a:t>
            </a:r>
          </a:p>
          <a:p>
            <a:r>
              <a:t>free steam production up to 60MW per unit.</a:t>
            </a:r>
          </a:p>
          <a:p>
            <a:r>
              <a:t>https://www.youtube.com/watch?v=ZrSNmCcJCUI</a:t>
            </a:r>
          </a:p>
          <a:p>
            <a:endParaRPr/>
          </a:p>
        </p:txBody>
      </p:sp>
      <p:sp>
        <p:nvSpPr>
          <p:cNvPr id="4" name="Slide Number Placeholder 3"/>
          <p:cNvSpPr>
            <a:spLocks noGrp="1"/>
          </p:cNvSpPr>
          <p:nvPr>
            <p:ph type="sldNum" sz="quarter" idx="5"/>
          </p:nvPr>
        </p:nvSpPr>
        <p:spPr/>
      </p:sp>
      <p:pic>
        <p:nvPicPr>
          <p:cNvPr id="5" name="원본 PDF 3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jpg"/><Relationship Id="rId5"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7.jpg"/><Relationship Id="rId5" Type="http://schemas.openxmlformats.org/officeDocument/2006/relationships/hyperlink" Target="https://e-boiler.s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hyperlink" Target="https://e-boiler.s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hyperlink" Target="https://e-boiler.s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hyperlink" Target="https://e-boiler.s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4.jpg"/><Relationship Id="rId5" Type="http://schemas.openxmlformats.org/officeDocument/2006/relationships/hyperlink" Target="https://www.youtube.com/watch?v=bzaoIhKtXHw"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3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3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3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3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3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4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42.jpg"/><Relationship Id="rId5" Type="http://schemas.openxmlformats.org/officeDocument/2006/relationships/image" Target="../media/image4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42.jpg"/><Relationship Id="rId5" Type="http://schemas.openxmlformats.org/officeDocument/2006/relationships/image" Target="../media/image4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4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4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5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5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5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5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57.jpg"/><Relationship Id="rId5" Type="http://schemas.openxmlformats.org/officeDocument/2006/relationships/image" Target="../media/image58.jpg"/><Relationship Id="rId6" Type="http://schemas.openxmlformats.org/officeDocument/2006/relationships/image" Target="../media/image59.jpg"/><Relationship Id="rId7" Type="http://schemas.openxmlformats.org/officeDocument/2006/relationships/hyperlink" Target="https://www.youtube.com/watch?v=ZrSNmCcJCU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전극형 보일링 시스템 정의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a:t>
            </a:r>
          </a:p>
        </p:txBody>
      </p:sp>
      <p:sp>
        <p:nvSpPr>
          <p:cNvPr id="11" name="Rectangle 10"/>
          <p:cNvSpPr/>
          <p:nvPr/>
        </p:nvSpPr>
        <p:spPr>
          <a:xfrm>
            <a:off x="381000" y="1066800"/>
            <a:ext cx="4102100" cy="1092200"/>
          </a:xfrm>
          <a:prstGeom prst="rect">
            <a:avLst/>
          </a:prstGeom>
          <a:solidFill>
            <a:srgbClr val="FFFFFF"/>
          </a:solidFill>
          <a:ln w="7620">
            <a:solidFill>
              <a:srgbClr val="DEE3E8"/>
            </a:solidFill>
          </a:ln>
          <a:effectLst/>
        </p:spPr>
        <p:txBody>
          <a:bodyPr rtlCol="0" anchor="ctr"/>
          <a:lstStyle/>
          <a:p>
            <a:pPr algn="ctr"/>
            <a:endParaRPr/>
          </a:p>
        </p:txBody>
      </p:sp>
      <p:sp>
        <p:nvSpPr>
          <p:cNvPr id="12" name="Rectangle 11"/>
          <p:cNvSpPr/>
          <p:nvPr/>
        </p:nvSpPr>
        <p:spPr>
          <a:xfrm>
            <a:off x="381000" y="1066800"/>
            <a:ext cx="25400" cy="10922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46100" y="1193800"/>
            <a:ext cx="37719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전기보일러 </a:t>
            </a:r>
            <a:r>
              <a:rPr lang="en-US" altLang="ko-KR" sz="1700" b="1" dirty="0">
                <a:solidFill>
                  <a:srgbClr val="1F497D"/>
                </a:solidFill>
                <a:latin typeface="Malgun Gothic"/>
                <a:ea typeface="Malgun Gothic"/>
                <a:cs typeface="Malgun Gothic"/>
              </a:rPr>
              <a:t>(</a:t>
            </a:r>
            <a:r>
              <a:rPr lang="ko-KR" sz="1700" b="1" dirty="0" err="1">
                <a:solidFill>
                  <a:srgbClr val="1F497D"/>
                </a:solidFill>
                <a:latin typeface="Malgun Gothic"/>
                <a:ea typeface="Malgun Gothic"/>
                <a:cs typeface="Malgun Gothic"/>
              </a:rPr>
              <a:t>저항식</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14" name="TextBox 13"/>
          <p:cNvSpPr txBox="1"/>
          <p:nvPr/>
        </p:nvSpPr>
        <p:spPr>
          <a:xfrm>
            <a:off x="546100" y="1600200"/>
            <a:ext cx="37719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열선에 전류 → 발열 → 물로 열 전달</a:t>
            </a: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니크롬선 등을 이용한 간접가열</a:t>
            </a:r>
          </a:p>
        </p:txBody>
      </p:sp>
      <p:sp>
        <p:nvSpPr>
          <p:cNvPr id="15" name="Rectangle 14"/>
          <p:cNvSpPr/>
          <p:nvPr/>
        </p:nvSpPr>
        <p:spPr>
          <a:xfrm>
            <a:off x="4660900" y="1066800"/>
            <a:ext cx="4102100" cy="1092200"/>
          </a:xfrm>
          <a:prstGeom prst="rect">
            <a:avLst/>
          </a:prstGeom>
          <a:solidFill>
            <a:srgbClr val="FFFFFF"/>
          </a:solidFill>
          <a:ln w="7620">
            <a:solidFill>
              <a:srgbClr val="DEE3E8"/>
            </a:solidFill>
          </a:ln>
          <a:effectLst/>
        </p:spPr>
        <p:txBody>
          <a:bodyPr rtlCol="0" anchor="ctr"/>
          <a:lstStyle/>
          <a:p>
            <a:pPr algn="ctr"/>
            <a:endParaRPr/>
          </a:p>
        </p:txBody>
      </p:sp>
      <p:sp>
        <p:nvSpPr>
          <p:cNvPr id="16" name="Rectangle 15"/>
          <p:cNvSpPr/>
          <p:nvPr/>
        </p:nvSpPr>
        <p:spPr>
          <a:xfrm>
            <a:off x="4660900" y="1066800"/>
            <a:ext cx="25400" cy="1092200"/>
          </a:xfrm>
          <a:prstGeom prst="rect">
            <a:avLst/>
          </a:prstGeom>
          <a:solidFill>
            <a:srgbClr val="65758A"/>
          </a:solidFill>
          <a:ln>
            <a:noFill/>
          </a:ln>
          <a:effectLst/>
        </p:spPr>
        <p:txBody>
          <a:bodyPr rtlCol="0" anchor="ctr"/>
          <a:lstStyle/>
          <a:p>
            <a:pPr algn="ctr"/>
            <a:endParaRPr/>
          </a:p>
        </p:txBody>
      </p:sp>
      <p:sp>
        <p:nvSpPr>
          <p:cNvPr id="17" name="TextBox 16"/>
          <p:cNvSpPr txBox="1"/>
          <p:nvPr/>
        </p:nvSpPr>
        <p:spPr>
          <a:xfrm>
            <a:off x="4826000" y="1193800"/>
            <a:ext cx="37719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전극보일러</a:t>
            </a:r>
          </a:p>
        </p:txBody>
      </p:sp>
      <p:sp>
        <p:nvSpPr>
          <p:cNvPr id="18" name="TextBox 17"/>
          <p:cNvSpPr txBox="1"/>
          <p:nvPr/>
        </p:nvSpPr>
        <p:spPr>
          <a:xfrm>
            <a:off x="4826000" y="1600200"/>
            <a:ext cx="37719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물속 전극 사이에 직접 전류 인가</a:t>
            </a:r>
          </a:p>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물 자체의 저항을 이용한 직접가열</a:t>
            </a:r>
          </a:p>
        </p:txBody>
      </p:sp>
      <p:graphicFrame>
        <p:nvGraphicFramePr>
          <p:cNvPr id="19" name="Table 18"/>
          <p:cNvGraphicFramePr>
            <a:graphicFrameLocks noGrp="1"/>
          </p:cNvGraphicFramePr>
          <p:nvPr>
            <p:extLst>
              <p:ext uri="{D42A27DB-BD31-4B8C-83A1-F6EECF244321}">
                <p14:modId xmlns:p14="http://schemas.microsoft.com/office/powerpoint/2010/main" val="2154406792"/>
              </p:ext>
            </p:extLst>
          </p:nvPr>
        </p:nvGraphicFramePr>
        <p:xfrm>
          <a:off x="381000" y="2260600"/>
          <a:ext cx="8382000" cy="3292470"/>
        </p:xfrm>
        <a:graphic>
          <a:graphicData uri="http://schemas.openxmlformats.org/drawingml/2006/table">
            <a:tbl>
              <a:tblPr>
                <a:tableStyleId>{5C22544A-7EE6-4342-B048-85BDC9FD1C3A}</a:tableStyleId>
              </a:tblPr>
              <a:tblGrid>
                <a:gridCol w="1168400">
                  <a:extLst>
                    <a:ext uri="{9D8B030D-6E8A-4147-A177-3AD203B41FA5}">
                      <a16:colId xmlns:a16="http://schemas.microsoft.com/office/drawing/2014/main" val="20000"/>
                    </a:ext>
                  </a:extLst>
                </a:gridCol>
                <a:gridCol w="3416300">
                  <a:extLst>
                    <a:ext uri="{9D8B030D-6E8A-4147-A177-3AD203B41FA5}">
                      <a16:colId xmlns:a16="http://schemas.microsoft.com/office/drawing/2014/main" val="20001"/>
                    </a:ext>
                  </a:extLst>
                </a:gridCol>
                <a:gridCol w="3797300">
                  <a:extLst>
                    <a:ext uri="{9D8B030D-6E8A-4147-A177-3AD203B41FA5}">
                      <a16:colId xmlns:a16="http://schemas.microsoft.com/office/drawing/2014/main" val="20002"/>
                    </a:ext>
                  </a:extLst>
                </a:gridCol>
              </a:tblGrid>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구분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전기보일러</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전극보일러</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효율</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높음 </a:t>
                      </a:r>
                      <a:r>
                        <a:rPr lang="ko-KR"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일부 </a:t>
                      </a:r>
                      <a:r>
                        <a:rPr lang="ko-KR" sz="1250" b="0" dirty="0" err="1">
                          <a:solidFill>
                            <a:srgbClr val="262626"/>
                          </a:solidFill>
                          <a:latin typeface="Malgun Gothic"/>
                          <a:ea typeface="Malgun Gothic"/>
                          <a:cs typeface="Malgun Gothic"/>
                        </a:rPr>
                        <a:t>열손실</a:t>
                      </a:r>
                      <a:r>
                        <a:rPr lang="ko-KR"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매우 높음 </a:t>
                      </a:r>
                      <a:r>
                        <a:rPr lang="ko-KR"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거의 100%</a:t>
                      </a:r>
                      <a:r>
                        <a:rPr lang="ko-KR"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용량 규모</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err="1">
                          <a:solidFill>
                            <a:srgbClr val="262626"/>
                          </a:solidFill>
                          <a:latin typeface="Malgun Gothic"/>
                          <a:ea typeface="Malgun Gothic"/>
                          <a:cs typeface="Malgun Gothic"/>
                        </a:rPr>
                        <a:t>소</a:t>
                      </a:r>
                      <a:r>
                        <a:rPr lang="ko-KR" altLang="ko-KR" sz="1250" b="0" dirty="0" err="1">
                          <a:solidFill>
                            <a:srgbClr val="262626"/>
                          </a:solidFill>
                          <a:latin typeface="Malgun Gothic"/>
                          <a:ea typeface="Malgun Gothic"/>
                          <a:cs typeface="Malgun Gothic"/>
                        </a:rPr>
                        <a:t>·</a:t>
                      </a:r>
                      <a:r>
                        <a:rPr lang="ko-KR" sz="1250" b="0" dirty="0" err="1">
                          <a:solidFill>
                            <a:srgbClr val="262626"/>
                          </a:solidFill>
                          <a:latin typeface="Malgun Gothic"/>
                          <a:ea typeface="Malgun Gothic"/>
                          <a:cs typeface="Malgun Gothic"/>
                        </a:rPr>
                        <a:t>중용량</a:t>
                      </a:r>
                      <a:r>
                        <a:rPr lang="ko-KR" sz="1250" b="0" dirty="0">
                          <a:solidFill>
                            <a:srgbClr val="262626"/>
                          </a:solidFill>
                          <a:latin typeface="Malgun Gothic"/>
                          <a:ea typeface="Malgun Gothic"/>
                          <a:cs typeface="Malgun Gothic"/>
                        </a:rPr>
                        <a:t> </a:t>
                      </a:r>
                      <a:r>
                        <a:rPr lang="ko-KR"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가정, 소형 건물</a:t>
                      </a:r>
                      <a:r>
                        <a:rPr lang="ko-KR"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err="1">
                          <a:solidFill>
                            <a:srgbClr val="262626"/>
                          </a:solidFill>
                          <a:latin typeface="Malgun Gothic"/>
                          <a:ea typeface="Malgun Gothic"/>
                          <a:cs typeface="Malgun Gothic"/>
                        </a:rPr>
                        <a:t>중~대용량</a:t>
                      </a:r>
                      <a:r>
                        <a:rPr lang="ko-KR" sz="1250" b="0" dirty="0">
                          <a:solidFill>
                            <a:srgbClr val="262626"/>
                          </a:solidFill>
                          <a:latin typeface="Malgun Gothic"/>
                          <a:ea typeface="Malgun Gothic"/>
                          <a:cs typeface="Malgun Gothic"/>
                        </a:rPr>
                        <a:t> </a:t>
                      </a:r>
                      <a:r>
                        <a:rPr lang="ko-KR"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산업, 지역난방</a:t>
                      </a:r>
                      <a:r>
                        <a:rPr lang="ko-KR"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dirty="0">
                          <a:solidFill>
                            <a:srgbClr val="1F497D"/>
                          </a:solidFill>
                          <a:latin typeface="Malgun Gothic"/>
                          <a:ea typeface="Malgun Gothic"/>
                          <a:cs typeface="Malgun Gothic"/>
                        </a:rPr>
                        <a:t>출력 제어</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열선 </a:t>
                      </a:r>
                      <a:r>
                        <a:rPr lang="ko-KR" sz="1250" b="0" dirty="0" err="1">
                          <a:solidFill>
                            <a:srgbClr val="262626"/>
                          </a:solidFill>
                          <a:latin typeface="Malgun Gothic"/>
                          <a:ea typeface="Malgun Gothic"/>
                          <a:cs typeface="Malgun Gothic"/>
                        </a:rPr>
                        <a:t>개수·On</a:t>
                      </a:r>
                      <a:r>
                        <a:rPr lang="ko-KR" sz="1250" b="0" dirty="0">
                          <a:solidFill>
                            <a:srgbClr val="262626"/>
                          </a:solidFill>
                          <a:latin typeface="Malgun Gothic"/>
                          <a:ea typeface="Malgun Gothic"/>
                          <a:cs typeface="Malgun Gothic"/>
                        </a:rPr>
                        <a:t>/</a:t>
                      </a:r>
                      <a:r>
                        <a:rPr lang="ko-KR" sz="1250" b="0" dirty="0" err="1">
                          <a:solidFill>
                            <a:srgbClr val="262626"/>
                          </a:solidFill>
                          <a:latin typeface="Malgun Gothic"/>
                          <a:ea typeface="Malgun Gothic"/>
                          <a:cs typeface="Malgun Gothic"/>
                        </a:rPr>
                        <a:t>Off</a:t>
                      </a:r>
                      <a:r>
                        <a:rPr lang="ko-KR" sz="1250" b="0" dirty="0">
                          <a:solidFill>
                            <a:srgbClr val="262626"/>
                          </a:solidFill>
                          <a:latin typeface="Malgun Gothic"/>
                          <a:ea typeface="Malgun Gothic"/>
                          <a:cs typeface="Malgun Gothic"/>
                        </a:rPr>
                        <a:t> · 제한적</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전압 조절 · 정밀하고 빠른 제어</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부하 응답</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상대적으로 느림</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빠름 </a:t>
                      </a:r>
                      <a:r>
                        <a:rPr lang="ko-KR"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급격한 변동 대응 우수</a:t>
                      </a:r>
                      <a:r>
                        <a:rPr lang="ko-KR"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dirty="0">
                          <a:solidFill>
                            <a:srgbClr val="1F497D"/>
                          </a:solidFill>
                          <a:latin typeface="Malgun Gothic"/>
                          <a:ea typeface="Malgun Gothic"/>
                          <a:cs typeface="Malgun Gothic"/>
                        </a:rPr>
                        <a:t>수질 관리</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덜 민감</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전기전도도 관리 필수</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스케일</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열선 부착 시 효율 저하</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전극 </a:t>
                      </a:r>
                      <a:r>
                        <a:rPr lang="ko-KR" sz="1250" b="0" dirty="0" err="1">
                          <a:solidFill>
                            <a:srgbClr val="262626"/>
                          </a:solidFill>
                          <a:latin typeface="Malgun Gothic"/>
                          <a:ea typeface="Malgun Gothic"/>
                          <a:cs typeface="Malgun Gothic"/>
                        </a:rPr>
                        <a:t>스케일·부식</a:t>
                      </a:r>
                      <a:r>
                        <a:rPr lang="ko-KR" sz="1250" b="0" dirty="0">
                          <a:solidFill>
                            <a:srgbClr val="262626"/>
                          </a:solidFill>
                          <a:latin typeface="Malgun Gothic"/>
                          <a:ea typeface="Malgun Gothic"/>
                          <a:cs typeface="Malgun Gothic"/>
                        </a:rPr>
                        <a:t> </a:t>
                      </a:r>
                      <a:r>
                        <a:rPr lang="ko-KR" altLang="en-US" sz="1250" b="0" dirty="0">
                          <a:solidFill>
                            <a:srgbClr val="262626"/>
                          </a:solidFill>
                          <a:latin typeface="Malgun Gothic"/>
                          <a:ea typeface="Malgun Gothic"/>
                          <a:cs typeface="Malgun Gothic"/>
                        </a:rPr>
                        <a:t>영향이 있어 수질 관리 중요</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설치·구조</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단순 · 설치 용이</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상대적으로 복잡 · 전문 관리</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초기 비용</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낮음</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소용량은 높고 대용량부터 경제적</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주요 용도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가정용 난방·온수</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산업 </a:t>
                      </a:r>
                      <a:r>
                        <a:rPr lang="ko-KR" sz="1250" b="0" dirty="0" err="1">
                          <a:solidFill>
                            <a:srgbClr val="262626"/>
                          </a:solidFill>
                          <a:latin typeface="Malgun Gothic"/>
                          <a:ea typeface="Malgun Gothic"/>
                          <a:cs typeface="Malgun Gothic"/>
                        </a:rPr>
                        <a:t>스팀·지역난방·대형시설·국방·원자력</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0" name="Rectangle 19"/>
          <p:cNvSpPr/>
          <p:nvPr/>
        </p:nvSpPr>
        <p:spPr>
          <a:xfrm>
            <a:off x="381000" y="5702300"/>
            <a:ext cx="8382000" cy="444500"/>
          </a:xfrm>
          <a:prstGeom prst="rect">
            <a:avLst/>
          </a:prstGeom>
          <a:solidFill>
            <a:srgbClr val="F3F5F7"/>
          </a:solidFill>
          <a:ln>
            <a:noFill/>
          </a:ln>
          <a:effectLst/>
        </p:spPr>
        <p:txBody>
          <a:bodyPr rtlCol="0" anchor="ctr"/>
          <a:lstStyle/>
          <a:p>
            <a:pPr algn="ctr"/>
            <a:endParaRPr/>
          </a:p>
        </p:txBody>
      </p:sp>
      <p:sp>
        <p:nvSpPr>
          <p:cNvPr id="21" name="Rectangle 20"/>
          <p:cNvSpPr/>
          <p:nvPr/>
        </p:nvSpPr>
        <p:spPr>
          <a:xfrm>
            <a:off x="381000" y="5702300"/>
            <a:ext cx="25400" cy="444500"/>
          </a:xfrm>
          <a:prstGeom prst="rect">
            <a:avLst/>
          </a:prstGeom>
          <a:solidFill>
            <a:srgbClr val="65758A"/>
          </a:solidFill>
          <a:ln>
            <a:noFill/>
          </a:ln>
          <a:effectLst/>
        </p:spPr>
        <p:txBody>
          <a:bodyPr rtlCol="0" anchor="ctr"/>
          <a:lstStyle/>
          <a:p>
            <a:pPr algn="ctr"/>
            <a:endParaRPr/>
          </a:p>
        </p:txBody>
      </p:sp>
      <p:sp>
        <p:nvSpPr>
          <p:cNvPr id="22" name="TextBox 21"/>
          <p:cNvSpPr txBox="1"/>
          <p:nvPr/>
        </p:nvSpPr>
        <p:spPr>
          <a:xfrm>
            <a:off x="546100" y="5817933"/>
            <a:ext cx="8077200" cy="213233"/>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0">
                <a:solidFill>
                  <a:srgbClr val="1F497D"/>
                </a:solidFill>
                <a:latin typeface="Malgun Gothic"/>
                <a:ea typeface="Malgun Gothic"/>
                <a:cs typeface="Malgun Gothic"/>
              </a:rPr>
              <a:t>가정·소규모: 구조가 단순한 저항식 | 대용량·산업용: 효율·제어가 우수한 전극식 (수질 관리 필요)</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전기보일러의 열손실 원인</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a:t>
            </a:r>
          </a:p>
        </p:txBody>
      </p:sp>
      <p:sp>
        <p:nvSpPr>
          <p:cNvPr id="11" name="TextBox 10"/>
          <p:cNvSpPr txBox="1"/>
          <p:nvPr/>
        </p:nvSpPr>
        <p:spPr>
          <a:xfrm>
            <a:off x="381000" y="1066800"/>
            <a:ext cx="4699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01 열선 → 물 전달 손실</a:t>
            </a:r>
          </a:p>
        </p:txBody>
      </p:sp>
      <p:sp>
        <p:nvSpPr>
          <p:cNvPr id="12" name="TextBox 11"/>
          <p:cNvSpPr txBox="1"/>
          <p:nvPr/>
        </p:nvSpPr>
        <p:spPr>
          <a:xfrm>
            <a:off x="381000" y="1460500"/>
            <a:ext cx="4965700" cy="774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시스(</a:t>
            </a:r>
            <a:r>
              <a:rPr lang="ko-KR" sz="1400" b="0" dirty="0" err="1">
                <a:solidFill>
                  <a:srgbClr val="262626"/>
                </a:solidFill>
                <a:latin typeface="Malgun Gothic"/>
                <a:ea typeface="Malgun Gothic"/>
                <a:cs typeface="Malgun Gothic"/>
              </a:rPr>
              <a:t>sheath</a:t>
            </a:r>
            <a:r>
              <a:rPr lang="ko-KR" sz="1400" b="0" dirty="0">
                <a:solidFill>
                  <a:srgbClr val="262626"/>
                </a:solidFill>
                <a:latin typeface="Malgun Gothic"/>
                <a:ea typeface="Malgun Gothic"/>
                <a:cs typeface="Malgun Gothic"/>
              </a:rPr>
              <a:t>)·절연재를 거치며 접촉 </a:t>
            </a:r>
            <a:r>
              <a:rPr lang="ko-KR" sz="1400" b="0" dirty="0" err="1">
                <a:solidFill>
                  <a:srgbClr val="262626"/>
                </a:solidFill>
                <a:latin typeface="Malgun Gothic"/>
                <a:ea typeface="Malgun Gothic"/>
                <a:cs typeface="Malgun Gothic"/>
              </a:rPr>
              <a:t>열저항</a:t>
            </a:r>
            <a:r>
              <a:rPr lang="ko-KR" sz="1400" b="0" dirty="0">
                <a:solidFill>
                  <a:srgbClr val="262626"/>
                </a:solidFill>
                <a:latin typeface="Malgun Gothic"/>
                <a:ea typeface="Malgun Gothic"/>
                <a:cs typeface="Malgun Gothic"/>
              </a:rPr>
              <a:t> 발생</a:t>
            </a:r>
          </a:p>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표면의 </a:t>
            </a:r>
            <a:r>
              <a:rPr lang="ko-KR" sz="1400" b="0" dirty="0" err="1">
                <a:solidFill>
                  <a:srgbClr val="262626"/>
                </a:solidFill>
                <a:latin typeface="Malgun Gothic"/>
                <a:ea typeface="Malgun Gothic"/>
                <a:cs typeface="Malgun Gothic"/>
              </a:rPr>
              <a:t>칼슘·마그네슘</a:t>
            </a:r>
            <a:r>
              <a:rPr lang="ko-KR" sz="1400" b="0" dirty="0">
                <a:solidFill>
                  <a:srgbClr val="262626"/>
                </a:solidFill>
                <a:latin typeface="Malgun Gothic"/>
                <a:ea typeface="Malgun Gothic"/>
                <a:cs typeface="Malgun Gothic"/>
              </a:rPr>
              <a:t> 스케일은 열전달을 줄이고 열선</a:t>
            </a:r>
          </a:p>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온도</a:t>
            </a:r>
            <a:r>
              <a:rPr lang="ko-KR" altLang="en-US" sz="1400" b="0" dirty="0">
                <a:solidFill>
                  <a:srgbClr val="262626"/>
                </a:solidFill>
                <a:latin typeface="Malgun Gothic"/>
                <a:ea typeface="Malgun Gothic"/>
                <a:cs typeface="Malgun Gothic"/>
              </a:rPr>
              <a:t>만</a:t>
            </a:r>
            <a:r>
              <a:rPr 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과잉 상승</a:t>
            </a:r>
            <a:endParaRPr lang="ko-KR" sz="1400" b="0" dirty="0">
              <a:solidFill>
                <a:srgbClr val="262626"/>
              </a:solidFill>
              <a:latin typeface="Malgun Gothic"/>
              <a:ea typeface="Malgun Gothic"/>
              <a:cs typeface="Malgun Gothic"/>
            </a:endParaRPr>
          </a:p>
        </p:txBody>
      </p:sp>
      <p:sp>
        <p:nvSpPr>
          <p:cNvPr id="13" name="TextBox 12"/>
          <p:cNvSpPr txBox="1"/>
          <p:nvPr/>
        </p:nvSpPr>
        <p:spPr>
          <a:xfrm>
            <a:off x="381000" y="2324100"/>
            <a:ext cx="4699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02 본체 방열 손실</a:t>
            </a:r>
          </a:p>
        </p:txBody>
      </p:sp>
      <p:sp>
        <p:nvSpPr>
          <p:cNvPr id="14" name="TextBox 13"/>
          <p:cNvSpPr txBox="1"/>
          <p:nvPr/>
        </p:nvSpPr>
        <p:spPr>
          <a:xfrm>
            <a:off x="381000" y="2717800"/>
            <a:ext cx="4965700" cy="774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탱크·배관·외벽의</a:t>
            </a:r>
            <a:r>
              <a:rPr 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복사·대류</a:t>
            </a:r>
            <a:r>
              <a:rPr lang="ko-KR" sz="1400" b="0" dirty="0">
                <a:solidFill>
                  <a:srgbClr val="262626"/>
                </a:solidFill>
                <a:latin typeface="Malgun Gothic"/>
                <a:ea typeface="Malgun Gothic"/>
                <a:cs typeface="Malgun Gothic"/>
              </a:rPr>
              <a:t> 손실</a:t>
            </a:r>
          </a:p>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단열재 두께와 품질에 따라 손실</a:t>
            </a:r>
            <a:r>
              <a:rPr lang="en-US"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발생</a:t>
            </a:r>
            <a:endParaRPr lang="ko-KR" sz="1400" b="0" dirty="0">
              <a:solidFill>
                <a:srgbClr val="262626"/>
              </a:solidFill>
              <a:latin typeface="Malgun Gothic"/>
              <a:ea typeface="Malgun Gothic"/>
              <a:cs typeface="Malgun Gothic"/>
            </a:endParaRPr>
          </a:p>
        </p:txBody>
      </p:sp>
      <p:sp>
        <p:nvSpPr>
          <p:cNvPr id="15" name="TextBox 14"/>
          <p:cNvSpPr txBox="1"/>
          <p:nvPr/>
        </p:nvSpPr>
        <p:spPr>
          <a:xfrm>
            <a:off x="381000" y="3581400"/>
            <a:ext cx="4699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03 대기·배기 손실</a:t>
            </a:r>
          </a:p>
        </p:txBody>
      </p:sp>
      <p:sp>
        <p:nvSpPr>
          <p:cNvPr id="16" name="TextBox 15"/>
          <p:cNvSpPr txBox="1"/>
          <p:nvPr/>
        </p:nvSpPr>
        <p:spPr>
          <a:xfrm>
            <a:off x="381000" y="3975100"/>
            <a:ext cx="4965700" cy="774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압력 릴리프 </a:t>
            </a:r>
            <a:r>
              <a:rPr lang="ko-KR" sz="1400" b="0" dirty="0" err="1">
                <a:solidFill>
                  <a:srgbClr val="262626"/>
                </a:solidFill>
                <a:latin typeface="Malgun Gothic"/>
                <a:ea typeface="Malgun Gothic"/>
                <a:cs typeface="Malgun Gothic"/>
              </a:rPr>
              <a:t>밸브·팽창탱크에서</a:t>
            </a:r>
            <a:r>
              <a:rPr lang="ko-KR" sz="1400" b="0" dirty="0">
                <a:solidFill>
                  <a:srgbClr val="262626"/>
                </a:solidFill>
                <a:latin typeface="Malgun Gothic"/>
                <a:ea typeface="Malgun Gothic"/>
                <a:cs typeface="Malgun Gothic"/>
              </a:rPr>
              <a:t> 증기나</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온수가 방출될 때</a:t>
            </a:r>
            <a:endParaRPr lang="en-US" alt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일부 </a:t>
            </a:r>
            <a:r>
              <a:rPr lang="ko-KR" sz="1400" b="0" dirty="0" err="1">
                <a:solidFill>
                  <a:srgbClr val="262626"/>
                </a:solidFill>
                <a:latin typeface="Malgun Gothic"/>
                <a:ea typeface="Malgun Gothic"/>
                <a:cs typeface="Malgun Gothic"/>
              </a:rPr>
              <a:t>열손실</a:t>
            </a:r>
            <a:r>
              <a:rPr lang="ko-KR" sz="1400" b="0" dirty="0">
                <a:solidFill>
                  <a:srgbClr val="262626"/>
                </a:solidFill>
                <a:latin typeface="Malgun Gothic"/>
                <a:ea typeface="Malgun Gothic"/>
                <a:cs typeface="Malgun Gothic"/>
              </a:rPr>
              <a:t> 발생.</a:t>
            </a:r>
          </a:p>
        </p:txBody>
      </p:sp>
      <p:sp>
        <p:nvSpPr>
          <p:cNvPr id="17" name="TextBox 16"/>
          <p:cNvSpPr txBox="1"/>
          <p:nvPr/>
        </p:nvSpPr>
        <p:spPr>
          <a:xfrm>
            <a:off x="381000" y="4838700"/>
            <a:ext cx="4699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04 전기적 손실</a:t>
            </a:r>
          </a:p>
        </p:txBody>
      </p:sp>
      <p:sp>
        <p:nvSpPr>
          <p:cNvPr id="18" name="TextBox 17"/>
          <p:cNvSpPr txBox="1"/>
          <p:nvPr/>
        </p:nvSpPr>
        <p:spPr>
          <a:xfrm>
            <a:off x="381000" y="5232400"/>
            <a:ext cx="4965700" cy="774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전원선</a:t>
            </a:r>
            <a:r>
              <a:rPr lang="ko-KR" altLang="en-US" sz="1400" dirty="0">
                <a:solidFill>
                  <a:srgbClr val="262626"/>
                </a:solidFill>
                <a:latin typeface="Malgun Gothic"/>
                <a:ea typeface="Malgun Gothic"/>
                <a:cs typeface="Malgun Gothic"/>
              </a:rPr>
              <a:t>과 </a:t>
            </a:r>
            <a:r>
              <a:rPr lang="ko-KR" sz="1400" b="0" dirty="0">
                <a:solidFill>
                  <a:srgbClr val="262626"/>
                </a:solidFill>
                <a:latin typeface="Malgun Gothic"/>
                <a:ea typeface="Malgun Gothic"/>
                <a:cs typeface="Malgun Gothic"/>
              </a:rPr>
              <a:t>열선</a:t>
            </a:r>
            <a:r>
              <a:rPr lang="en-US"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사이 배선 자체의 저항으로 인한 손실</a:t>
            </a:r>
            <a:endParaRPr lang="en-US" alt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en-US" altLang="ko-KR" sz="140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컨트롤러</a:t>
            </a:r>
            <a:r>
              <a:rPr lang="en-US" altLang="ko-KR" sz="140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센서</a:t>
            </a:r>
            <a:r>
              <a:rPr lang="en-US" altLang="ko-KR" sz="140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순환펌프 등 부속 전자장치가 소비하는 전력</a:t>
            </a:r>
            <a:endParaRPr lang="ko-KR" sz="1400" b="0" dirty="0">
              <a:solidFill>
                <a:srgbClr val="262626"/>
              </a:solidFill>
              <a:latin typeface="Malgun Gothic"/>
              <a:ea typeface="Malgun Gothic"/>
              <a:cs typeface="Malgun Gothic"/>
            </a:endParaRPr>
          </a:p>
        </p:txBody>
      </p:sp>
      <p:sp>
        <p:nvSpPr>
          <p:cNvPr id="19" name="Rectangle 18"/>
          <p:cNvSpPr/>
          <p:nvPr/>
        </p:nvSpPr>
        <p:spPr>
          <a:xfrm>
            <a:off x="5283200" y="1066800"/>
            <a:ext cx="3479800" cy="4953000"/>
          </a:xfrm>
          <a:prstGeom prst="rect">
            <a:avLst/>
          </a:prstGeom>
          <a:solidFill>
            <a:srgbClr val="F8FAFC"/>
          </a:solidFill>
          <a:ln>
            <a:noFill/>
          </a:ln>
          <a:effectLst/>
        </p:spPr>
        <p:txBody>
          <a:bodyPr rtlCol="0" anchor="ctr"/>
          <a:lstStyle/>
          <a:p>
            <a:pPr algn="ctr"/>
            <a:endParaRPr/>
          </a:p>
        </p:txBody>
      </p:sp>
      <p:pic>
        <p:nvPicPr>
          <p:cNvPr id="20" name="Picture 19" descr="p05_2.jpeg"/>
          <p:cNvPicPr>
            <a:picLocks noChangeAspect="1"/>
          </p:cNvPicPr>
          <p:nvPr/>
        </p:nvPicPr>
        <p:blipFill>
          <a:blip r:embed="rId4"/>
          <a:stretch>
            <a:fillRect/>
          </a:stretch>
        </p:blipFill>
        <p:spPr>
          <a:xfrm>
            <a:off x="6165850" y="1193800"/>
            <a:ext cx="1714500" cy="1714500"/>
          </a:xfrm>
          <a:prstGeom prst="rect">
            <a:avLst/>
          </a:prstGeom>
          <a:effectLst/>
        </p:spPr>
      </p:pic>
      <p:pic>
        <p:nvPicPr>
          <p:cNvPr id="21" name="Picture 20" descr="p05_1.jpeg"/>
          <p:cNvPicPr>
            <a:picLocks noChangeAspect="1"/>
          </p:cNvPicPr>
          <p:nvPr/>
        </p:nvPicPr>
        <p:blipFill>
          <a:blip r:embed="rId5"/>
          <a:stretch>
            <a:fillRect/>
          </a:stretch>
        </p:blipFill>
        <p:spPr>
          <a:xfrm>
            <a:off x="5410200" y="3136900"/>
            <a:ext cx="3225800" cy="2054574"/>
          </a:xfrm>
          <a:prstGeom prst="rect">
            <a:avLst/>
          </a:prstGeom>
          <a:effectLst/>
        </p:spPr>
      </p:pic>
      <p:sp>
        <p:nvSpPr>
          <p:cNvPr id="22" name="TextBox 21"/>
          <p:cNvSpPr txBox="1"/>
          <p:nvPr/>
        </p:nvSpPr>
        <p:spPr>
          <a:xfrm>
            <a:off x="5410200" y="5778500"/>
            <a:ext cx="3225800" cy="228600"/>
          </a:xfrm>
          <a:prstGeom prst="rect">
            <a:avLst/>
          </a:prstGeom>
          <a:noFill/>
          <a:effectLst/>
        </p:spPr>
        <p:txBody>
          <a:bodyPr wrap="none" lIns="0" tIns="0" rIns="0" bIns="0" anchor="t">
            <a:noAutofit/>
          </a:bodyPr>
          <a:lstStyle/>
          <a:p>
            <a:pPr algn="ctr" eaLnBrk="0" latinLnBrk="0">
              <a:lnSpc>
                <a:spcPts val="1340"/>
              </a:lnSpc>
              <a:spcBef>
                <a:spcPts val="0"/>
              </a:spcBef>
              <a:spcAft>
                <a:spcPts val="0"/>
              </a:spcAft>
            </a:pPr>
            <a:r>
              <a:rPr lang="ko-KR" sz="1000" b="0">
                <a:solidFill>
                  <a:srgbClr val="707B87"/>
                </a:solidFill>
                <a:latin typeface="Malgun Gothic"/>
                <a:ea typeface="Malgun Gothic"/>
                <a:cs typeface="Malgun Gothic"/>
              </a:rPr>
              <a:t>원본 열선 사진 및 단면도</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저항식 보일러의 전압 제어</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a:t>
            </a:r>
          </a:p>
        </p:txBody>
      </p:sp>
      <p:sp>
        <p:nvSpPr>
          <p:cNvPr id="11" name="Rectangle 10"/>
          <p:cNvSpPr/>
          <p:nvPr/>
        </p:nvSpPr>
        <p:spPr>
          <a:xfrm>
            <a:off x="381000" y="1079500"/>
            <a:ext cx="4191000" cy="1270000"/>
          </a:xfrm>
          <a:prstGeom prst="rect">
            <a:avLst/>
          </a:prstGeom>
          <a:solidFill>
            <a:srgbClr val="FFFFFF"/>
          </a:solidFill>
          <a:ln w="7620">
            <a:solidFill>
              <a:srgbClr val="DEE3E8"/>
            </a:solidFill>
          </a:ln>
          <a:effectLst/>
        </p:spPr>
        <p:txBody>
          <a:bodyPr rtlCol="0" anchor="ctr"/>
          <a:lstStyle/>
          <a:p>
            <a:pPr algn="ctr"/>
            <a:endParaRPr/>
          </a:p>
        </p:txBody>
      </p:sp>
      <p:sp>
        <p:nvSpPr>
          <p:cNvPr id="12" name="Rectangle 11"/>
          <p:cNvSpPr/>
          <p:nvPr/>
        </p:nvSpPr>
        <p:spPr>
          <a:xfrm>
            <a:off x="381000" y="1079500"/>
            <a:ext cx="25400" cy="12700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46100" y="1206500"/>
            <a:ext cx="37719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SCR</a:t>
            </a:r>
            <a:r>
              <a:rPr lang="en-US" altLang="ko-KR" sz="1700" b="1" dirty="0">
                <a:solidFill>
                  <a:srgbClr val="1F497D"/>
                </a:solidFill>
                <a:latin typeface="Malgun Gothic"/>
                <a:ea typeface="Malgun Gothic"/>
                <a:cs typeface="Malgun Gothic"/>
              </a:rPr>
              <a:t>(</a:t>
            </a:r>
            <a:r>
              <a:rPr lang="ko-KR" sz="1700" b="1" dirty="0">
                <a:solidFill>
                  <a:srgbClr val="1F497D"/>
                </a:solidFill>
                <a:latin typeface="Malgun Gothic"/>
                <a:ea typeface="Malgun Gothic"/>
                <a:cs typeface="Malgun Gothic"/>
              </a:rPr>
              <a:t>사이리스터</a:t>
            </a:r>
            <a:r>
              <a:rPr lang="en-US" altLang="ko-KR" sz="1700" b="1" dirty="0">
                <a:solidFill>
                  <a:srgbClr val="1F497D"/>
                </a:solidFill>
                <a:latin typeface="Malgun Gothic"/>
                <a:ea typeface="Malgun Gothic"/>
                <a:cs typeface="Malgun Gothic"/>
              </a:rPr>
              <a:t>)</a:t>
            </a:r>
            <a:r>
              <a:rPr lang="ko-KR" sz="1700" b="1" dirty="0">
                <a:solidFill>
                  <a:srgbClr val="1F497D"/>
                </a:solidFill>
                <a:latin typeface="Malgun Gothic"/>
                <a:ea typeface="Malgun Gothic"/>
                <a:cs typeface="Malgun Gothic"/>
              </a:rPr>
              <a:t> 위상제어</a:t>
            </a:r>
          </a:p>
        </p:txBody>
      </p:sp>
      <p:sp>
        <p:nvSpPr>
          <p:cNvPr id="14" name="TextBox 13"/>
          <p:cNvSpPr txBox="1"/>
          <p:nvPr/>
        </p:nvSpPr>
        <p:spPr>
          <a:xfrm>
            <a:off x="546100" y="1612900"/>
            <a:ext cx="3771900" cy="6223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교류 파형 일부를 통과시켜 실효전압을</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연속 조절</a:t>
            </a:r>
            <a:endParaRPr lang="en-US" altLang="ko-KR" sz="140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산업용 정밀 히터에 사용</a:t>
            </a:r>
          </a:p>
        </p:txBody>
      </p:sp>
      <p:sp>
        <p:nvSpPr>
          <p:cNvPr id="15" name="Rectangle 14"/>
          <p:cNvSpPr/>
          <p:nvPr/>
        </p:nvSpPr>
        <p:spPr>
          <a:xfrm>
            <a:off x="4660900" y="1079500"/>
            <a:ext cx="4102100" cy="1270000"/>
          </a:xfrm>
          <a:prstGeom prst="rect">
            <a:avLst/>
          </a:prstGeom>
          <a:solidFill>
            <a:srgbClr val="FFFFFF"/>
          </a:solidFill>
          <a:ln w="7620">
            <a:solidFill>
              <a:srgbClr val="DEE3E8"/>
            </a:solidFill>
          </a:ln>
          <a:effectLst/>
        </p:spPr>
        <p:txBody>
          <a:bodyPr rtlCol="0" anchor="ctr"/>
          <a:lstStyle/>
          <a:p>
            <a:pPr algn="ctr"/>
            <a:endParaRPr/>
          </a:p>
        </p:txBody>
      </p:sp>
      <p:sp>
        <p:nvSpPr>
          <p:cNvPr id="16" name="Rectangle 15"/>
          <p:cNvSpPr/>
          <p:nvPr/>
        </p:nvSpPr>
        <p:spPr>
          <a:xfrm>
            <a:off x="4660900" y="1079500"/>
            <a:ext cx="25400" cy="1270000"/>
          </a:xfrm>
          <a:prstGeom prst="rect">
            <a:avLst/>
          </a:prstGeom>
          <a:solidFill>
            <a:srgbClr val="65758A"/>
          </a:solidFill>
          <a:ln>
            <a:noFill/>
          </a:ln>
          <a:effectLst/>
        </p:spPr>
        <p:txBody>
          <a:bodyPr rtlCol="0" anchor="ctr"/>
          <a:lstStyle/>
          <a:p>
            <a:pPr algn="ctr"/>
            <a:endParaRPr/>
          </a:p>
        </p:txBody>
      </p:sp>
      <p:sp>
        <p:nvSpPr>
          <p:cNvPr id="17" name="TextBox 16"/>
          <p:cNvSpPr txBox="1"/>
          <p:nvPr/>
        </p:nvSpPr>
        <p:spPr>
          <a:xfrm>
            <a:off x="4826000" y="1206500"/>
            <a:ext cx="37719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시간비례제어</a:t>
            </a:r>
            <a:r>
              <a:rPr lang="en-US" altLang="ko-KR" sz="1700" b="1" dirty="0">
                <a:solidFill>
                  <a:srgbClr val="1F497D"/>
                </a:solidFill>
                <a:latin typeface="Malgun Gothic"/>
                <a:ea typeface="Malgun Gothic"/>
                <a:cs typeface="Malgun Gothic"/>
              </a:rPr>
              <a:t> (SSR </a:t>
            </a:r>
            <a:r>
              <a:rPr lang="ko-KR" altLang="en-US" sz="1700" b="1" dirty="0">
                <a:solidFill>
                  <a:srgbClr val="1F497D"/>
                </a:solidFill>
                <a:latin typeface="Malgun Gothic"/>
                <a:ea typeface="Malgun Gothic"/>
                <a:cs typeface="Malgun Gothic"/>
              </a:rPr>
              <a:t>방식</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18" name="TextBox 17"/>
          <p:cNvSpPr txBox="1"/>
          <p:nvPr/>
        </p:nvSpPr>
        <p:spPr>
          <a:xfrm>
            <a:off x="4826000" y="1612900"/>
            <a:ext cx="3771900" cy="6223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altLang="en-US" sz="1400" b="0" dirty="0">
                <a:solidFill>
                  <a:srgbClr val="262626"/>
                </a:solidFill>
                <a:latin typeface="Malgun Gothic"/>
                <a:ea typeface="Malgun Gothic"/>
                <a:cs typeface="Malgun Gothic"/>
              </a:rPr>
              <a:t>열선을 </a:t>
            </a:r>
            <a:r>
              <a:rPr lang="ko-KR" sz="1400" b="0" dirty="0">
                <a:solidFill>
                  <a:srgbClr val="262626"/>
                </a:solidFill>
                <a:latin typeface="Malgun Gothic"/>
                <a:ea typeface="Malgun Gothic"/>
                <a:cs typeface="Malgun Gothic"/>
              </a:rPr>
              <a:t>초 단위 </a:t>
            </a:r>
            <a:r>
              <a:rPr lang="ko-KR" sz="1400" b="0" dirty="0" err="1">
                <a:solidFill>
                  <a:srgbClr val="262626"/>
                </a:solidFill>
                <a:latin typeface="Malgun Gothic"/>
                <a:ea typeface="Malgun Gothic"/>
                <a:cs typeface="Malgun Gothic"/>
              </a:rPr>
              <a:t>On</a:t>
            </a:r>
            <a:r>
              <a:rPr lang="ko-KR" sz="1400" b="0" dirty="0">
                <a:solidFill>
                  <a:srgbClr val="262626"/>
                </a:solidFill>
                <a:latin typeface="Malgun Gothic"/>
                <a:ea typeface="Malgun Gothic"/>
                <a:cs typeface="Malgun Gothic"/>
              </a:rPr>
              <a:t>/</a:t>
            </a:r>
            <a:r>
              <a:rPr lang="ko-KR" sz="1400" b="0" dirty="0" err="1">
                <a:solidFill>
                  <a:srgbClr val="262626"/>
                </a:solidFill>
                <a:latin typeface="Malgun Gothic"/>
                <a:ea typeface="Malgun Gothic"/>
                <a:cs typeface="Malgun Gothic"/>
              </a:rPr>
              <a:t>Off로</a:t>
            </a:r>
            <a:r>
              <a:rPr lang="ko-KR" sz="1400" b="0" dirty="0">
                <a:solidFill>
                  <a:srgbClr val="262626"/>
                </a:solidFill>
                <a:latin typeface="Malgun Gothic"/>
                <a:ea typeface="Malgun Gothic"/>
                <a:cs typeface="Malgun Gothic"/>
              </a:rPr>
              <a:t> 평균출력 조절</a:t>
            </a: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예: 60% </a:t>
            </a:r>
            <a:r>
              <a:rPr lang="ko-KR" sz="1400" b="0" dirty="0" err="1">
                <a:solidFill>
                  <a:srgbClr val="262626"/>
                </a:solidFill>
                <a:latin typeface="Malgun Gothic"/>
                <a:ea typeface="Malgun Gothic"/>
                <a:cs typeface="Malgun Gothic"/>
              </a:rPr>
              <a:t>On</a:t>
            </a:r>
            <a:r>
              <a:rPr lang="ko-KR" sz="1400" b="0" dirty="0">
                <a:solidFill>
                  <a:srgbClr val="262626"/>
                </a:solidFill>
                <a:latin typeface="Malgun Gothic"/>
                <a:ea typeface="Malgun Gothic"/>
                <a:cs typeface="Malgun Gothic"/>
              </a:rPr>
              <a:t> → 평균 60% 출력</a:t>
            </a:r>
          </a:p>
        </p:txBody>
      </p:sp>
      <p:sp>
        <p:nvSpPr>
          <p:cNvPr id="19" name="TextBox 18"/>
          <p:cNvSpPr txBox="1"/>
          <p:nvPr/>
        </p:nvSpPr>
        <p:spPr>
          <a:xfrm>
            <a:off x="381000" y="2565400"/>
            <a:ext cx="8255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일반 난방·온수용에서 적용이 제한되는 이유</a:t>
            </a:r>
          </a:p>
        </p:txBody>
      </p:sp>
      <p:graphicFrame>
        <p:nvGraphicFramePr>
          <p:cNvPr id="20" name="Table 19"/>
          <p:cNvGraphicFramePr>
            <a:graphicFrameLocks noGrp="1"/>
          </p:cNvGraphicFramePr>
          <p:nvPr>
            <p:extLst>
              <p:ext uri="{D42A27DB-BD31-4B8C-83A1-F6EECF244321}">
                <p14:modId xmlns:p14="http://schemas.microsoft.com/office/powerpoint/2010/main" val="408017665"/>
              </p:ext>
            </p:extLst>
          </p:nvPr>
        </p:nvGraphicFramePr>
        <p:xfrm>
          <a:off x="381000" y="3022600"/>
          <a:ext cx="8382000" cy="2921000"/>
        </p:xfrm>
        <a:graphic>
          <a:graphicData uri="http://schemas.openxmlformats.org/drawingml/2006/table">
            <a:tbl>
              <a:tblPr>
                <a:tableStyleId>{5C22544A-7EE6-4342-B048-85BDC9FD1C3A}</a:tableStyleId>
              </a:tblPr>
              <a:tblGrid>
                <a:gridCol w="1485900">
                  <a:extLst>
                    <a:ext uri="{9D8B030D-6E8A-4147-A177-3AD203B41FA5}">
                      <a16:colId xmlns:a16="http://schemas.microsoft.com/office/drawing/2014/main" val="20000"/>
                    </a:ext>
                  </a:extLst>
                </a:gridCol>
                <a:gridCol w="6896100">
                  <a:extLst>
                    <a:ext uri="{9D8B030D-6E8A-4147-A177-3AD203B41FA5}">
                      <a16:colId xmlns:a16="http://schemas.microsoft.com/office/drawing/2014/main" val="20001"/>
                    </a:ext>
                  </a:extLst>
                </a:gridCol>
              </a:tblGrid>
              <a:tr h="3556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이유</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설명</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51308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비용</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dirty="0" err="1">
                          <a:solidFill>
                            <a:srgbClr val="262626"/>
                          </a:solidFill>
                          <a:latin typeface="Malgun Gothic"/>
                          <a:ea typeface="Malgun Gothic"/>
                          <a:cs typeface="Malgun Gothic"/>
                        </a:rPr>
                        <a:t>SCR·SSR은</a:t>
                      </a:r>
                      <a:r>
                        <a:rPr 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접촉기</a:t>
                      </a:r>
                      <a:r>
                        <a:rPr 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마그네틱</a:t>
                      </a:r>
                      <a:r>
                        <a:rPr lang="ko-KR" sz="1350" b="0" dirty="0">
                          <a:solidFill>
                            <a:srgbClr val="262626"/>
                          </a:solidFill>
                          <a:latin typeface="Malgun Gothic"/>
                          <a:ea typeface="Malgun Gothic"/>
                          <a:cs typeface="Malgun Gothic"/>
                        </a:rPr>
                        <a:t> 스위치)보다 고가</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308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필요성</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dirty="0" err="1">
                          <a:solidFill>
                            <a:srgbClr val="262626"/>
                          </a:solidFill>
                          <a:latin typeface="Malgun Gothic"/>
                          <a:ea typeface="Malgun Gothic"/>
                          <a:cs typeface="Malgun Gothic"/>
                        </a:rPr>
                        <a:t>난방·온수는</a:t>
                      </a:r>
                      <a:r>
                        <a:rPr lang="ko-KR" sz="1350" b="0" dirty="0">
                          <a:solidFill>
                            <a:srgbClr val="262626"/>
                          </a:solidFill>
                          <a:latin typeface="Malgun Gothic"/>
                          <a:ea typeface="Malgun Gothic"/>
                          <a:cs typeface="Malgun Gothic"/>
                        </a:rPr>
                        <a:t> 계단식 제어만으로도 필요한 정밀도 충족</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308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발열체 특성</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열선의 큰 열용량과 느린 반응이 정밀 제어의 이점을 상쇄</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308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전력 품질</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SCR 위상제어 시 고조파 등 전력 품질 문제 가능</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308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내구성</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잦은 </a:t>
                      </a:r>
                      <a:r>
                        <a:rPr lang="ko-KR" sz="1350" b="0" dirty="0" err="1">
                          <a:solidFill>
                            <a:srgbClr val="262626"/>
                          </a:solidFill>
                          <a:latin typeface="Malgun Gothic"/>
                          <a:ea typeface="Malgun Gothic"/>
                          <a:cs typeface="Malgun Gothic"/>
                        </a:rPr>
                        <a:t>스위칭은</a:t>
                      </a:r>
                      <a:r>
                        <a:rPr 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접점·소자의</a:t>
                      </a:r>
                      <a:r>
                        <a:rPr lang="ko-KR" sz="1350" b="0" dirty="0">
                          <a:solidFill>
                            <a:srgbClr val="262626"/>
                          </a:solidFill>
                          <a:latin typeface="Malgun Gothic"/>
                          <a:ea typeface="Malgun Gothic"/>
                          <a:cs typeface="Malgun Gothic"/>
                        </a:rPr>
                        <a:t> 수명에 불리</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전기보일러와 전극보일러의 장단점</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4</a:t>
            </a:r>
          </a:p>
        </p:txBody>
      </p:sp>
      <p:sp>
        <p:nvSpPr>
          <p:cNvPr id="11" name="Rectangle 10"/>
          <p:cNvSpPr/>
          <p:nvPr/>
        </p:nvSpPr>
        <p:spPr>
          <a:xfrm>
            <a:off x="381000" y="1079500"/>
            <a:ext cx="4102100" cy="444500"/>
          </a:xfrm>
          <a:prstGeom prst="rect">
            <a:avLst/>
          </a:prstGeom>
          <a:solidFill>
            <a:srgbClr val="E8EDF2"/>
          </a:solidFill>
          <a:ln>
            <a:solidFill>
              <a:schemeClr val="accent1">
                <a:lumMod val="40000"/>
                <a:lumOff val="60000"/>
              </a:schemeClr>
            </a:solidFill>
          </a:ln>
          <a:effectLst/>
        </p:spPr>
        <p:txBody>
          <a:bodyPr rtlCol="0" anchor="ctr"/>
          <a:lstStyle/>
          <a:p>
            <a:pPr algn="ctr"/>
            <a:endParaRPr/>
          </a:p>
        </p:txBody>
      </p:sp>
      <p:sp>
        <p:nvSpPr>
          <p:cNvPr id="12" name="TextBox 11"/>
          <p:cNvSpPr txBox="1"/>
          <p:nvPr/>
        </p:nvSpPr>
        <p:spPr>
          <a:xfrm>
            <a:off x="546100" y="1143000"/>
            <a:ext cx="3797300" cy="333756"/>
          </a:xfrm>
          <a:prstGeom prst="rect">
            <a:avLst/>
          </a:prstGeom>
          <a:noFill/>
          <a:effectLst/>
        </p:spPr>
        <p:txBody>
          <a:bodyPr wrap="none" lIns="0" tIns="0" rIns="0" bIns="0" anchor="t">
            <a:noAutofit/>
          </a:bodyPr>
          <a:lstStyle/>
          <a:p>
            <a:pPr algn="ctr" eaLnBrk="0" latinLnBrk="0">
              <a:lnSpc>
                <a:spcPts val="2412"/>
              </a:lnSpc>
              <a:spcBef>
                <a:spcPts val="0"/>
              </a:spcBef>
              <a:spcAft>
                <a:spcPts val="0"/>
              </a:spcAft>
            </a:pPr>
            <a:r>
              <a:rPr lang="ko-KR" sz="1800" b="1" dirty="0">
                <a:solidFill>
                  <a:srgbClr val="1F497D"/>
                </a:solidFill>
                <a:latin typeface="Malgun Gothic"/>
                <a:ea typeface="Malgun Gothic"/>
                <a:cs typeface="Malgun Gothic"/>
              </a:rPr>
              <a:t>전기보일러 </a:t>
            </a:r>
            <a:r>
              <a:rPr lang="en-US" altLang="ko-KR" b="1" dirty="0">
                <a:solidFill>
                  <a:srgbClr val="1F497D"/>
                </a:solidFill>
                <a:latin typeface="Malgun Gothic"/>
                <a:ea typeface="Malgun Gothic"/>
                <a:cs typeface="Malgun Gothic"/>
              </a:rPr>
              <a:t>(</a:t>
            </a:r>
            <a:r>
              <a:rPr lang="ko-KR" sz="1800" b="1" dirty="0" err="1">
                <a:solidFill>
                  <a:srgbClr val="1F497D"/>
                </a:solidFill>
                <a:latin typeface="Malgun Gothic"/>
                <a:ea typeface="Malgun Gothic"/>
                <a:cs typeface="Malgun Gothic"/>
              </a:rPr>
              <a:t>저항식</a:t>
            </a:r>
            <a:r>
              <a:rPr lang="en-US" altLang="ko-KR" sz="1800" b="1" dirty="0">
                <a:solidFill>
                  <a:srgbClr val="1F497D"/>
                </a:solidFill>
                <a:latin typeface="Malgun Gothic"/>
                <a:ea typeface="Malgun Gothic"/>
                <a:cs typeface="Malgun Gothic"/>
              </a:rPr>
              <a:t>)</a:t>
            </a:r>
            <a:endParaRPr lang="ko-KR" sz="1800" b="1" dirty="0">
              <a:solidFill>
                <a:srgbClr val="1F497D"/>
              </a:solidFill>
              <a:latin typeface="Malgun Gothic"/>
              <a:ea typeface="Malgun Gothic"/>
              <a:cs typeface="Malgun Gothic"/>
            </a:endParaRPr>
          </a:p>
        </p:txBody>
      </p:sp>
      <p:sp>
        <p:nvSpPr>
          <p:cNvPr id="13" name="TextBox 12"/>
          <p:cNvSpPr txBox="1"/>
          <p:nvPr/>
        </p:nvSpPr>
        <p:spPr>
          <a:xfrm>
            <a:off x="381000" y="1701800"/>
            <a:ext cx="4064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장점</a:t>
            </a:r>
          </a:p>
        </p:txBody>
      </p:sp>
      <p:sp>
        <p:nvSpPr>
          <p:cNvPr id="14" name="Rectangle 13"/>
          <p:cNvSpPr/>
          <p:nvPr/>
        </p:nvSpPr>
        <p:spPr>
          <a:xfrm>
            <a:off x="406400" y="2208530"/>
            <a:ext cx="38100" cy="38100"/>
          </a:xfrm>
          <a:prstGeom prst="rect">
            <a:avLst/>
          </a:prstGeom>
          <a:solidFill>
            <a:srgbClr val="65758A"/>
          </a:solidFill>
          <a:ln>
            <a:noFill/>
          </a:ln>
          <a:effectLst/>
        </p:spPr>
        <p:txBody>
          <a:bodyPr rtlCol="0" anchor="ctr"/>
          <a:lstStyle/>
          <a:p>
            <a:pPr algn="ctr"/>
            <a:endParaRPr/>
          </a:p>
        </p:txBody>
      </p:sp>
      <p:sp>
        <p:nvSpPr>
          <p:cNvPr id="15" name="TextBox 14"/>
          <p:cNvSpPr txBox="1"/>
          <p:nvPr/>
        </p:nvSpPr>
        <p:spPr>
          <a:xfrm>
            <a:off x="596900" y="212090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구조가 단순하고 설치가 쉬움</a:t>
            </a:r>
          </a:p>
        </p:txBody>
      </p:sp>
      <p:sp>
        <p:nvSpPr>
          <p:cNvPr id="16" name="Rectangle 15"/>
          <p:cNvSpPr/>
          <p:nvPr/>
        </p:nvSpPr>
        <p:spPr>
          <a:xfrm>
            <a:off x="406400" y="2562860"/>
            <a:ext cx="38100" cy="38100"/>
          </a:xfrm>
          <a:prstGeom prst="rect">
            <a:avLst/>
          </a:prstGeom>
          <a:solidFill>
            <a:srgbClr val="65758A"/>
          </a:solidFill>
          <a:ln>
            <a:noFill/>
          </a:ln>
          <a:effectLst/>
        </p:spPr>
        <p:txBody>
          <a:bodyPr rtlCol="0" anchor="ctr"/>
          <a:lstStyle/>
          <a:p>
            <a:pPr algn="ctr"/>
            <a:endParaRPr/>
          </a:p>
        </p:txBody>
      </p:sp>
      <p:sp>
        <p:nvSpPr>
          <p:cNvPr id="17" name="TextBox 16"/>
          <p:cNvSpPr txBox="1"/>
          <p:nvPr/>
        </p:nvSpPr>
        <p:spPr>
          <a:xfrm>
            <a:off x="596900" y="247523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초기 비용이 낮음</a:t>
            </a:r>
          </a:p>
        </p:txBody>
      </p:sp>
      <p:sp>
        <p:nvSpPr>
          <p:cNvPr id="18" name="Rectangle 17"/>
          <p:cNvSpPr/>
          <p:nvPr/>
        </p:nvSpPr>
        <p:spPr>
          <a:xfrm>
            <a:off x="406400" y="2917190"/>
            <a:ext cx="38100" cy="38100"/>
          </a:xfrm>
          <a:prstGeom prst="rect">
            <a:avLst/>
          </a:prstGeom>
          <a:solidFill>
            <a:srgbClr val="65758A"/>
          </a:solidFill>
          <a:ln>
            <a:noFill/>
          </a:ln>
          <a:effectLst/>
        </p:spPr>
        <p:txBody>
          <a:bodyPr rtlCol="0" anchor="ctr"/>
          <a:lstStyle/>
          <a:p>
            <a:pPr algn="ctr"/>
            <a:endParaRPr/>
          </a:p>
        </p:txBody>
      </p:sp>
      <p:sp>
        <p:nvSpPr>
          <p:cNvPr id="19" name="TextBox 18"/>
          <p:cNvSpPr txBox="1"/>
          <p:nvPr/>
        </p:nvSpPr>
        <p:spPr>
          <a:xfrm>
            <a:off x="596900" y="282956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가정·소규모 시설에 적합</a:t>
            </a:r>
          </a:p>
        </p:txBody>
      </p:sp>
      <p:sp>
        <p:nvSpPr>
          <p:cNvPr id="20" name="Rectangle 19"/>
          <p:cNvSpPr/>
          <p:nvPr/>
        </p:nvSpPr>
        <p:spPr>
          <a:xfrm>
            <a:off x="406400" y="3271519"/>
            <a:ext cx="38100" cy="38100"/>
          </a:xfrm>
          <a:prstGeom prst="rect">
            <a:avLst/>
          </a:prstGeom>
          <a:solidFill>
            <a:srgbClr val="65758A"/>
          </a:solidFill>
          <a:ln>
            <a:noFill/>
          </a:ln>
          <a:effectLst/>
        </p:spPr>
        <p:txBody>
          <a:bodyPr rtlCol="0" anchor="ctr"/>
          <a:lstStyle/>
          <a:p>
            <a:pPr algn="ctr"/>
            <a:endParaRPr/>
          </a:p>
        </p:txBody>
      </p:sp>
      <p:sp>
        <p:nvSpPr>
          <p:cNvPr id="21" name="TextBox 20"/>
          <p:cNvSpPr txBox="1"/>
          <p:nvPr/>
        </p:nvSpPr>
        <p:spPr>
          <a:xfrm>
            <a:off x="596900" y="318389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유지보수가 상대적으로 쉬움</a:t>
            </a:r>
          </a:p>
        </p:txBody>
      </p:sp>
      <p:cxnSp>
        <p:nvCxnSpPr>
          <p:cNvPr id="22" name="Connector 21"/>
          <p:cNvCxnSpPr/>
          <p:nvPr/>
        </p:nvCxnSpPr>
        <p:spPr>
          <a:xfrm>
            <a:off x="381000" y="3848100"/>
            <a:ext cx="4102100" cy="0"/>
          </a:xfrm>
          <a:prstGeom prst="line">
            <a:avLst/>
          </a:prstGeom>
          <a:ln w="10160">
            <a:solidFill>
              <a:srgbClr val="DEE3E8"/>
            </a:solidFill>
          </a:ln>
          <a:effectLst/>
        </p:spPr>
      </p:cxnSp>
      <p:sp>
        <p:nvSpPr>
          <p:cNvPr id="23" name="TextBox 22"/>
          <p:cNvSpPr txBox="1"/>
          <p:nvPr/>
        </p:nvSpPr>
        <p:spPr>
          <a:xfrm>
            <a:off x="381000" y="4025900"/>
            <a:ext cx="4064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altLang="en-US" sz="1600" b="1" dirty="0">
                <a:solidFill>
                  <a:srgbClr val="FF0000"/>
                </a:solidFill>
                <a:latin typeface="Malgun Gothic"/>
                <a:ea typeface="Malgun Gothic"/>
                <a:cs typeface="Malgun Gothic"/>
              </a:rPr>
              <a:t>단점</a:t>
            </a:r>
            <a:endParaRPr lang="ko-KR" sz="1600" b="1" dirty="0">
              <a:solidFill>
                <a:srgbClr val="FF0000"/>
              </a:solidFill>
              <a:latin typeface="Malgun Gothic"/>
              <a:ea typeface="Malgun Gothic"/>
              <a:cs typeface="Malgun Gothic"/>
            </a:endParaRPr>
          </a:p>
        </p:txBody>
      </p:sp>
      <p:sp>
        <p:nvSpPr>
          <p:cNvPr id="24" name="Rectangle 23"/>
          <p:cNvSpPr/>
          <p:nvPr/>
        </p:nvSpPr>
        <p:spPr>
          <a:xfrm>
            <a:off x="406400" y="4532630"/>
            <a:ext cx="38100" cy="38100"/>
          </a:xfrm>
          <a:prstGeom prst="rect">
            <a:avLst/>
          </a:prstGeom>
          <a:solidFill>
            <a:srgbClr val="65758A"/>
          </a:solidFill>
          <a:ln>
            <a:noFill/>
          </a:ln>
          <a:effectLst/>
        </p:spPr>
        <p:txBody>
          <a:bodyPr rtlCol="0" anchor="ctr"/>
          <a:lstStyle/>
          <a:p>
            <a:pPr algn="ctr"/>
            <a:endParaRPr/>
          </a:p>
        </p:txBody>
      </p:sp>
      <p:sp>
        <p:nvSpPr>
          <p:cNvPr id="25" name="TextBox 24"/>
          <p:cNvSpPr txBox="1"/>
          <p:nvPr/>
        </p:nvSpPr>
        <p:spPr>
          <a:xfrm>
            <a:off x="596900" y="444500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열선 → 물 전달 과정의 열손실</a:t>
            </a:r>
          </a:p>
        </p:txBody>
      </p:sp>
      <p:sp>
        <p:nvSpPr>
          <p:cNvPr id="26" name="Rectangle 25"/>
          <p:cNvSpPr/>
          <p:nvPr/>
        </p:nvSpPr>
        <p:spPr>
          <a:xfrm>
            <a:off x="406400" y="4886959"/>
            <a:ext cx="38100" cy="38100"/>
          </a:xfrm>
          <a:prstGeom prst="rect">
            <a:avLst/>
          </a:prstGeom>
          <a:solidFill>
            <a:srgbClr val="65758A"/>
          </a:solidFill>
          <a:ln>
            <a:noFill/>
          </a:ln>
          <a:effectLst/>
        </p:spPr>
        <p:txBody>
          <a:bodyPr rtlCol="0" anchor="ctr"/>
          <a:lstStyle/>
          <a:p>
            <a:pPr algn="ctr"/>
            <a:endParaRPr/>
          </a:p>
        </p:txBody>
      </p:sp>
      <p:sp>
        <p:nvSpPr>
          <p:cNvPr id="27" name="TextBox 26"/>
          <p:cNvSpPr txBox="1"/>
          <p:nvPr/>
        </p:nvSpPr>
        <p:spPr>
          <a:xfrm>
            <a:off x="596900" y="479933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열선 개수 조합에 따른 계단식 제어</a:t>
            </a:r>
          </a:p>
        </p:txBody>
      </p:sp>
      <p:sp>
        <p:nvSpPr>
          <p:cNvPr id="28" name="Rectangle 27"/>
          <p:cNvSpPr/>
          <p:nvPr/>
        </p:nvSpPr>
        <p:spPr>
          <a:xfrm>
            <a:off x="406400" y="5241289"/>
            <a:ext cx="38100" cy="38100"/>
          </a:xfrm>
          <a:prstGeom prst="rect">
            <a:avLst/>
          </a:prstGeom>
          <a:solidFill>
            <a:srgbClr val="65758A"/>
          </a:solidFill>
          <a:ln>
            <a:noFill/>
          </a:ln>
          <a:effectLst/>
        </p:spPr>
        <p:txBody>
          <a:bodyPr rtlCol="0" anchor="ctr"/>
          <a:lstStyle/>
          <a:p>
            <a:pPr algn="ctr"/>
            <a:endParaRPr/>
          </a:p>
        </p:txBody>
      </p:sp>
      <p:sp>
        <p:nvSpPr>
          <p:cNvPr id="29" name="TextBox 28"/>
          <p:cNvSpPr txBox="1"/>
          <p:nvPr/>
        </p:nvSpPr>
        <p:spPr>
          <a:xfrm>
            <a:off x="596900" y="5153659"/>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대용량 확장에 불리</a:t>
            </a:r>
          </a:p>
        </p:txBody>
      </p:sp>
      <p:sp>
        <p:nvSpPr>
          <p:cNvPr id="30" name="Rectangle 29"/>
          <p:cNvSpPr/>
          <p:nvPr/>
        </p:nvSpPr>
        <p:spPr>
          <a:xfrm>
            <a:off x="406400" y="5595619"/>
            <a:ext cx="38100" cy="38100"/>
          </a:xfrm>
          <a:prstGeom prst="rect">
            <a:avLst/>
          </a:prstGeom>
          <a:solidFill>
            <a:srgbClr val="65758A"/>
          </a:solidFill>
          <a:ln>
            <a:noFill/>
          </a:ln>
          <a:effectLst/>
        </p:spPr>
        <p:txBody>
          <a:bodyPr rtlCol="0" anchor="ctr"/>
          <a:lstStyle/>
          <a:p>
            <a:pPr algn="ctr"/>
            <a:endParaRPr/>
          </a:p>
        </p:txBody>
      </p:sp>
      <p:sp>
        <p:nvSpPr>
          <p:cNvPr id="31" name="TextBox 30"/>
          <p:cNvSpPr txBox="1"/>
          <p:nvPr/>
        </p:nvSpPr>
        <p:spPr>
          <a:xfrm>
            <a:off x="596900" y="5507989"/>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열선 스케일 부착 시 효율 저하</a:t>
            </a:r>
          </a:p>
        </p:txBody>
      </p:sp>
      <p:sp>
        <p:nvSpPr>
          <p:cNvPr id="32" name="Rectangle 31"/>
          <p:cNvSpPr/>
          <p:nvPr/>
        </p:nvSpPr>
        <p:spPr>
          <a:xfrm>
            <a:off x="4660900" y="1079500"/>
            <a:ext cx="4102100" cy="444500"/>
          </a:xfrm>
          <a:prstGeom prst="rect">
            <a:avLst/>
          </a:prstGeom>
          <a:solidFill>
            <a:srgbClr val="E8EDF2"/>
          </a:solidFill>
          <a:ln>
            <a:solidFill>
              <a:schemeClr val="accent1">
                <a:lumMod val="40000"/>
                <a:lumOff val="60000"/>
              </a:schemeClr>
            </a:solidFill>
          </a:ln>
          <a:effectLst/>
        </p:spPr>
        <p:txBody>
          <a:bodyPr rtlCol="0" anchor="ctr"/>
          <a:lstStyle/>
          <a:p>
            <a:pPr algn="ctr"/>
            <a:endParaRPr/>
          </a:p>
        </p:txBody>
      </p:sp>
      <p:sp>
        <p:nvSpPr>
          <p:cNvPr id="33" name="TextBox 32"/>
          <p:cNvSpPr txBox="1"/>
          <p:nvPr/>
        </p:nvSpPr>
        <p:spPr>
          <a:xfrm>
            <a:off x="4826000" y="1143000"/>
            <a:ext cx="3797300" cy="333756"/>
          </a:xfrm>
          <a:prstGeom prst="rect">
            <a:avLst/>
          </a:prstGeom>
          <a:noFill/>
          <a:effectLst/>
        </p:spPr>
        <p:txBody>
          <a:bodyPr wrap="none" lIns="0" tIns="0" rIns="0" bIns="0" anchor="t">
            <a:noAutofit/>
          </a:bodyPr>
          <a:lstStyle/>
          <a:p>
            <a:pPr algn="ctr" eaLnBrk="0" latinLnBrk="0">
              <a:lnSpc>
                <a:spcPts val="2412"/>
              </a:lnSpc>
              <a:spcBef>
                <a:spcPts val="0"/>
              </a:spcBef>
              <a:spcAft>
                <a:spcPts val="0"/>
              </a:spcAft>
            </a:pPr>
            <a:r>
              <a:rPr lang="ko-KR" sz="1800" b="1">
                <a:solidFill>
                  <a:srgbClr val="1F497D"/>
                </a:solidFill>
                <a:latin typeface="Malgun Gothic"/>
                <a:ea typeface="Malgun Gothic"/>
                <a:cs typeface="Malgun Gothic"/>
              </a:rPr>
              <a:t>전극보일러</a:t>
            </a:r>
          </a:p>
        </p:txBody>
      </p:sp>
      <p:sp>
        <p:nvSpPr>
          <p:cNvPr id="34" name="TextBox 33"/>
          <p:cNvSpPr txBox="1"/>
          <p:nvPr/>
        </p:nvSpPr>
        <p:spPr>
          <a:xfrm>
            <a:off x="4660900" y="1701800"/>
            <a:ext cx="4064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장점</a:t>
            </a:r>
          </a:p>
        </p:txBody>
      </p:sp>
      <p:sp>
        <p:nvSpPr>
          <p:cNvPr id="35" name="Rectangle 34"/>
          <p:cNvSpPr/>
          <p:nvPr/>
        </p:nvSpPr>
        <p:spPr>
          <a:xfrm>
            <a:off x="4686300" y="2208530"/>
            <a:ext cx="38100" cy="38100"/>
          </a:xfrm>
          <a:prstGeom prst="rect">
            <a:avLst/>
          </a:prstGeom>
          <a:solidFill>
            <a:srgbClr val="65758A"/>
          </a:solidFill>
          <a:ln>
            <a:noFill/>
          </a:ln>
          <a:effectLst/>
        </p:spPr>
        <p:txBody>
          <a:bodyPr rtlCol="0" anchor="ctr"/>
          <a:lstStyle/>
          <a:p>
            <a:pPr algn="ctr"/>
            <a:endParaRPr/>
          </a:p>
        </p:txBody>
      </p:sp>
      <p:sp>
        <p:nvSpPr>
          <p:cNvPr id="36" name="TextBox 35"/>
          <p:cNvSpPr txBox="1"/>
          <p:nvPr/>
        </p:nvSpPr>
        <p:spPr>
          <a:xfrm>
            <a:off x="4876800" y="212090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효율이 매우 높음 · 거의 100%</a:t>
            </a:r>
          </a:p>
        </p:txBody>
      </p:sp>
      <p:sp>
        <p:nvSpPr>
          <p:cNvPr id="37" name="Rectangle 36"/>
          <p:cNvSpPr/>
          <p:nvPr/>
        </p:nvSpPr>
        <p:spPr>
          <a:xfrm>
            <a:off x="4686300" y="2562860"/>
            <a:ext cx="38100" cy="38100"/>
          </a:xfrm>
          <a:prstGeom prst="rect">
            <a:avLst/>
          </a:prstGeom>
          <a:solidFill>
            <a:srgbClr val="65758A"/>
          </a:solidFill>
          <a:ln>
            <a:noFill/>
          </a:ln>
          <a:effectLst/>
        </p:spPr>
        <p:txBody>
          <a:bodyPr rtlCol="0" anchor="ctr"/>
          <a:lstStyle/>
          <a:p>
            <a:pPr algn="ctr"/>
            <a:endParaRPr/>
          </a:p>
        </p:txBody>
      </p:sp>
      <p:sp>
        <p:nvSpPr>
          <p:cNvPr id="38" name="TextBox 37"/>
          <p:cNvSpPr txBox="1"/>
          <p:nvPr/>
        </p:nvSpPr>
        <p:spPr>
          <a:xfrm>
            <a:off x="4876800" y="247523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전압 조절로 정밀 출력 제어</a:t>
            </a:r>
          </a:p>
        </p:txBody>
      </p:sp>
      <p:sp>
        <p:nvSpPr>
          <p:cNvPr id="39" name="Rectangle 38"/>
          <p:cNvSpPr/>
          <p:nvPr/>
        </p:nvSpPr>
        <p:spPr>
          <a:xfrm>
            <a:off x="4686300" y="2917190"/>
            <a:ext cx="38100" cy="38100"/>
          </a:xfrm>
          <a:prstGeom prst="rect">
            <a:avLst/>
          </a:prstGeom>
          <a:solidFill>
            <a:srgbClr val="65758A"/>
          </a:solidFill>
          <a:ln>
            <a:noFill/>
          </a:ln>
          <a:effectLst/>
        </p:spPr>
        <p:txBody>
          <a:bodyPr rtlCol="0" anchor="ctr"/>
          <a:lstStyle/>
          <a:p>
            <a:pPr algn="ctr"/>
            <a:endParaRPr/>
          </a:p>
        </p:txBody>
      </p:sp>
      <p:sp>
        <p:nvSpPr>
          <p:cNvPr id="40" name="TextBox 39"/>
          <p:cNvSpPr txBox="1"/>
          <p:nvPr/>
        </p:nvSpPr>
        <p:spPr>
          <a:xfrm>
            <a:off x="4876800" y="282956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빠른 부하 변동 대응</a:t>
            </a:r>
          </a:p>
        </p:txBody>
      </p:sp>
      <p:sp>
        <p:nvSpPr>
          <p:cNvPr id="41" name="Rectangle 40"/>
          <p:cNvSpPr/>
          <p:nvPr/>
        </p:nvSpPr>
        <p:spPr>
          <a:xfrm>
            <a:off x="4686300" y="3271519"/>
            <a:ext cx="38100" cy="38100"/>
          </a:xfrm>
          <a:prstGeom prst="rect">
            <a:avLst/>
          </a:prstGeom>
          <a:solidFill>
            <a:srgbClr val="65758A"/>
          </a:solidFill>
          <a:ln>
            <a:noFill/>
          </a:ln>
          <a:effectLst/>
        </p:spPr>
        <p:txBody>
          <a:bodyPr rtlCol="0" anchor="ctr"/>
          <a:lstStyle/>
          <a:p>
            <a:pPr algn="ctr"/>
            <a:endParaRPr/>
          </a:p>
        </p:txBody>
      </p:sp>
      <p:sp>
        <p:nvSpPr>
          <p:cNvPr id="42" name="TextBox 41"/>
          <p:cNvSpPr txBox="1"/>
          <p:nvPr/>
        </p:nvSpPr>
        <p:spPr>
          <a:xfrm>
            <a:off x="4876800" y="318389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대용량·산업용에서 경제적</a:t>
            </a:r>
          </a:p>
        </p:txBody>
      </p:sp>
      <p:cxnSp>
        <p:nvCxnSpPr>
          <p:cNvPr id="43" name="Connector 42"/>
          <p:cNvCxnSpPr/>
          <p:nvPr/>
        </p:nvCxnSpPr>
        <p:spPr>
          <a:xfrm>
            <a:off x="4660900" y="3848100"/>
            <a:ext cx="4102100" cy="0"/>
          </a:xfrm>
          <a:prstGeom prst="line">
            <a:avLst/>
          </a:prstGeom>
          <a:ln w="10160">
            <a:solidFill>
              <a:srgbClr val="DEE3E8"/>
            </a:solidFill>
          </a:ln>
          <a:effectLst/>
        </p:spPr>
      </p:cxnSp>
      <p:sp>
        <p:nvSpPr>
          <p:cNvPr id="44" name="TextBox 43"/>
          <p:cNvSpPr txBox="1"/>
          <p:nvPr/>
        </p:nvSpPr>
        <p:spPr>
          <a:xfrm>
            <a:off x="4660900" y="4025900"/>
            <a:ext cx="4064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altLang="en-US" sz="1600" b="1" dirty="0">
                <a:solidFill>
                  <a:srgbClr val="FF0000"/>
                </a:solidFill>
                <a:latin typeface="Malgun Gothic"/>
                <a:ea typeface="Malgun Gothic"/>
                <a:cs typeface="Malgun Gothic"/>
              </a:rPr>
              <a:t>단점</a:t>
            </a:r>
            <a:endParaRPr lang="ko-KR" sz="1600" b="1" dirty="0">
              <a:solidFill>
                <a:srgbClr val="FF0000"/>
              </a:solidFill>
              <a:latin typeface="Malgun Gothic"/>
              <a:ea typeface="Malgun Gothic"/>
              <a:cs typeface="Malgun Gothic"/>
            </a:endParaRPr>
          </a:p>
        </p:txBody>
      </p:sp>
      <p:sp>
        <p:nvSpPr>
          <p:cNvPr id="45" name="Rectangle 44"/>
          <p:cNvSpPr/>
          <p:nvPr/>
        </p:nvSpPr>
        <p:spPr>
          <a:xfrm>
            <a:off x="4686300" y="4532630"/>
            <a:ext cx="38100" cy="38100"/>
          </a:xfrm>
          <a:prstGeom prst="rect">
            <a:avLst/>
          </a:prstGeom>
          <a:solidFill>
            <a:srgbClr val="65758A"/>
          </a:solidFill>
          <a:ln>
            <a:noFill/>
          </a:ln>
          <a:effectLst/>
        </p:spPr>
        <p:txBody>
          <a:bodyPr rtlCol="0" anchor="ctr"/>
          <a:lstStyle/>
          <a:p>
            <a:pPr algn="ctr"/>
            <a:endParaRPr/>
          </a:p>
        </p:txBody>
      </p:sp>
      <p:sp>
        <p:nvSpPr>
          <p:cNvPr id="46" name="TextBox 45"/>
          <p:cNvSpPr txBox="1"/>
          <p:nvPr/>
        </p:nvSpPr>
        <p:spPr>
          <a:xfrm>
            <a:off x="4876800" y="444500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수질·전기전도도 관리 필수</a:t>
            </a:r>
          </a:p>
        </p:txBody>
      </p:sp>
      <p:sp>
        <p:nvSpPr>
          <p:cNvPr id="47" name="Rectangle 46"/>
          <p:cNvSpPr/>
          <p:nvPr/>
        </p:nvSpPr>
        <p:spPr>
          <a:xfrm>
            <a:off x="4686300" y="4886959"/>
            <a:ext cx="38100" cy="38100"/>
          </a:xfrm>
          <a:prstGeom prst="rect">
            <a:avLst/>
          </a:prstGeom>
          <a:solidFill>
            <a:srgbClr val="65758A"/>
          </a:solidFill>
          <a:ln>
            <a:noFill/>
          </a:ln>
          <a:effectLst/>
        </p:spPr>
        <p:txBody>
          <a:bodyPr rtlCol="0" anchor="ctr"/>
          <a:lstStyle/>
          <a:p>
            <a:pPr algn="ctr"/>
            <a:endParaRPr/>
          </a:p>
        </p:txBody>
      </p:sp>
      <p:sp>
        <p:nvSpPr>
          <p:cNvPr id="48" name="TextBox 47"/>
          <p:cNvSpPr txBox="1"/>
          <p:nvPr/>
        </p:nvSpPr>
        <p:spPr>
          <a:xfrm>
            <a:off x="4876800" y="479933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전극 부식·스케일 관리 필요</a:t>
            </a:r>
          </a:p>
        </p:txBody>
      </p:sp>
      <p:sp>
        <p:nvSpPr>
          <p:cNvPr id="49" name="Rectangle 48"/>
          <p:cNvSpPr/>
          <p:nvPr/>
        </p:nvSpPr>
        <p:spPr>
          <a:xfrm>
            <a:off x="4686300" y="5241289"/>
            <a:ext cx="38100" cy="38100"/>
          </a:xfrm>
          <a:prstGeom prst="rect">
            <a:avLst/>
          </a:prstGeom>
          <a:solidFill>
            <a:srgbClr val="65758A"/>
          </a:solidFill>
          <a:ln>
            <a:noFill/>
          </a:ln>
          <a:effectLst/>
        </p:spPr>
        <p:txBody>
          <a:bodyPr rtlCol="0" anchor="ctr"/>
          <a:lstStyle/>
          <a:p>
            <a:pPr algn="ctr"/>
            <a:endParaRPr/>
          </a:p>
        </p:txBody>
      </p:sp>
      <p:sp>
        <p:nvSpPr>
          <p:cNvPr id="50" name="TextBox 49"/>
          <p:cNvSpPr txBox="1"/>
          <p:nvPr/>
        </p:nvSpPr>
        <p:spPr>
          <a:xfrm>
            <a:off x="4876800" y="5153659"/>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소용량의 높은 초기 비용</a:t>
            </a:r>
          </a:p>
        </p:txBody>
      </p:sp>
      <p:sp>
        <p:nvSpPr>
          <p:cNvPr id="51" name="Rectangle 50"/>
          <p:cNvSpPr/>
          <p:nvPr/>
        </p:nvSpPr>
        <p:spPr>
          <a:xfrm>
            <a:off x="4686300" y="5595619"/>
            <a:ext cx="38100" cy="38100"/>
          </a:xfrm>
          <a:prstGeom prst="rect">
            <a:avLst/>
          </a:prstGeom>
          <a:solidFill>
            <a:srgbClr val="65758A"/>
          </a:solidFill>
          <a:ln>
            <a:noFill/>
          </a:ln>
          <a:effectLst/>
        </p:spPr>
        <p:txBody>
          <a:bodyPr rtlCol="0" anchor="ctr"/>
          <a:lstStyle/>
          <a:p>
            <a:pPr algn="ctr"/>
            <a:endParaRPr/>
          </a:p>
        </p:txBody>
      </p:sp>
      <p:sp>
        <p:nvSpPr>
          <p:cNvPr id="52" name="TextBox 51"/>
          <p:cNvSpPr txBox="1"/>
          <p:nvPr/>
        </p:nvSpPr>
        <p:spPr>
          <a:xfrm>
            <a:off x="4876800" y="5507989"/>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전문 유지보수 인력 필요</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전극보일러의 정의와 운전 원리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5</a:t>
            </a:r>
          </a:p>
        </p:txBody>
      </p:sp>
      <p:sp>
        <p:nvSpPr>
          <p:cNvPr id="11" name="Rectangle 10"/>
          <p:cNvSpPr/>
          <p:nvPr/>
        </p:nvSpPr>
        <p:spPr>
          <a:xfrm>
            <a:off x="381000" y="1079500"/>
            <a:ext cx="8382000" cy="622300"/>
          </a:xfrm>
          <a:prstGeom prst="rect">
            <a:avLst/>
          </a:prstGeom>
          <a:solidFill>
            <a:srgbClr val="F3F5F7"/>
          </a:solidFill>
          <a:ln>
            <a:noFill/>
          </a:ln>
          <a:effectLst/>
        </p:spPr>
        <p:txBody>
          <a:bodyPr rtlCol="0" anchor="ctr"/>
          <a:lstStyle/>
          <a:p>
            <a:pPr algn="ctr"/>
            <a:endParaRPr/>
          </a:p>
        </p:txBody>
      </p:sp>
      <p:sp>
        <p:nvSpPr>
          <p:cNvPr id="12" name="Rectangle 11"/>
          <p:cNvSpPr/>
          <p:nvPr/>
        </p:nvSpPr>
        <p:spPr>
          <a:xfrm>
            <a:off x="381000" y="1079500"/>
            <a:ext cx="25400" cy="6223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46100" y="1231900"/>
            <a:ext cx="8077200" cy="296672"/>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0">
                <a:solidFill>
                  <a:srgbClr val="1F497D"/>
                </a:solidFill>
                <a:latin typeface="Malgun Gothic"/>
                <a:ea typeface="Malgun Gothic"/>
                <a:cs typeface="Malgun Gothic"/>
              </a:rPr>
              <a:t>물속 전극 사이로 전류를 직접 흘려 물 자체의 전기저항으로 발열시키는 보일러</a:t>
            </a:r>
          </a:p>
        </p:txBody>
      </p:sp>
      <p:sp>
        <p:nvSpPr>
          <p:cNvPr id="14" name="Rectangle 13"/>
          <p:cNvSpPr/>
          <p:nvPr/>
        </p:nvSpPr>
        <p:spPr>
          <a:xfrm>
            <a:off x="381000" y="1866900"/>
            <a:ext cx="4070350" cy="990600"/>
          </a:xfrm>
          <a:prstGeom prst="rect">
            <a:avLst/>
          </a:prstGeom>
          <a:solidFill>
            <a:srgbClr val="F3F5F7"/>
          </a:solidFill>
          <a:ln>
            <a:solidFill>
              <a:schemeClr val="accent1">
                <a:lumMod val="40000"/>
                <a:lumOff val="60000"/>
              </a:schemeClr>
            </a:solidFill>
          </a:ln>
          <a:effectLst/>
        </p:spPr>
        <p:txBody>
          <a:bodyPr rtlCol="0" anchor="ctr"/>
          <a:lstStyle/>
          <a:p>
            <a:pPr algn="ctr"/>
            <a:endParaRPr/>
          </a:p>
        </p:txBody>
      </p:sp>
      <p:sp>
        <p:nvSpPr>
          <p:cNvPr id="15" name="TextBox 14"/>
          <p:cNvSpPr txBox="1"/>
          <p:nvPr/>
        </p:nvSpPr>
        <p:spPr>
          <a:xfrm>
            <a:off x="495300" y="1981200"/>
            <a:ext cx="384175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전압 인가</a:t>
            </a:r>
          </a:p>
        </p:txBody>
      </p:sp>
      <p:sp>
        <p:nvSpPr>
          <p:cNvPr id="16" name="TextBox 15"/>
          <p:cNvSpPr txBox="1"/>
          <p:nvPr/>
        </p:nvSpPr>
        <p:spPr>
          <a:xfrm>
            <a:off x="482600" y="2384503"/>
            <a:ext cx="3867150" cy="337058"/>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0" dirty="0">
                <a:solidFill>
                  <a:srgbClr val="262626"/>
                </a:solidFill>
                <a:latin typeface="Malgun Gothic"/>
                <a:ea typeface="Malgun Gothic"/>
                <a:cs typeface="Malgun Gothic"/>
              </a:rPr>
              <a:t>별도 열선 없이 전극에 전압 인가</a:t>
            </a:r>
          </a:p>
        </p:txBody>
      </p:sp>
      <p:sp>
        <p:nvSpPr>
          <p:cNvPr id="17" name="TextBox 16"/>
          <p:cNvSpPr txBox="1"/>
          <p:nvPr/>
        </p:nvSpPr>
        <p:spPr>
          <a:xfrm>
            <a:off x="4451350" y="219710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18" name="Rectangle 17"/>
          <p:cNvSpPr/>
          <p:nvPr/>
        </p:nvSpPr>
        <p:spPr>
          <a:xfrm>
            <a:off x="4692650" y="1866900"/>
            <a:ext cx="4070350" cy="990600"/>
          </a:xfrm>
          <a:prstGeom prst="rect">
            <a:avLst/>
          </a:prstGeom>
          <a:solidFill>
            <a:srgbClr val="F3F5F7"/>
          </a:solidFill>
          <a:ln>
            <a:solidFill>
              <a:schemeClr val="accent1">
                <a:lumMod val="40000"/>
                <a:lumOff val="60000"/>
              </a:schemeClr>
            </a:solidFill>
          </a:ln>
          <a:effectLst/>
        </p:spPr>
        <p:txBody>
          <a:bodyPr rtlCol="0" anchor="ctr"/>
          <a:lstStyle/>
          <a:p>
            <a:pPr algn="ctr"/>
            <a:endParaRPr/>
          </a:p>
        </p:txBody>
      </p:sp>
      <p:sp>
        <p:nvSpPr>
          <p:cNvPr id="19" name="TextBox 18"/>
          <p:cNvSpPr txBox="1"/>
          <p:nvPr/>
        </p:nvSpPr>
        <p:spPr>
          <a:xfrm>
            <a:off x="4826000" y="1981200"/>
            <a:ext cx="384175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물의 저항가열</a:t>
            </a:r>
          </a:p>
        </p:txBody>
      </p:sp>
      <p:sp>
        <p:nvSpPr>
          <p:cNvPr id="20" name="TextBox 19"/>
          <p:cNvSpPr txBox="1"/>
          <p:nvPr/>
        </p:nvSpPr>
        <p:spPr>
          <a:xfrm>
            <a:off x="4762500" y="2384503"/>
            <a:ext cx="3867150" cy="3556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전류가 흐르는 물 자체에서 </a:t>
            </a:r>
            <a:r>
              <a:rPr lang="ko-KR" sz="1400" b="0" dirty="0" err="1">
                <a:solidFill>
                  <a:srgbClr val="262626"/>
                </a:solidFill>
                <a:latin typeface="Malgun Gothic"/>
                <a:ea typeface="Malgun Gothic"/>
                <a:cs typeface="Malgun Gothic"/>
              </a:rPr>
              <a:t>줄열</a:t>
            </a:r>
            <a:r>
              <a:rPr lang="ko-KR" sz="1400" b="0" dirty="0">
                <a:solidFill>
                  <a:srgbClr val="262626"/>
                </a:solidFill>
                <a:latin typeface="Malgun Gothic"/>
                <a:ea typeface="Malgun Gothic"/>
                <a:cs typeface="Malgun Gothic"/>
              </a:rPr>
              <a:t> 발생</a:t>
            </a:r>
          </a:p>
        </p:txBody>
      </p:sp>
      <p:sp>
        <p:nvSpPr>
          <p:cNvPr id="21" name="TextBox 20"/>
          <p:cNvSpPr txBox="1"/>
          <p:nvPr/>
        </p:nvSpPr>
        <p:spPr>
          <a:xfrm>
            <a:off x="381000" y="3086100"/>
            <a:ext cx="38354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주요 특징</a:t>
            </a:r>
          </a:p>
        </p:txBody>
      </p:sp>
      <p:sp>
        <p:nvSpPr>
          <p:cNvPr id="22" name="Rectangle 21"/>
          <p:cNvSpPr/>
          <p:nvPr/>
        </p:nvSpPr>
        <p:spPr>
          <a:xfrm>
            <a:off x="381000" y="3599688"/>
            <a:ext cx="38100" cy="381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571500" y="3517900"/>
            <a:ext cx="3721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열전달 과정이 없어 높은 효율</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a:t>
            </a:r>
            <a:r>
              <a:rPr lang="ko-KR" altLang="en-US" sz="1400" b="0" dirty="0">
                <a:solidFill>
                  <a:srgbClr val="262626"/>
                </a:solidFill>
                <a:latin typeface="Malgun Gothic"/>
                <a:ea typeface="Malgun Gothic"/>
                <a:cs typeface="Malgun Gothic"/>
              </a:rPr>
              <a:t>거의</a:t>
            </a:r>
            <a:r>
              <a:rPr lang="ko-KR" sz="1400" b="0" dirty="0">
                <a:solidFill>
                  <a:srgbClr val="262626"/>
                </a:solidFill>
                <a:latin typeface="Malgun Gothic"/>
                <a:ea typeface="Malgun Gothic"/>
                <a:cs typeface="Malgun Gothic"/>
              </a:rPr>
              <a:t>100%)</a:t>
            </a:r>
          </a:p>
        </p:txBody>
      </p:sp>
      <p:sp>
        <p:nvSpPr>
          <p:cNvPr id="24" name="Rectangle 23"/>
          <p:cNvSpPr/>
          <p:nvPr/>
        </p:nvSpPr>
        <p:spPr>
          <a:xfrm>
            <a:off x="381000" y="4059301"/>
            <a:ext cx="38100" cy="38100"/>
          </a:xfrm>
          <a:prstGeom prst="rect">
            <a:avLst/>
          </a:prstGeom>
          <a:solidFill>
            <a:srgbClr val="65758A"/>
          </a:solidFill>
          <a:ln>
            <a:noFill/>
          </a:ln>
          <a:effectLst/>
        </p:spPr>
        <p:txBody>
          <a:bodyPr rtlCol="0" anchor="ctr"/>
          <a:lstStyle/>
          <a:p>
            <a:pPr algn="ctr"/>
            <a:endParaRPr/>
          </a:p>
        </p:txBody>
      </p:sp>
      <p:sp>
        <p:nvSpPr>
          <p:cNvPr id="25" name="TextBox 24"/>
          <p:cNvSpPr txBox="1"/>
          <p:nvPr/>
        </p:nvSpPr>
        <p:spPr>
          <a:xfrm>
            <a:off x="571500" y="3977513"/>
            <a:ext cx="37211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공급전압 조절로 정밀 출력 제어</a:t>
            </a:r>
          </a:p>
        </p:txBody>
      </p:sp>
      <p:sp>
        <p:nvSpPr>
          <p:cNvPr id="26" name="Rectangle 25"/>
          <p:cNvSpPr/>
          <p:nvPr/>
        </p:nvSpPr>
        <p:spPr>
          <a:xfrm>
            <a:off x="381000" y="4558538"/>
            <a:ext cx="38100" cy="38100"/>
          </a:xfrm>
          <a:prstGeom prst="rect">
            <a:avLst/>
          </a:prstGeom>
          <a:solidFill>
            <a:srgbClr val="65758A"/>
          </a:solidFill>
          <a:ln>
            <a:noFill/>
          </a:ln>
          <a:effectLst/>
        </p:spPr>
        <p:txBody>
          <a:bodyPr rtlCol="0" anchor="ctr"/>
          <a:lstStyle/>
          <a:p>
            <a:pPr algn="ctr"/>
            <a:endParaRPr/>
          </a:p>
        </p:txBody>
      </p:sp>
      <p:sp>
        <p:nvSpPr>
          <p:cNvPr id="27" name="TextBox 26"/>
          <p:cNvSpPr txBox="1"/>
          <p:nvPr/>
        </p:nvSpPr>
        <p:spPr>
          <a:xfrm>
            <a:off x="571500" y="4476750"/>
            <a:ext cx="3721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전기전도도가 발열량에 직접 영향</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 수질 관리 필수</a:t>
            </a:r>
          </a:p>
        </p:txBody>
      </p:sp>
      <p:sp>
        <p:nvSpPr>
          <p:cNvPr id="28" name="Rectangle 27"/>
          <p:cNvSpPr/>
          <p:nvPr/>
        </p:nvSpPr>
        <p:spPr>
          <a:xfrm>
            <a:off x="381000" y="5220716"/>
            <a:ext cx="38100" cy="38100"/>
          </a:xfrm>
          <a:prstGeom prst="rect">
            <a:avLst/>
          </a:prstGeom>
          <a:solidFill>
            <a:srgbClr val="65758A"/>
          </a:solidFill>
          <a:ln>
            <a:noFill/>
          </a:ln>
          <a:effectLst/>
        </p:spPr>
        <p:txBody>
          <a:bodyPr rtlCol="0" anchor="ctr"/>
          <a:lstStyle/>
          <a:p>
            <a:pPr algn="ctr"/>
            <a:endParaRPr/>
          </a:p>
        </p:txBody>
      </p:sp>
      <p:sp>
        <p:nvSpPr>
          <p:cNvPr id="29" name="TextBox 28"/>
          <p:cNvSpPr txBox="1"/>
          <p:nvPr/>
        </p:nvSpPr>
        <p:spPr>
          <a:xfrm>
            <a:off x="571500" y="5138928"/>
            <a:ext cx="3721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대용량 산업용 스팀·지역난방 등</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큰 출력과 정밀 부하 대응에 활용</a:t>
            </a:r>
          </a:p>
        </p:txBody>
      </p:sp>
      <p:sp>
        <p:nvSpPr>
          <p:cNvPr id="30" name="TextBox 29"/>
          <p:cNvSpPr txBox="1"/>
          <p:nvPr/>
        </p:nvSpPr>
        <p:spPr>
          <a:xfrm>
            <a:off x="4762500" y="3086100"/>
            <a:ext cx="40005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운전 과정</a:t>
            </a:r>
          </a:p>
        </p:txBody>
      </p:sp>
      <p:sp>
        <p:nvSpPr>
          <p:cNvPr id="31" name="Rectangle 30"/>
          <p:cNvSpPr/>
          <p:nvPr/>
        </p:nvSpPr>
        <p:spPr>
          <a:xfrm>
            <a:off x="4762500" y="3530600"/>
            <a:ext cx="304800" cy="304800"/>
          </a:xfrm>
          <a:prstGeom prst="rect">
            <a:avLst/>
          </a:prstGeom>
          <a:solidFill>
            <a:srgbClr val="E8EDF2"/>
          </a:solidFill>
          <a:ln>
            <a:noFill/>
          </a:ln>
          <a:effectLst/>
        </p:spPr>
        <p:txBody>
          <a:bodyPr rtlCol="0" anchor="ctr"/>
          <a:lstStyle/>
          <a:p>
            <a:pPr algn="ctr"/>
            <a:endParaRPr/>
          </a:p>
        </p:txBody>
      </p:sp>
      <p:sp>
        <p:nvSpPr>
          <p:cNvPr id="32" name="TextBox 31"/>
          <p:cNvSpPr txBox="1"/>
          <p:nvPr/>
        </p:nvSpPr>
        <p:spPr>
          <a:xfrm>
            <a:off x="4762500" y="3543300"/>
            <a:ext cx="304800" cy="2794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1</a:t>
            </a:r>
          </a:p>
        </p:txBody>
      </p:sp>
      <p:sp>
        <p:nvSpPr>
          <p:cNvPr id="33" name="TextBox 32"/>
          <p:cNvSpPr txBox="1"/>
          <p:nvPr/>
        </p:nvSpPr>
        <p:spPr>
          <a:xfrm>
            <a:off x="5181600" y="3530600"/>
            <a:ext cx="3581400" cy="2794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전극 침수</a:t>
            </a:r>
          </a:p>
        </p:txBody>
      </p:sp>
      <p:sp>
        <p:nvSpPr>
          <p:cNvPr id="34" name="TextBox 33"/>
          <p:cNvSpPr txBox="1"/>
          <p:nvPr/>
        </p:nvSpPr>
        <p:spPr>
          <a:xfrm>
            <a:off x="5181600" y="3835400"/>
            <a:ext cx="3581400" cy="279400"/>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0">
                <a:solidFill>
                  <a:srgbClr val="262626"/>
                </a:solidFill>
                <a:latin typeface="Malgun Gothic"/>
                <a:ea typeface="Malgun Gothic"/>
                <a:cs typeface="Malgun Gothic"/>
              </a:rPr>
              <a:t>금속봉·판을 보일러 용기 내부 물에 침수</a:t>
            </a:r>
          </a:p>
        </p:txBody>
      </p:sp>
      <p:sp>
        <p:nvSpPr>
          <p:cNvPr id="35" name="Rectangle 34"/>
          <p:cNvSpPr/>
          <p:nvPr/>
        </p:nvSpPr>
        <p:spPr>
          <a:xfrm>
            <a:off x="4762500" y="4152900"/>
            <a:ext cx="304800" cy="304800"/>
          </a:xfrm>
          <a:prstGeom prst="rect">
            <a:avLst/>
          </a:prstGeom>
          <a:solidFill>
            <a:srgbClr val="E8EDF2"/>
          </a:solidFill>
          <a:ln>
            <a:noFill/>
          </a:ln>
          <a:effectLst/>
        </p:spPr>
        <p:txBody>
          <a:bodyPr rtlCol="0" anchor="ctr"/>
          <a:lstStyle/>
          <a:p>
            <a:pPr algn="ctr"/>
            <a:endParaRPr/>
          </a:p>
        </p:txBody>
      </p:sp>
      <p:sp>
        <p:nvSpPr>
          <p:cNvPr id="36" name="TextBox 35"/>
          <p:cNvSpPr txBox="1"/>
          <p:nvPr/>
        </p:nvSpPr>
        <p:spPr>
          <a:xfrm>
            <a:off x="4762500" y="4165600"/>
            <a:ext cx="304800" cy="2794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2</a:t>
            </a:r>
          </a:p>
        </p:txBody>
      </p:sp>
      <p:sp>
        <p:nvSpPr>
          <p:cNvPr id="37" name="TextBox 36"/>
          <p:cNvSpPr txBox="1"/>
          <p:nvPr/>
        </p:nvSpPr>
        <p:spPr>
          <a:xfrm>
            <a:off x="5181600" y="4152900"/>
            <a:ext cx="3581400" cy="2794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고전압 교류 인가</a:t>
            </a:r>
          </a:p>
        </p:txBody>
      </p:sp>
      <p:sp>
        <p:nvSpPr>
          <p:cNvPr id="38" name="TextBox 37"/>
          <p:cNvSpPr txBox="1"/>
          <p:nvPr/>
        </p:nvSpPr>
        <p:spPr>
          <a:xfrm>
            <a:off x="5181600" y="4457700"/>
            <a:ext cx="3581400" cy="279400"/>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0" dirty="0">
                <a:solidFill>
                  <a:srgbClr val="262626"/>
                </a:solidFill>
                <a:latin typeface="Malgun Gothic"/>
                <a:ea typeface="Malgun Gothic"/>
                <a:cs typeface="Malgun Gothic"/>
              </a:rPr>
              <a:t>물속 </a:t>
            </a:r>
            <a:r>
              <a:rPr lang="ko-KR" sz="1150" b="0" dirty="0" err="1">
                <a:solidFill>
                  <a:srgbClr val="262626"/>
                </a:solidFill>
                <a:latin typeface="Malgun Gothic"/>
                <a:ea typeface="Malgun Gothic"/>
                <a:cs typeface="Malgun Gothic"/>
              </a:rPr>
              <a:t>양이온·음이온이</a:t>
            </a:r>
            <a:r>
              <a:rPr lang="ko-KR" sz="1150" b="0" dirty="0">
                <a:solidFill>
                  <a:srgbClr val="262626"/>
                </a:solidFill>
                <a:latin typeface="Malgun Gothic"/>
                <a:ea typeface="Malgun Gothic"/>
                <a:cs typeface="Malgun Gothic"/>
              </a:rPr>
              <a:t> 전기장 방향으로 이동</a:t>
            </a:r>
          </a:p>
        </p:txBody>
      </p:sp>
      <p:sp>
        <p:nvSpPr>
          <p:cNvPr id="39" name="Rectangle 38"/>
          <p:cNvSpPr/>
          <p:nvPr/>
        </p:nvSpPr>
        <p:spPr>
          <a:xfrm>
            <a:off x="4762500" y="4775200"/>
            <a:ext cx="304800" cy="304800"/>
          </a:xfrm>
          <a:prstGeom prst="rect">
            <a:avLst/>
          </a:prstGeom>
          <a:solidFill>
            <a:srgbClr val="E8EDF2"/>
          </a:solidFill>
          <a:ln>
            <a:noFill/>
          </a:ln>
          <a:effectLst/>
        </p:spPr>
        <p:txBody>
          <a:bodyPr rtlCol="0" anchor="ctr"/>
          <a:lstStyle/>
          <a:p>
            <a:pPr algn="ctr"/>
            <a:endParaRPr/>
          </a:p>
        </p:txBody>
      </p:sp>
      <p:sp>
        <p:nvSpPr>
          <p:cNvPr id="40" name="TextBox 39"/>
          <p:cNvSpPr txBox="1"/>
          <p:nvPr/>
        </p:nvSpPr>
        <p:spPr>
          <a:xfrm>
            <a:off x="4762500" y="4787900"/>
            <a:ext cx="304800" cy="2794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3</a:t>
            </a:r>
          </a:p>
        </p:txBody>
      </p:sp>
      <p:sp>
        <p:nvSpPr>
          <p:cNvPr id="41" name="TextBox 40"/>
          <p:cNvSpPr txBox="1"/>
          <p:nvPr/>
        </p:nvSpPr>
        <p:spPr>
          <a:xfrm>
            <a:off x="5181600" y="4775200"/>
            <a:ext cx="3581400" cy="2794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전해질 저항 → 줄열</a:t>
            </a:r>
          </a:p>
        </p:txBody>
      </p:sp>
      <p:sp>
        <p:nvSpPr>
          <p:cNvPr id="42" name="TextBox 41"/>
          <p:cNvSpPr txBox="1"/>
          <p:nvPr/>
        </p:nvSpPr>
        <p:spPr>
          <a:xfrm>
            <a:off x="5181600" y="5080000"/>
            <a:ext cx="3581400" cy="279400"/>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0">
                <a:solidFill>
                  <a:srgbClr val="262626"/>
                </a:solidFill>
                <a:latin typeface="Malgun Gothic"/>
                <a:ea typeface="Malgun Gothic"/>
                <a:cs typeface="Malgun Gothic"/>
              </a:rPr>
              <a:t>이온이 녹아 있는 물의 전기저항에서 발열</a:t>
            </a:r>
          </a:p>
        </p:txBody>
      </p:sp>
      <p:sp>
        <p:nvSpPr>
          <p:cNvPr id="43" name="Rectangle 42"/>
          <p:cNvSpPr/>
          <p:nvPr/>
        </p:nvSpPr>
        <p:spPr>
          <a:xfrm>
            <a:off x="4762500" y="5397500"/>
            <a:ext cx="304800" cy="304800"/>
          </a:xfrm>
          <a:prstGeom prst="rect">
            <a:avLst/>
          </a:prstGeom>
          <a:solidFill>
            <a:srgbClr val="E8EDF2"/>
          </a:solidFill>
          <a:ln>
            <a:noFill/>
          </a:ln>
          <a:effectLst/>
        </p:spPr>
        <p:txBody>
          <a:bodyPr rtlCol="0" anchor="ctr"/>
          <a:lstStyle/>
          <a:p>
            <a:pPr algn="ctr"/>
            <a:endParaRPr/>
          </a:p>
        </p:txBody>
      </p:sp>
      <p:sp>
        <p:nvSpPr>
          <p:cNvPr id="44" name="TextBox 43"/>
          <p:cNvSpPr txBox="1"/>
          <p:nvPr/>
        </p:nvSpPr>
        <p:spPr>
          <a:xfrm>
            <a:off x="4762500" y="5410200"/>
            <a:ext cx="304800" cy="2794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4</a:t>
            </a:r>
          </a:p>
        </p:txBody>
      </p:sp>
      <p:sp>
        <p:nvSpPr>
          <p:cNvPr id="45" name="TextBox 44"/>
          <p:cNvSpPr txBox="1"/>
          <p:nvPr/>
        </p:nvSpPr>
        <p:spPr>
          <a:xfrm>
            <a:off x="5181600" y="5397500"/>
            <a:ext cx="3581400" cy="2794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주파수에 따른 진동·충돌</a:t>
            </a:r>
          </a:p>
        </p:txBody>
      </p:sp>
      <p:sp>
        <p:nvSpPr>
          <p:cNvPr id="46" name="TextBox 45"/>
          <p:cNvSpPr txBox="1"/>
          <p:nvPr/>
        </p:nvSpPr>
        <p:spPr>
          <a:xfrm>
            <a:off x="5181600" y="5702300"/>
            <a:ext cx="3581400" cy="582422"/>
          </a:xfrm>
          <a:prstGeom prst="rect">
            <a:avLst/>
          </a:prstGeom>
          <a:noFill/>
          <a:effectLst/>
        </p:spPr>
        <p:txBody>
          <a:bodyPr wrap="none" lIns="0" tIns="0" rIns="0" bIns="0" anchor="t">
            <a:noAutofit/>
          </a:bodyPr>
          <a:lstStyle/>
          <a:p>
            <a:pPr eaLnBrk="0">
              <a:lnSpc>
                <a:spcPts val="1541"/>
              </a:lnSpc>
            </a:pPr>
            <a:r>
              <a:rPr lang="ko-KR" altLang="en-US" sz="1150" b="0" dirty="0">
                <a:solidFill>
                  <a:srgbClr val="262626"/>
                </a:solidFill>
                <a:latin typeface="Malgun Gothic"/>
                <a:ea typeface="Malgun Gothic"/>
                <a:cs typeface="Malgun Gothic"/>
              </a:rPr>
              <a:t>교류 주파수</a:t>
            </a:r>
            <a:r>
              <a:rPr lang="en-US" altLang="ko-KR" sz="1150" b="0" dirty="0">
                <a:solidFill>
                  <a:srgbClr val="262626"/>
                </a:solidFill>
                <a:latin typeface="Malgun Gothic"/>
                <a:ea typeface="Malgun Gothic"/>
                <a:cs typeface="Malgun Gothic"/>
              </a:rPr>
              <a:t>(60Hz)</a:t>
            </a:r>
            <a:r>
              <a:rPr lang="ko-KR" altLang="en-US" sz="1150" b="0" dirty="0">
                <a:solidFill>
                  <a:srgbClr val="262626"/>
                </a:solidFill>
                <a:latin typeface="Malgun Gothic"/>
                <a:ea typeface="Malgun Gothic"/>
                <a:cs typeface="Malgun Gothic"/>
              </a:rPr>
              <a:t>에 따라 이온이 극을 오가며</a:t>
            </a:r>
            <a:endParaRPr lang="en-US" altLang="ko-KR" sz="1150" b="0" dirty="0">
              <a:solidFill>
                <a:srgbClr val="262626"/>
              </a:solidFill>
              <a:latin typeface="Malgun Gothic"/>
              <a:ea typeface="Malgun Gothic"/>
              <a:cs typeface="Malgun Gothic"/>
            </a:endParaRPr>
          </a:p>
          <a:p>
            <a:pPr eaLnBrk="0">
              <a:lnSpc>
                <a:spcPts val="1541"/>
              </a:lnSpc>
            </a:pPr>
            <a:r>
              <a:rPr lang="ko-KR" altLang="en-US" sz="1150" b="0" dirty="0" err="1">
                <a:solidFill>
                  <a:srgbClr val="262626"/>
                </a:solidFill>
                <a:latin typeface="Malgun Gothic"/>
                <a:ea typeface="Malgun Gothic"/>
                <a:cs typeface="Malgun Gothic"/>
              </a:rPr>
              <a:t>진동</a:t>
            </a:r>
            <a:r>
              <a:rPr lang="ko-KR" altLang="ko-KR" sz="1150" dirty="0" err="1">
                <a:solidFill>
                  <a:srgbClr val="262626"/>
                </a:solidFill>
                <a:ea typeface="Malgun Gothic"/>
              </a:rPr>
              <a:t>·</a:t>
            </a:r>
            <a:r>
              <a:rPr lang="ko-KR" altLang="en-US" sz="1150" dirty="0" err="1">
                <a:solidFill>
                  <a:srgbClr val="262626"/>
                </a:solidFill>
                <a:ea typeface="Malgun Gothic"/>
              </a:rPr>
              <a:t>충돌에</a:t>
            </a:r>
            <a:r>
              <a:rPr lang="ko-KR" altLang="en-US" sz="1150" dirty="0">
                <a:solidFill>
                  <a:srgbClr val="262626"/>
                </a:solidFill>
                <a:ea typeface="Malgun Gothic"/>
              </a:rPr>
              <a:t> </a:t>
            </a:r>
            <a:r>
              <a:rPr lang="ko-KR" altLang="en-US" sz="1150" b="0" dirty="0">
                <a:solidFill>
                  <a:srgbClr val="262626"/>
                </a:solidFill>
                <a:latin typeface="Malgun Gothic"/>
                <a:ea typeface="Malgun Gothic"/>
                <a:cs typeface="Malgun Gothic"/>
              </a:rPr>
              <a:t>의한 열 생산</a:t>
            </a:r>
            <a:endParaRPr lang="ko-KR" sz="1150" b="0" dirty="0">
              <a:solidFill>
                <a:srgbClr val="262626"/>
              </a:solidFill>
              <a:latin typeface="Malgun Gothic"/>
              <a:ea typeface="Malgun Gothic"/>
              <a:cs typeface="Malgun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전극보일러의 발열 메커니즘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6</a:t>
            </a:r>
          </a:p>
        </p:txBody>
      </p:sp>
      <p:pic>
        <p:nvPicPr>
          <p:cNvPr id="11" name="Picture 10" descr="p09_2.png"/>
          <p:cNvPicPr>
            <a:picLocks noChangeAspect="1"/>
          </p:cNvPicPr>
          <p:nvPr/>
        </p:nvPicPr>
        <p:blipFill>
          <a:blip r:embed="rId4"/>
          <a:stretch>
            <a:fillRect/>
          </a:stretch>
        </p:blipFill>
        <p:spPr>
          <a:xfrm>
            <a:off x="381000" y="1270000"/>
            <a:ext cx="5181600" cy="3424361"/>
          </a:xfrm>
          <a:prstGeom prst="rect">
            <a:avLst/>
          </a:prstGeom>
          <a:effectLst/>
        </p:spPr>
      </p:pic>
      <p:sp>
        <p:nvSpPr>
          <p:cNvPr id="12" name="TextBox 11"/>
          <p:cNvSpPr txBox="1"/>
          <p:nvPr/>
        </p:nvSpPr>
        <p:spPr>
          <a:xfrm>
            <a:off x="5842000" y="1270000"/>
            <a:ext cx="2921000" cy="342900"/>
          </a:xfrm>
          <a:prstGeom prst="rect">
            <a:avLst/>
          </a:prstGeom>
          <a:noFill/>
          <a:effectLst/>
        </p:spPr>
        <p:txBody>
          <a:bodyPr wrap="none" lIns="0" tIns="0" rIns="0" bIns="0" anchor="t">
            <a:noAutofit/>
          </a:bodyPr>
          <a:lstStyle/>
          <a:p>
            <a:pPr algn="l" eaLnBrk="0" latinLnBrk="0">
              <a:lnSpc>
                <a:spcPts val="2412"/>
              </a:lnSpc>
              <a:spcBef>
                <a:spcPts val="0"/>
              </a:spcBef>
              <a:spcAft>
                <a:spcPts val="0"/>
              </a:spcAft>
            </a:pPr>
            <a:r>
              <a:rPr lang="ko-KR" sz="1800" b="1" dirty="0">
                <a:solidFill>
                  <a:srgbClr val="1F497D"/>
                </a:solidFill>
                <a:latin typeface="Malgun Gothic"/>
                <a:ea typeface="Malgun Gothic"/>
                <a:cs typeface="Malgun Gothic"/>
              </a:rPr>
              <a:t>주요 구성</a:t>
            </a:r>
          </a:p>
        </p:txBody>
      </p:sp>
      <p:sp>
        <p:nvSpPr>
          <p:cNvPr id="13" name="Rectangle 12"/>
          <p:cNvSpPr/>
          <p:nvPr/>
        </p:nvSpPr>
        <p:spPr>
          <a:xfrm>
            <a:off x="5842000" y="1917700"/>
            <a:ext cx="38100" cy="381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6032500" y="1828800"/>
            <a:ext cx="2730500" cy="6096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3상 전원 (R·S·T)</a:t>
            </a:r>
          </a:p>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120° 위상차로 인가</a:t>
            </a:r>
          </a:p>
        </p:txBody>
      </p:sp>
      <p:sp>
        <p:nvSpPr>
          <p:cNvPr id="15" name="Rectangle 14"/>
          <p:cNvSpPr/>
          <p:nvPr/>
        </p:nvSpPr>
        <p:spPr>
          <a:xfrm>
            <a:off x="5842000" y="2844800"/>
            <a:ext cx="38100" cy="38100"/>
          </a:xfrm>
          <a:prstGeom prst="rect">
            <a:avLst/>
          </a:prstGeom>
          <a:solidFill>
            <a:srgbClr val="65758A"/>
          </a:solidFill>
          <a:ln>
            <a:noFill/>
          </a:ln>
          <a:effectLst/>
        </p:spPr>
        <p:txBody>
          <a:bodyPr rtlCol="0" anchor="ctr"/>
          <a:lstStyle/>
          <a:p>
            <a:pPr algn="ctr"/>
            <a:endParaRPr/>
          </a:p>
        </p:txBody>
      </p:sp>
      <p:sp>
        <p:nvSpPr>
          <p:cNvPr id="16" name="TextBox 15"/>
          <p:cNvSpPr txBox="1"/>
          <p:nvPr/>
        </p:nvSpPr>
        <p:spPr>
          <a:xfrm>
            <a:off x="6032500" y="2755900"/>
            <a:ext cx="2730500" cy="6096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물에 잠긴 3상 금속판</a:t>
            </a:r>
          </a:p>
        </p:txBody>
      </p:sp>
      <p:sp>
        <p:nvSpPr>
          <p:cNvPr id="17" name="Rectangle 16"/>
          <p:cNvSpPr/>
          <p:nvPr/>
        </p:nvSpPr>
        <p:spPr>
          <a:xfrm>
            <a:off x="5842000" y="3771900"/>
            <a:ext cx="38100" cy="381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6032500" y="3683000"/>
            <a:ext cx="2730500" cy="6096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인접 전극 사이에 전기장</a:t>
            </a:r>
          </a:p>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(전위차) 형성</a:t>
            </a:r>
          </a:p>
        </p:txBody>
      </p:sp>
      <p:sp>
        <p:nvSpPr>
          <p:cNvPr id="19" name="Rectangle 18"/>
          <p:cNvSpPr/>
          <p:nvPr/>
        </p:nvSpPr>
        <p:spPr>
          <a:xfrm>
            <a:off x="5842000" y="4699000"/>
            <a:ext cx="38100" cy="38100"/>
          </a:xfrm>
          <a:prstGeom prst="rect">
            <a:avLst/>
          </a:prstGeom>
          <a:solidFill>
            <a:srgbClr val="65758A"/>
          </a:solidFill>
          <a:ln>
            <a:noFill/>
          </a:ln>
          <a:effectLst/>
        </p:spPr>
        <p:txBody>
          <a:bodyPr rtlCol="0" anchor="ctr"/>
          <a:lstStyle/>
          <a:p>
            <a:pPr algn="ctr"/>
            <a:endParaRPr/>
          </a:p>
        </p:txBody>
      </p:sp>
      <p:sp>
        <p:nvSpPr>
          <p:cNvPr id="20" name="TextBox 19"/>
          <p:cNvSpPr txBox="1"/>
          <p:nvPr/>
        </p:nvSpPr>
        <p:spPr>
          <a:xfrm>
            <a:off x="6032500" y="4610100"/>
            <a:ext cx="2730500" cy="6096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찬물 유입 → 온수 배출</a:t>
            </a:r>
          </a:p>
        </p:txBody>
      </p:sp>
      <p:sp>
        <p:nvSpPr>
          <p:cNvPr id="21" name="Rectangle 20"/>
          <p:cNvSpPr/>
          <p:nvPr/>
        </p:nvSpPr>
        <p:spPr>
          <a:xfrm>
            <a:off x="381000" y="5727700"/>
            <a:ext cx="8382000" cy="431800"/>
          </a:xfrm>
          <a:prstGeom prst="rect">
            <a:avLst/>
          </a:prstGeom>
          <a:solidFill>
            <a:srgbClr val="F3F5F7"/>
          </a:solidFill>
          <a:ln>
            <a:noFill/>
          </a:ln>
          <a:effectLst/>
        </p:spPr>
        <p:txBody>
          <a:bodyPr rtlCol="0" anchor="ctr"/>
          <a:lstStyle/>
          <a:p>
            <a:pPr algn="ctr"/>
            <a:endParaRPr/>
          </a:p>
        </p:txBody>
      </p:sp>
      <p:sp>
        <p:nvSpPr>
          <p:cNvPr id="22" name="Rectangle 21"/>
          <p:cNvSpPr/>
          <p:nvPr/>
        </p:nvSpPr>
        <p:spPr>
          <a:xfrm>
            <a:off x="381000" y="5727700"/>
            <a:ext cx="25400" cy="4318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546100" y="5813806"/>
            <a:ext cx="80772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1F497D"/>
                </a:solidFill>
                <a:latin typeface="Malgun Gothic"/>
                <a:ea typeface="Malgun Gothic"/>
                <a:cs typeface="Malgun Gothic"/>
              </a:rPr>
              <a:t>인접 전극 사이의 전위차로 전기장이 형성되는 구조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물이 저항체가 되어 발열하는 원리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7</a:t>
            </a:r>
          </a:p>
        </p:txBody>
      </p:sp>
      <p:sp>
        <p:nvSpPr>
          <p:cNvPr id="11" name="Rectangle 10"/>
          <p:cNvSpPr/>
          <p:nvPr/>
        </p:nvSpPr>
        <p:spPr>
          <a:xfrm>
            <a:off x="381000" y="1066800"/>
            <a:ext cx="8382000" cy="546100"/>
          </a:xfrm>
          <a:prstGeom prst="rect">
            <a:avLst/>
          </a:prstGeom>
          <a:solidFill>
            <a:srgbClr val="F3F5F7"/>
          </a:solidFill>
          <a:ln>
            <a:noFill/>
          </a:ln>
          <a:effectLst/>
        </p:spPr>
        <p:txBody>
          <a:bodyPr rtlCol="0" anchor="ctr"/>
          <a:lstStyle/>
          <a:p>
            <a:pPr algn="ctr"/>
            <a:endParaRPr/>
          </a:p>
        </p:txBody>
      </p:sp>
      <p:sp>
        <p:nvSpPr>
          <p:cNvPr id="12" name="Rectangle 11"/>
          <p:cNvSpPr/>
          <p:nvPr/>
        </p:nvSpPr>
        <p:spPr>
          <a:xfrm>
            <a:off x="381000" y="1066800"/>
            <a:ext cx="25400" cy="5461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46100" y="1206500"/>
            <a:ext cx="80772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1F497D"/>
                </a:solidFill>
                <a:latin typeface="Malgun Gothic"/>
                <a:ea typeface="Malgun Gothic"/>
                <a:cs typeface="Malgun Gothic"/>
              </a:rPr>
              <a:t>순수한 물은 절연체에 가까움 → 전해질 이온이 전류의 이동과 저항체 역할을 가능하게 함</a:t>
            </a:r>
          </a:p>
        </p:txBody>
      </p:sp>
      <p:sp>
        <p:nvSpPr>
          <p:cNvPr id="14" name="Rectangle 13"/>
          <p:cNvSpPr/>
          <p:nvPr/>
        </p:nvSpPr>
        <p:spPr>
          <a:xfrm>
            <a:off x="381000" y="1778000"/>
            <a:ext cx="8382000" cy="977900"/>
          </a:xfrm>
          <a:prstGeom prst="rect">
            <a:avLst/>
          </a:prstGeom>
          <a:solidFill>
            <a:srgbClr val="F5F6F8"/>
          </a:solidFill>
          <a:ln>
            <a:solidFill>
              <a:schemeClr val="accent1">
                <a:lumMod val="40000"/>
                <a:lumOff val="60000"/>
              </a:schemeClr>
            </a:solidFill>
          </a:ln>
          <a:effectLst/>
        </p:spPr>
        <p:txBody>
          <a:bodyPr rtlCol="0" anchor="ctr"/>
          <a:lstStyle/>
          <a:p>
            <a:pPr algn="ctr"/>
            <a:endParaRPr/>
          </a:p>
        </p:txBody>
      </p:sp>
      <p:sp>
        <p:nvSpPr>
          <p:cNvPr id="15" name="TextBox 14"/>
          <p:cNvSpPr txBox="1"/>
          <p:nvPr/>
        </p:nvSpPr>
        <p:spPr>
          <a:xfrm>
            <a:off x="558800" y="1879600"/>
            <a:ext cx="79756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01 전해질 이온 생성</a:t>
            </a:r>
          </a:p>
        </p:txBody>
      </p:sp>
      <p:sp>
        <p:nvSpPr>
          <p:cNvPr id="16" name="TextBox 15"/>
          <p:cNvSpPr txBox="1"/>
          <p:nvPr/>
        </p:nvSpPr>
        <p:spPr>
          <a:xfrm>
            <a:off x="558800" y="2235200"/>
            <a:ext cx="7975600" cy="5461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altLang="en-US" sz="1350" b="0" dirty="0">
                <a:solidFill>
                  <a:srgbClr val="262626"/>
                </a:solidFill>
                <a:latin typeface="Malgun Gothic"/>
                <a:ea typeface="Malgun Gothic"/>
                <a:cs typeface="Malgun Gothic"/>
              </a:rPr>
              <a:t>전해질 </a:t>
            </a:r>
            <a:r>
              <a:rPr lang="en-US" alt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탄산나트륨·인산염</a:t>
            </a:r>
            <a:r>
              <a:rPr lang="ko-KR" sz="1350" b="0" dirty="0">
                <a:solidFill>
                  <a:srgbClr val="262626"/>
                </a:solidFill>
                <a:latin typeface="Malgun Gothic"/>
                <a:ea typeface="Malgun Gothic"/>
                <a:cs typeface="Malgun Gothic"/>
              </a:rPr>
              <a:t> 등</a:t>
            </a:r>
            <a:r>
              <a:rPr lang="en-US" altLang="ko-KR" sz="1350" b="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을 첨가하면 </a:t>
            </a:r>
            <a:r>
              <a:rPr lang="ko-KR" altLang="en-US" sz="1350" b="0" dirty="0">
                <a:solidFill>
                  <a:srgbClr val="262626"/>
                </a:solidFill>
                <a:latin typeface="Malgun Gothic"/>
                <a:ea typeface="Malgun Gothic"/>
                <a:cs typeface="Malgun Gothic"/>
              </a:rPr>
              <a:t>양이온</a:t>
            </a:r>
            <a:r>
              <a:rPr lang="en-US" alt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Na</a:t>
            </a:r>
            <a:r>
              <a:rPr lang="ko-KR" sz="1350" b="0" dirty="0">
                <a:solidFill>
                  <a:srgbClr val="262626"/>
                </a:solidFill>
                <a:latin typeface="Malgun Gothic"/>
                <a:ea typeface="Malgun Gothic"/>
                <a:cs typeface="Malgun Gothic"/>
              </a:rPr>
              <a:t>⁺·Ca²⁺</a:t>
            </a:r>
            <a:r>
              <a:rPr lang="en-US" altLang="ko-KR" sz="1350" b="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a:t>
            </a:r>
            <a:r>
              <a:rPr lang="en-US" altLang="ko-KR" sz="1350" b="0" dirty="0">
                <a:solidFill>
                  <a:srgbClr val="262626"/>
                </a:solidFill>
                <a:latin typeface="Malgun Gothic"/>
                <a:ea typeface="Malgun Gothic"/>
                <a:cs typeface="Malgun Gothic"/>
              </a:rPr>
              <a:t> </a:t>
            </a:r>
            <a:r>
              <a:rPr lang="ko-KR" altLang="en-US" sz="1350" dirty="0">
                <a:solidFill>
                  <a:srgbClr val="262626"/>
                </a:solidFill>
                <a:latin typeface="Malgun Gothic"/>
                <a:ea typeface="Malgun Gothic"/>
                <a:cs typeface="Malgun Gothic"/>
              </a:rPr>
              <a:t>음이온</a:t>
            </a:r>
            <a:r>
              <a:rPr lang="en-US" altLang="ko-KR" sz="1350" b="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CO₃²⁻·PO₄³⁻</a:t>
            </a:r>
            <a:r>
              <a:rPr lang="en-US" altLang="ko-KR" sz="1350" b="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 형성</a:t>
            </a: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이온 농도(전도도, µ</a:t>
            </a:r>
            <a:r>
              <a:rPr lang="ko-KR" sz="1350" b="0" dirty="0" err="1">
                <a:solidFill>
                  <a:srgbClr val="262626"/>
                </a:solidFill>
                <a:latin typeface="Malgun Gothic"/>
                <a:ea typeface="Malgun Gothic"/>
                <a:cs typeface="Malgun Gothic"/>
              </a:rPr>
              <a:t>S</a:t>
            </a:r>
            <a:r>
              <a:rPr 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cm</a:t>
            </a:r>
            <a:r>
              <a:rPr lang="ko-KR" sz="1350" b="0" dirty="0">
                <a:solidFill>
                  <a:srgbClr val="262626"/>
                </a:solidFill>
                <a:latin typeface="Malgun Gothic"/>
                <a:ea typeface="Malgun Gothic"/>
                <a:cs typeface="Malgun Gothic"/>
              </a:rPr>
              <a:t>)가 저항 </a:t>
            </a:r>
            <a:r>
              <a:rPr lang="ko-KR" sz="1350" b="0" dirty="0" err="1">
                <a:solidFill>
                  <a:srgbClr val="262626"/>
                </a:solidFill>
                <a:latin typeface="Malgun Gothic"/>
                <a:ea typeface="Malgun Gothic"/>
                <a:cs typeface="Malgun Gothic"/>
              </a:rPr>
              <a:t>R을</a:t>
            </a:r>
            <a:r>
              <a:rPr lang="ko-KR" sz="1350" b="0" dirty="0">
                <a:solidFill>
                  <a:srgbClr val="262626"/>
                </a:solidFill>
                <a:latin typeface="Malgun Gothic"/>
                <a:ea typeface="Malgun Gothic"/>
                <a:cs typeface="Malgun Gothic"/>
              </a:rPr>
              <a:t> 결정: 전도도 ↑ → </a:t>
            </a:r>
            <a:r>
              <a:rPr lang="ko-KR" sz="1350" b="0" dirty="0" err="1">
                <a:solidFill>
                  <a:srgbClr val="262626"/>
                </a:solidFill>
                <a:latin typeface="Malgun Gothic"/>
                <a:ea typeface="Malgun Gothic"/>
                <a:cs typeface="Malgun Gothic"/>
              </a:rPr>
              <a:t>R</a:t>
            </a:r>
            <a:r>
              <a:rPr lang="ko-KR" sz="1350" b="0" dirty="0">
                <a:solidFill>
                  <a:srgbClr val="262626"/>
                </a:solidFill>
                <a:latin typeface="Malgun Gothic"/>
                <a:ea typeface="Malgun Gothic"/>
                <a:cs typeface="Malgun Gothic"/>
              </a:rPr>
              <a:t> ↓</a:t>
            </a:r>
          </a:p>
        </p:txBody>
      </p:sp>
      <p:sp>
        <p:nvSpPr>
          <p:cNvPr id="17" name="Rectangle 16"/>
          <p:cNvSpPr/>
          <p:nvPr/>
        </p:nvSpPr>
        <p:spPr>
          <a:xfrm>
            <a:off x="381000" y="2882900"/>
            <a:ext cx="8382000" cy="977900"/>
          </a:xfrm>
          <a:prstGeom prst="rect">
            <a:avLst/>
          </a:prstGeom>
          <a:solidFill>
            <a:srgbClr val="F5F6F8"/>
          </a:solidFill>
          <a:ln>
            <a:solidFill>
              <a:schemeClr val="accent1">
                <a:lumMod val="40000"/>
                <a:lumOff val="60000"/>
              </a:schemeClr>
            </a:solidFill>
          </a:ln>
          <a:effectLst/>
        </p:spPr>
        <p:txBody>
          <a:bodyPr rtlCol="0" anchor="ctr"/>
          <a:lstStyle/>
          <a:p>
            <a:pPr algn="ctr"/>
            <a:endParaRPr/>
          </a:p>
        </p:txBody>
      </p:sp>
      <p:sp>
        <p:nvSpPr>
          <p:cNvPr id="18" name="TextBox 17"/>
          <p:cNvSpPr txBox="1"/>
          <p:nvPr/>
        </p:nvSpPr>
        <p:spPr>
          <a:xfrm>
            <a:off x="558800" y="2984500"/>
            <a:ext cx="79756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02 전기장 속 이동·충돌</a:t>
            </a:r>
          </a:p>
        </p:txBody>
      </p:sp>
      <p:sp>
        <p:nvSpPr>
          <p:cNvPr id="19" name="TextBox 18"/>
          <p:cNvSpPr txBox="1"/>
          <p:nvPr/>
        </p:nvSpPr>
        <p:spPr>
          <a:xfrm>
            <a:off x="558800" y="3340100"/>
            <a:ext cx="7975600" cy="5461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양이온은 음극, 음이온은 양극 방향으로 가속</a:t>
            </a: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물 분자와 끊임없이 충돌하여 </a:t>
            </a:r>
            <a:r>
              <a:rPr lang="ko-KR" sz="1350" b="0" dirty="0" err="1">
                <a:solidFill>
                  <a:srgbClr val="262626"/>
                </a:solidFill>
                <a:latin typeface="Malgun Gothic"/>
                <a:ea typeface="Malgun Gothic"/>
                <a:cs typeface="Malgun Gothic"/>
              </a:rPr>
              <a:t>드리프트</a:t>
            </a:r>
            <a:r>
              <a:rPr lang="ko-KR" sz="1350" b="0" dirty="0">
                <a:solidFill>
                  <a:srgbClr val="262626"/>
                </a:solidFill>
                <a:latin typeface="Malgun Gothic"/>
                <a:ea typeface="Malgun Gothic"/>
                <a:cs typeface="Malgun Gothic"/>
              </a:rPr>
              <a:t> 속도 이상으로 가속되지 못함</a:t>
            </a:r>
          </a:p>
        </p:txBody>
      </p:sp>
      <p:sp>
        <p:nvSpPr>
          <p:cNvPr id="20" name="Rectangle 19"/>
          <p:cNvSpPr/>
          <p:nvPr/>
        </p:nvSpPr>
        <p:spPr>
          <a:xfrm>
            <a:off x="381000" y="3987800"/>
            <a:ext cx="8382000" cy="977900"/>
          </a:xfrm>
          <a:prstGeom prst="rect">
            <a:avLst/>
          </a:prstGeom>
          <a:solidFill>
            <a:srgbClr val="F5F6F8"/>
          </a:solidFill>
          <a:ln>
            <a:solidFill>
              <a:schemeClr val="accent1">
                <a:lumMod val="40000"/>
                <a:lumOff val="60000"/>
              </a:schemeClr>
            </a:solidFill>
          </a:ln>
          <a:effectLst/>
        </p:spPr>
        <p:txBody>
          <a:bodyPr rtlCol="0" anchor="ctr"/>
          <a:lstStyle/>
          <a:p>
            <a:pPr algn="ctr"/>
            <a:endParaRPr/>
          </a:p>
        </p:txBody>
      </p:sp>
      <p:sp>
        <p:nvSpPr>
          <p:cNvPr id="21" name="TextBox 20"/>
          <p:cNvSpPr txBox="1"/>
          <p:nvPr/>
        </p:nvSpPr>
        <p:spPr>
          <a:xfrm>
            <a:off x="558800" y="4089400"/>
            <a:ext cx="79756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03 충돌 = 저항 = 줄열</a:t>
            </a:r>
          </a:p>
        </p:txBody>
      </p:sp>
      <p:sp>
        <p:nvSpPr>
          <p:cNvPr id="22" name="TextBox 21"/>
          <p:cNvSpPr txBox="1"/>
          <p:nvPr/>
        </p:nvSpPr>
        <p:spPr>
          <a:xfrm>
            <a:off x="558800" y="4445000"/>
            <a:ext cx="6057900" cy="5461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운동에너지가 분자의 무작위 진동, 즉 열에너지로 전환.</a:t>
            </a:r>
          </a:p>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전극 표면뿐 아니라 전류가 흐르는 물 전체 부피에서 동시에 발열.</a:t>
            </a:r>
          </a:p>
        </p:txBody>
      </p:sp>
      <p:sp>
        <p:nvSpPr>
          <p:cNvPr id="24" name="TextBox 23"/>
          <p:cNvSpPr txBox="1"/>
          <p:nvPr/>
        </p:nvSpPr>
        <p:spPr>
          <a:xfrm>
            <a:off x="6741322" y="4263644"/>
            <a:ext cx="1996278" cy="426466"/>
          </a:xfrm>
          <a:prstGeom prst="rect">
            <a:avLst/>
          </a:prstGeom>
          <a:noFill/>
          <a:effectLst/>
        </p:spPr>
        <p:txBody>
          <a:bodyPr wrap="none" lIns="0" tIns="0" rIns="0" bIns="0" anchor="t">
            <a:noAutofit/>
          </a:bodyPr>
          <a:lstStyle/>
          <a:p>
            <a:pPr eaLnBrk="0" latinLnBrk="0">
              <a:lnSpc>
                <a:spcPts val="3082"/>
              </a:lnSpc>
              <a:spcBef>
                <a:spcPts val="0"/>
              </a:spcBef>
              <a:spcAft>
                <a:spcPts val="0"/>
              </a:spcAft>
            </a:pPr>
            <a:r>
              <a:rPr lang="ko-KR" sz="2300" b="1" dirty="0" err="1">
                <a:solidFill>
                  <a:srgbClr val="1F497D"/>
                </a:solidFill>
                <a:latin typeface="Malgun Gothic"/>
                <a:ea typeface="Malgun Gothic"/>
                <a:cs typeface="Malgun Gothic"/>
              </a:rPr>
              <a:t>Q</a:t>
            </a:r>
            <a:r>
              <a:rPr lang="ko-KR" sz="2300" b="1" dirty="0">
                <a:solidFill>
                  <a:srgbClr val="1F497D"/>
                </a:solidFill>
                <a:latin typeface="Malgun Gothic"/>
                <a:ea typeface="Malgun Gothic"/>
                <a:cs typeface="Malgun Gothic"/>
              </a:rPr>
              <a:t> = I²Rt</a:t>
            </a:r>
          </a:p>
        </p:txBody>
      </p:sp>
      <p:sp>
        <p:nvSpPr>
          <p:cNvPr id="25" name="TextBox 24"/>
          <p:cNvSpPr txBox="1"/>
          <p:nvPr/>
        </p:nvSpPr>
        <p:spPr>
          <a:xfrm>
            <a:off x="6756400" y="4682744"/>
            <a:ext cx="1991522" cy="241300"/>
          </a:xfrm>
          <a:prstGeom prst="rect">
            <a:avLst/>
          </a:prstGeom>
          <a:noFill/>
          <a:effectLst/>
        </p:spPr>
        <p:txBody>
          <a:bodyPr wrap="none" lIns="0" tIns="0" rIns="0" bIns="0" anchor="t">
            <a:noAutofit/>
          </a:bodyPr>
          <a:lstStyle/>
          <a:p>
            <a:pPr eaLnBrk="0" latinLnBrk="0">
              <a:lnSpc>
                <a:spcPts val="1407"/>
              </a:lnSpc>
              <a:spcBef>
                <a:spcPts val="0"/>
              </a:spcBef>
              <a:spcAft>
                <a:spcPts val="0"/>
              </a:spcAft>
            </a:pPr>
            <a:r>
              <a:rPr lang="ko-KR" sz="1050" b="0" dirty="0" err="1">
                <a:solidFill>
                  <a:srgbClr val="1F497D"/>
                </a:solidFill>
                <a:latin typeface="Malgun Gothic"/>
                <a:ea typeface="Malgun Gothic"/>
                <a:cs typeface="Malgun Gothic"/>
              </a:rPr>
              <a:t>Q</a:t>
            </a:r>
            <a:r>
              <a:rPr lang="ko-KR" sz="1050" b="0" dirty="0">
                <a:solidFill>
                  <a:srgbClr val="1F497D"/>
                </a:solidFill>
                <a:latin typeface="Malgun Gothic"/>
                <a:ea typeface="Malgun Gothic"/>
                <a:cs typeface="Malgun Gothic"/>
              </a:rPr>
              <a:t> 열량 · </a:t>
            </a:r>
            <a:r>
              <a:rPr lang="ko-KR" sz="1050" b="0" dirty="0" err="1">
                <a:solidFill>
                  <a:srgbClr val="1F497D"/>
                </a:solidFill>
                <a:latin typeface="Malgun Gothic"/>
                <a:ea typeface="Malgun Gothic"/>
                <a:cs typeface="Malgun Gothic"/>
              </a:rPr>
              <a:t>I</a:t>
            </a:r>
            <a:r>
              <a:rPr lang="ko-KR" sz="1050" b="0" dirty="0">
                <a:solidFill>
                  <a:srgbClr val="1F497D"/>
                </a:solidFill>
                <a:latin typeface="Malgun Gothic"/>
                <a:ea typeface="Malgun Gothic"/>
                <a:cs typeface="Malgun Gothic"/>
              </a:rPr>
              <a:t> 전류 · </a:t>
            </a:r>
            <a:r>
              <a:rPr lang="ko-KR" sz="1050" b="0" dirty="0" err="1">
                <a:solidFill>
                  <a:srgbClr val="1F497D"/>
                </a:solidFill>
                <a:latin typeface="Malgun Gothic"/>
                <a:ea typeface="Malgun Gothic"/>
                <a:cs typeface="Malgun Gothic"/>
              </a:rPr>
              <a:t>R</a:t>
            </a:r>
            <a:r>
              <a:rPr lang="ko-KR" sz="1050" b="0" dirty="0">
                <a:solidFill>
                  <a:srgbClr val="1F497D"/>
                </a:solidFill>
                <a:latin typeface="Malgun Gothic"/>
                <a:ea typeface="Malgun Gothic"/>
                <a:cs typeface="Malgun Gothic"/>
              </a:rPr>
              <a:t> 저항 · </a:t>
            </a:r>
            <a:r>
              <a:rPr lang="ko-KR" sz="1050" b="0" dirty="0" err="1">
                <a:solidFill>
                  <a:srgbClr val="1F497D"/>
                </a:solidFill>
                <a:latin typeface="Malgun Gothic"/>
                <a:ea typeface="Malgun Gothic"/>
                <a:cs typeface="Malgun Gothic"/>
              </a:rPr>
              <a:t>t</a:t>
            </a:r>
            <a:r>
              <a:rPr lang="ko-KR" sz="1050" b="0" dirty="0">
                <a:solidFill>
                  <a:srgbClr val="1F497D"/>
                </a:solidFill>
                <a:latin typeface="Malgun Gothic"/>
                <a:ea typeface="Malgun Gothic"/>
                <a:cs typeface="Malgun Gothic"/>
              </a:rPr>
              <a:t> 시간</a:t>
            </a:r>
          </a:p>
        </p:txBody>
      </p:sp>
      <p:sp>
        <p:nvSpPr>
          <p:cNvPr id="26" name="TextBox 25"/>
          <p:cNvSpPr txBox="1"/>
          <p:nvPr/>
        </p:nvSpPr>
        <p:spPr>
          <a:xfrm>
            <a:off x="546100" y="5114290"/>
            <a:ext cx="5118100" cy="296672"/>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dirty="0">
                <a:solidFill>
                  <a:srgbClr val="1F497D"/>
                </a:solidFill>
                <a:latin typeface="Malgun Gothic"/>
                <a:ea typeface="Malgun Gothic"/>
                <a:cs typeface="Malgun Gothic"/>
              </a:rPr>
              <a:t>교류(60 </a:t>
            </a:r>
            <a:r>
              <a:rPr lang="ko-KR" sz="1600" b="1" dirty="0" err="1">
                <a:solidFill>
                  <a:srgbClr val="1F497D"/>
                </a:solidFill>
                <a:latin typeface="Malgun Gothic"/>
                <a:ea typeface="Malgun Gothic"/>
                <a:cs typeface="Malgun Gothic"/>
              </a:rPr>
              <a:t>Hz</a:t>
            </a:r>
            <a:r>
              <a:rPr lang="ko-KR" sz="1600" b="1" dirty="0">
                <a:solidFill>
                  <a:srgbClr val="1F497D"/>
                </a:solidFill>
                <a:latin typeface="Malgun Gothic"/>
                <a:ea typeface="Malgun Gothic"/>
                <a:cs typeface="Malgun Gothic"/>
              </a:rPr>
              <a:t>)</a:t>
            </a:r>
            <a:r>
              <a:rPr lang="ko-KR" sz="1600" b="1" dirty="0" err="1">
                <a:solidFill>
                  <a:srgbClr val="1F497D"/>
                </a:solidFill>
                <a:latin typeface="Malgun Gothic"/>
                <a:ea typeface="Malgun Gothic"/>
                <a:cs typeface="Malgun Gothic"/>
              </a:rPr>
              <a:t>를</a:t>
            </a:r>
            <a:r>
              <a:rPr lang="ko-KR" sz="1600" b="1" dirty="0">
                <a:solidFill>
                  <a:srgbClr val="1F497D"/>
                </a:solidFill>
                <a:latin typeface="Malgun Gothic"/>
                <a:ea typeface="Malgun Gothic"/>
                <a:cs typeface="Malgun Gothic"/>
              </a:rPr>
              <a:t> 사용하는 이유</a:t>
            </a:r>
          </a:p>
        </p:txBody>
      </p:sp>
      <p:sp>
        <p:nvSpPr>
          <p:cNvPr id="27" name="TextBox 26"/>
          <p:cNvSpPr txBox="1"/>
          <p:nvPr/>
        </p:nvSpPr>
        <p:spPr>
          <a:xfrm>
            <a:off x="546100" y="5540248"/>
            <a:ext cx="8077200" cy="55880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altLang="en-US" sz="1300" b="1" dirty="0">
                <a:solidFill>
                  <a:srgbClr val="262626"/>
                </a:solidFill>
                <a:latin typeface="Malgun Gothic"/>
                <a:ea typeface="Malgun Gothic"/>
                <a:cs typeface="Malgun Gothic"/>
              </a:rPr>
              <a:t>직류</a:t>
            </a:r>
            <a:r>
              <a:rPr lang="ko-KR" altLang="en-US" sz="1300" b="0" dirty="0">
                <a:solidFill>
                  <a:srgbClr val="262626"/>
                </a:solidFill>
                <a:latin typeface="Malgun Gothic"/>
                <a:ea typeface="Malgun Gothic"/>
                <a:cs typeface="Malgun Gothic"/>
              </a:rPr>
              <a:t>는 이온이 한쪽으로 쌓여 전기분해</a:t>
            </a:r>
            <a:r>
              <a:rPr lang="en-US" altLang="ko-KR" sz="1300" b="0" dirty="0">
                <a:solidFill>
                  <a:srgbClr val="262626"/>
                </a:solidFill>
                <a:latin typeface="Malgun Gothic"/>
                <a:ea typeface="Malgun Gothic"/>
                <a:cs typeface="Malgun Gothic"/>
              </a:rPr>
              <a:t>(</a:t>
            </a:r>
            <a:r>
              <a:rPr lang="ko-KR" altLang="en-US" sz="1300" b="0" dirty="0">
                <a:solidFill>
                  <a:srgbClr val="262626"/>
                </a:solidFill>
                <a:latin typeface="Malgun Gothic"/>
                <a:ea typeface="Malgun Gothic"/>
                <a:cs typeface="Malgun Gothic"/>
              </a:rPr>
              <a:t>불순물 발생</a:t>
            </a:r>
            <a:r>
              <a:rPr lang="en-US" altLang="ko-KR" sz="1300" b="0" dirty="0">
                <a:solidFill>
                  <a:srgbClr val="262626"/>
                </a:solidFill>
                <a:latin typeface="Malgun Gothic"/>
                <a:ea typeface="Malgun Gothic"/>
                <a:cs typeface="Malgun Gothic"/>
              </a:rPr>
              <a:t>, </a:t>
            </a:r>
            <a:r>
              <a:rPr lang="ko-KR" altLang="en-US" sz="1300" b="0" dirty="0">
                <a:solidFill>
                  <a:srgbClr val="262626"/>
                </a:solidFill>
                <a:latin typeface="Malgun Gothic"/>
                <a:ea typeface="Malgun Gothic"/>
                <a:cs typeface="Malgun Gothic"/>
              </a:rPr>
              <a:t>전극 부식</a:t>
            </a:r>
            <a:r>
              <a:rPr lang="en-US" altLang="ko-KR" sz="1300" b="0" dirty="0">
                <a:solidFill>
                  <a:srgbClr val="262626"/>
                </a:solidFill>
                <a:latin typeface="Malgun Gothic"/>
                <a:ea typeface="Malgun Gothic"/>
                <a:cs typeface="Malgun Gothic"/>
              </a:rPr>
              <a:t>)</a:t>
            </a:r>
            <a:r>
              <a:rPr lang="ko-KR" altLang="en-US" sz="1300" b="0" dirty="0">
                <a:solidFill>
                  <a:srgbClr val="262626"/>
                </a:solidFill>
                <a:latin typeface="Malgun Gothic"/>
                <a:ea typeface="Malgun Gothic"/>
                <a:cs typeface="Malgun Gothic"/>
              </a:rPr>
              <a:t>을 일으킴</a:t>
            </a:r>
            <a:endParaRPr lang="en-US" altLang="ko-KR" sz="1300" b="0" dirty="0">
              <a:solidFill>
                <a:srgbClr val="262626"/>
              </a:solidFill>
              <a:latin typeface="Malgun Gothic"/>
              <a:ea typeface="Malgun Gothic"/>
              <a:cs typeface="Malgun Gothic"/>
            </a:endParaRPr>
          </a:p>
          <a:p>
            <a:pPr algn="l" eaLnBrk="0" latinLnBrk="0">
              <a:lnSpc>
                <a:spcPts val="1742"/>
              </a:lnSpc>
              <a:spcBef>
                <a:spcPts val="0"/>
              </a:spcBef>
              <a:spcAft>
                <a:spcPts val="0"/>
              </a:spcAft>
            </a:pPr>
            <a:endParaRPr lang="en-US" altLang="ko-KR" sz="1300" b="0" dirty="0">
              <a:solidFill>
                <a:srgbClr val="262626"/>
              </a:solidFill>
              <a:latin typeface="Malgun Gothic"/>
              <a:ea typeface="Malgun Gothic"/>
              <a:cs typeface="Malgun Gothic"/>
            </a:endParaRPr>
          </a:p>
          <a:p>
            <a:pPr algn="l" eaLnBrk="0" latinLnBrk="0">
              <a:lnSpc>
                <a:spcPts val="1742"/>
              </a:lnSpc>
              <a:spcBef>
                <a:spcPts val="0"/>
              </a:spcBef>
              <a:spcAft>
                <a:spcPts val="0"/>
              </a:spcAft>
            </a:pPr>
            <a:r>
              <a:rPr lang="ko-KR" altLang="en-US" sz="1300" b="1" dirty="0">
                <a:solidFill>
                  <a:srgbClr val="262626"/>
                </a:solidFill>
                <a:latin typeface="Malgun Gothic"/>
                <a:ea typeface="Malgun Gothic"/>
                <a:cs typeface="Malgun Gothic"/>
              </a:rPr>
              <a:t>교류</a:t>
            </a:r>
            <a:r>
              <a:rPr lang="ko-KR" altLang="en-US" sz="1300" b="0" dirty="0">
                <a:solidFill>
                  <a:srgbClr val="262626"/>
                </a:solidFill>
                <a:latin typeface="Malgun Gothic"/>
                <a:ea typeface="Malgun Gothic"/>
                <a:cs typeface="Malgun Gothic"/>
              </a:rPr>
              <a:t>는 </a:t>
            </a:r>
            <a:r>
              <a:rPr lang="ko-KR" sz="1300" b="0" dirty="0">
                <a:solidFill>
                  <a:srgbClr val="262626"/>
                </a:solidFill>
                <a:latin typeface="Malgun Gothic"/>
                <a:ea typeface="Malgun Gothic"/>
                <a:cs typeface="Malgun Gothic"/>
              </a:rPr>
              <a:t>극성을 빠르게 반전해 왕복 진동과 발열을 유지하</a:t>
            </a:r>
            <a:r>
              <a:rPr lang="ko-KR" altLang="en-US" sz="1300" b="0" dirty="0">
                <a:solidFill>
                  <a:srgbClr val="262626"/>
                </a:solidFill>
                <a:latin typeface="Malgun Gothic"/>
                <a:ea typeface="Malgun Gothic"/>
                <a:cs typeface="Malgun Gothic"/>
              </a:rPr>
              <a:t>여 전기분해 부작용 최소화</a:t>
            </a:r>
            <a:endParaRPr lang="ko-KR" sz="1300" b="0" dirty="0">
              <a:solidFill>
                <a:srgbClr val="262626"/>
              </a:solidFill>
              <a:latin typeface="Malgun Gothic"/>
              <a:ea typeface="Malgun Gothic"/>
              <a:cs typeface="Malgun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3상 교류의 위상과 전류 방향</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8</a:t>
            </a:r>
          </a:p>
        </p:txBody>
      </p:sp>
      <p:pic>
        <p:nvPicPr>
          <p:cNvPr id="11" name="Picture 10" descr="p11_1.png"/>
          <p:cNvPicPr>
            <a:picLocks noChangeAspect="1"/>
          </p:cNvPicPr>
          <p:nvPr/>
        </p:nvPicPr>
        <p:blipFill>
          <a:blip r:embed="rId4"/>
          <a:stretch>
            <a:fillRect/>
          </a:stretch>
        </p:blipFill>
        <p:spPr>
          <a:xfrm>
            <a:off x="381000" y="1231900"/>
            <a:ext cx="5448300" cy="4276846"/>
          </a:xfrm>
          <a:prstGeom prst="rect">
            <a:avLst/>
          </a:prstGeom>
          <a:effectLst/>
        </p:spPr>
      </p:pic>
      <p:sp>
        <p:nvSpPr>
          <p:cNvPr id="12" name="Rectangle 11"/>
          <p:cNvSpPr/>
          <p:nvPr/>
        </p:nvSpPr>
        <p:spPr>
          <a:xfrm>
            <a:off x="6108700" y="1206500"/>
            <a:ext cx="2654300" cy="23622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6108700" y="1206500"/>
            <a:ext cx="25400" cy="23622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6273800" y="1333500"/>
            <a:ext cx="2324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3상 · R / S / T</a:t>
            </a:r>
          </a:p>
        </p:txBody>
      </p:sp>
      <p:sp>
        <p:nvSpPr>
          <p:cNvPr id="15" name="TextBox 14"/>
          <p:cNvSpPr txBox="1"/>
          <p:nvPr/>
        </p:nvSpPr>
        <p:spPr>
          <a:xfrm>
            <a:off x="6273800" y="1739900"/>
            <a:ext cx="2324100" cy="17145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세 파형은 서로 120°씩</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어긋난 타이밍으로 존재.</a:t>
            </a:r>
          </a:p>
          <a:p>
            <a:pPr algn="l" eaLnBrk="0" latinLnBrk="0">
              <a:lnSpc>
                <a:spcPts val="1876"/>
              </a:lnSpc>
              <a:spcBef>
                <a:spcPts val="0"/>
              </a:spcBef>
              <a:spcAft>
                <a:spcPts val="0"/>
              </a:spcAft>
            </a:pPr>
            <a:endParaRPr lang="ko-KR" sz="1400" b="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원문 설명: 어느 순간이든</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하나는 가장 높고,</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하나는 가장 낮음.</a:t>
            </a:r>
          </a:p>
        </p:txBody>
      </p:sp>
      <p:sp>
        <p:nvSpPr>
          <p:cNvPr id="16" name="Rectangle 15"/>
          <p:cNvSpPr/>
          <p:nvPr/>
        </p:nvSpPr>
        <p:spPr>
          <a:xfrm>
            <a:off x="6108700" y="4148010"/>
            <a:ext cx="2654300" cy="1169289"/>
          </a:xfrm>
          <a:prstGeom prst="rect">
            <a:avLst/>
          </a:prstGeom>
          <a:solidFill>
            <a:srgbClr val="FFFFFF"/>
          </a:solidFill>
          <a:ln w="7620">
            <a:solidFill>
              <a:srgbClr val="DEE3E8"/>
            </a:solidFill>
          </a:ln>
          <a:effectLst/>
        </p:spPr>
        <p:txBody>
          <a:bodyPr rtlCol="0" anchor="ctr"/>
          <a:lstStyle/>
          <a:p>
            <a:pPr algn="ctr"/>
            <a:endParaRPr/>
          </a:p>
        </p:txBody>
      </p:sp>
      <p:sp>
        <p:nvSpPr>
          <p:cNvPr id="17" name="Rectangle 16"/>
          <p:cNvSpPr/>
          <p:nvPr/>
        </p:nvSpPr>
        <p:spPr>
          <a:xfrm>
            <a:off x="6108700" y="4148010"/>
            <a:ext cx="25400" cy="1169289"/>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6273800" y="4275010"/>
            <a:ext cx="2324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60 Hz의 경우</a:t>
            </a:r>
          </a:p>
        </p:txBody>
      </p:sp>
      <p:sp>
        <p:nvSpPr>
          <p:cNvPr id="19" name="TextBox 18"/>
          <p:cNvSpPr txBox="1"/>
          <p:nvPr/>
        </p:nvSpPr>
        <p:spPr>
          <a:xfrm>
            <a:off x="6273800" y="4681411"/>
            <a:ext cx="2324100" cy="4826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err="1">
                <a:solidFill>
                  <a:srgbClr val="262626"/>
                </a:solidFill>
                <a:latin typeface="Malgun Gothic"/>
                <a:ea typeface="Malgun Gothic"/>
                <a:cs typeface="Malgun Gothic"/>
              </a:rPr>
              <a:t>t</a:t>
            </a:r>
            <a:r>
              <a:rPr lang="ko-KR" sz="1350" b="0" dirty="0">
                <a:solidFill>
                  <a:srgbClr val="262626"/>
                </a:solidFill>
                <a:latin typeface="Malgun Gothic"/>
                <a:ea typeface="Malgun Gothic"/>
                <a:cs typeface="Malgun Gothic"/>
              </a:rPr>
              <a:t>₁ → </a:t>
            </a:r>
            <a:r>
              <a:rPr lang="ko-KR" sz="1350" b="0" dirty="0" err="1">
                <a:solidFill>
                  <a:srgbClr val="262626"/>
                </a:solidFill>
                <a:latin typeface="Malgun Gothic"/>
                <a:ea typeface="Malgun Gothic"/>
                <a:cs typeface="Malgun Gothic"/>
              </a:rPr>
              <a:t>t</a:t>
            </a:r>
            <a:r>
              <a:rPr lang="ko-KR" sz="1350" b="0" dirty="0">
                <a:solidFill>
                  <a:srgbClr val="262626"/>
                </a:solidFill>
                <a:latin typeface="Malgun Gothic"/>
                <a:ea typeface="Malgun Gothic"/>
                <a:cs typeface="Malgun Gothic"/>
              </a:rPr>
              <a:t>₂ → </a:t>
            </a:r>
            <a:r>
              <a:rPr lang="ko-KR" sz="1350" b="0" dirty="0" err="1">
                <a:solidFill>
                  <a:srgbClr val="262626"/>
                </a:solidFill>
                <a:latin typeface="Malgun Gothic"/>
                <a:ea typeface="Malgun Gothic"/>
                <a:cs typeface="Malgun Gothic"/>
              </a:rPr>
              <a:t>t₃의</a:t>
            </a:r>
            <a:r>
              <a:rPr lang="ko-KR" sz="1350" b="0" dirty="0">
                <a:solidFill>
                  <a:srgbClr val="262626"/>
                </a:solidFill>
                <a:latin typeface="Malgun Gothic"/>
                <a:ea typeface="Malgun Gothic"/>
                <a:cs typeface="Malgun Gothic"/>
              </a:rPr>
              <a:t> 흐름이</a:t>
            </a: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1초에 60번 발생</a:t>
            </a:r>
          </a:p>
          <a:p>
            <a:pPr algn="l" eaLnBrk="0" latinLnBrk="0">
              <a:lnSpc>
                <a:spcPts val="1809"/>
              </a:lnSpc>
              <a:spcBef>
                <a:spcPts val="0"/>
              </a:spcBef>
              <a:spcAft>
                <a:spcPts val="0"/>
              </a:spcAft>
            </a:pPr>
            <a:endParaRPr lang="ko-KR" sz="1350" b="0" dirty="0">
              <a:solidFill>
                <a:srgbClr val="262626"/>
              </a:solidFill>
              <a:latin typeface="Malgun Gothic"/>
              <a:ea typeface="Malgun Gothic"/>
              <a:cs typeface="Malgun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발열량을 좌우하는 실제 설계변수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9</a:t>
            </a:r>
          </a:p>
        </p:txBody>
      </p:sp>
      <p:sp>
        <p:nvSpPr>
          <p:cNvPr id="11" name="Rectangle 10"/>
          <p:cNvSpPr/>
          <p:nvPr/>
        </p:nvSpPr>
        <p:spPr>
          <a:xfrm>
            <a:off x="381000" y="1066800"/>
            <a:ext cx="8382000" cy="520700"/>
          </a:xfrm>
          <a:prstGeom prst="rect">
            <a:avLst/>
          </a:prstGeom>
          <a:solidFill>
            <a:srgbClr val="F3F5F7"/>
          </a:solidFill>
          <a:ln>
            <a:noFill/>
          </a:ln>
          <a:effectLst/>
        </p:spPr>
        <p:txBody>
          <a:bodyPr rtlCol="0" anchor="ctr"/>
          <a:lstStyle/>
          <a:p>
            <a:pPr algn="ctr"/>
            <a:endParaRPr/>
          </a:p>
        </p:txBody>
      </p:sp>
      <p:sp>
        <p:nvSpPr>
          <p:cNvPr id="12" name="Rectangle 11"/>
          <p:cNvSpPr/>
          <p:nvPr/>
        </p:nvSpPr>
        <p:spPr>
          <a:xfrm>
            <a:off x="381000" y="1066800"/>
            <a:ext cx="25400" cy="5207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46100" y="1193800"/>
            <a:ext cx="80772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1F497D"/>
                </a:solidFill>
                <a:latin typeface="Malgun Gothic"/>
                <a:ea typeface="Malgun Gothic"/>
                <a:cs typeface="Malgun Gothic"/>
              </a:rPr>
              <a:t>같은 I²R 관계에서도 실제 설비의 물 저항 </a:t>
            </a:r>
            <a:r>
              <a:rPr lang="ko-KR" sz="1400" b="0" dirty="0" err="1">
                <a:solidFill>
                  <a:srgbClr val="1F497D"/>
                </a:solidFill>
                <a:latin typeface="Malgun Gothic"/>
                <a:ea typeface="Malgun Gothic"/>
                <a:cs typeface="Malgun Gothic"/>
              </a:rPr>
              <a:t>R은</a:t>
            </a:r>
            <a:r>
              <a:rPr lang="ko-KR" sz="1400" b="0" dirty="0">
                <a:solidFill>
                  <a:srgbClr val="1F497D"/>
                </a:solidFill>
                <a:latin typeface="Malgun Gothic"/>
                <a:ea typeface="Malgun Gothic"/>
                <a:cs typeface="Malgun Gothic"/>
              </a:rPr>
              <a:t> </a:t>
            </a:r>
            <a:r>
              <a:rPr lang="ko-KR" sz="1400" b="0" dirty="0" err="1">
                <a:solidFill>
                  <a:srgbClr val="1F497D"/>
                </a:solidFill>
                <a:latin typeface="Malgun Gothic"/>
                <a:ea typeface="Malgun Gothic"/>
                <a:cs typeface="Malgun Gothic"/>
              </a:rPr>
              <a:t>전도도·거리·면적·접촉</a:t>
            </a:r>
            <a:r>
              <a:rPr lang="ko-KR" sz="1400" b="0" dirty="0">
                <a:solidFill>
                  <a:srgbClr val="1F497D"/>
                </a:solidFill>
                <a:latin typeface="Malgun Gothic"/>
                <a:ea typeface="Malgun Gothic"/>
                <a:cs typeface="Malgun Gothic"/>
              </a:rPr>
              <a:t> 조건으로 결정</a:t>
            </a:r>
          </a:p>
        </p:txBody>
      </p:sp>
      <p:graphicFrame>
        <p:nvGraphicFramePr>
          <p:cNvPr id="14" name="Table 13"/>
          <p:cNvGraphicFramePr>
            <a:graphicFrameLocks noGrp="1"/>
          </p:cNvGraphicFramePr>
          <p:nvPr>
            <p:extLst>
              <p:ext uri="{D42A27DB-BD31-4B8C-83A1-F6EECF244321}">
                <p14:modId xmlns:p14="http://schemas.microsoft.com/office/powerpoint/2010/main" val="3228979432"/>
              </p:ext>
            </p:extLst>
          </p:nvPr>
        </p:nvGraphicFramePr>
        <p:xfrm>
          <a:off x="381000" y="1752600"/>
          <a:ext cx="8382000" cy="2425700"/>
        </p:xfrm>
        <a:graphic>
          <a:graphicData uri="http://schemas.openxmlformats.org/drawingml/2006/table">
            <a:tbl>
              <a:tblPr>
                <a:tableStyleId>{5C22544A-7EE6-4342-B048-85BDC9FD1C3A}</a:tableStyleId>
              </a:tblPr>
              <a:tblGrid>
                <a:gridCol w="2959100">
                  <a:extLst>
                    <a:ext uri="{9D8B030D-6E8A-4147-A177-3AD203B41FA5}">
                      <a16:colId xmlns:a16="http://schemas.microsoft.com/office/drawing/2014/main" val="20000"/>
                    </a:ext>
                  </a:extLst>
                </a:gridCol>
                <a:gridCol w="5422900">
                  <a:extLst>
                    <a:ext uri="{9D8B030D-6E8A-4147-A177-3AD203B41FA5}">
                      <a16:colId xmlns:a16="http://schemas.microsoft.com/office/drawing/2014/main" val="20001"/>
                    </a:ext>
                  </a:extLst>
                </a:gridCol>
              </a:tblGrid>
              <a:tr h="3556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설계변수</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저항 R에 미치는 영향</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517525">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전도도 · 전해질 농도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전도도 ↑ → </a:t>
                      </a:r>
                      <a:r>
                        <a:rPr lang="ko-KR" sz="1350" b="0" dirty="0" err="1">
                          <a:solidFill>
                            <a:srgbClr val="262626"/>
                          </a:solidFill>
                          <a:latin typeface="Malgun Gothic"/>
                          <a:ea typeface="Malgun Gothic"/>
                          <a:cs typeface="Malgun Gothic"/>
                        </a:rPr>
                        <a:t>R</a:t>
                      </a:r>
                      <a:r>
                        <a:rPr lang="ko-KR" sz="1350" b="0" dirty="0">
                          <a:solidFill>
                            <a:srgbClr val="262626"/>
                          </a:solidFill>
                          <a:latin typeface="Malgun Gothic"/>
                          <a:ea typeface="Malgun Gothic"/>
                          <a:cs typeface="Malgun Gothic"/>
                        </a:rPr>
                        <a:t> ↓</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7525">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전극 간 거리 </a:t>
                      </a:r>
                      <a:r>
                        <a:rPr lang="ko-KR" sz="1350" b="1" dirty="0" err="1">
                          <a:solidFill>
                            <a:srgbClr val="1F497D"/>
                          </a:solidFill>
                          <a:latin typeface="Malgun Gothic"/>
                          <a:ea typeface="Malgun Gothic"/>
                          <a:cs typeface="Malgun Gothic"/>
                        </a:rPr>
                        <a:t>L</a:t>
                      </a:r>
                      <a:endParaRPr lang="ko-KR" sz="14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거리 ↑ → </a:t>
                      </a:r>
                      <a:r>
                        <a:rPr lang="ko-KR" sz="1350" b="0" dirty="0" err="1">
                          <a:solidFill>
                            <a:srgbClr val="262626"/>
                          </a:solidFill>
                          <a:latin typeface="Malgun Gothic"/>
                          <a:ea typeface="Malgun Gothic"/>
                          <a:cs typeface="Malgun Gothic"/>
                        </a:rPr>
                        <a:t>R</a:t>
                      </a:r>
                      <a:r>
                        <a:rPr lang="ko-KR" sz="1350" b="0" dirty="0">
                          <a:solidFill>
                            <a:srgbClr val="262626"/>
                          </a:solidFill>
                          <a:latin typeface="Malgun Gothic"/>
                          <a:ea typeface="Malgun Gothic"/>
                          <a:cs typeface="Malgun Gothic"/>
                        </a:rPr>
                        <a:t> ↑</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7525">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유효 접촉면적 </a:t>
                      </a:r>
                      <a:r>
                        <a:rPr lang="ko-KR" sz="1350" b="1" dirty="0" err="1">
                          <a:solidFill>
                            <a:srgbClr val="1F497D"/>
                          </a:solidFill>
                          <a:latin typeface="Malgun Gothic"/>
                          <a:ea typeface="Malgun Gothic"/>
                          <a:cs typeface="Malgun Gothic"/>
                        </a:rPr>
                        <a:t>A</a:t>
                      </a:r>
                      <a:endParaRPr lang="ko-KR" sz="14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면적 ↑ → </a:t>
                      </a:r>
                      <a:r>
                        <a:rPr lang="ko-KR" sz="1350" b="0" dirty="0" err="1">
                          <a:solidFill>
                            <a:srgbClr val="262626"/>
                          </a:solidFill>
                          <a:latin typeface="Malgun Gothic"/>
                          <a:ea typeface="Malgun Gothic"/>
                          <a:cs typeface="Malgun Gothic"/>
                        </a:rPr>
                        <a:t>R</a:t>
                      </a:r>
                      <a:r>
                        <a:rPr lang="ko-KR" sz="1350" b="0" dirty="0">
                          <a:solidFill>
                            <a:srgbClr val="262626"/>
                          </a:solidFill>
                          <a:latin typeface="Malgun Gothic"/>
                          <a:ea typeface="Malgun Gothic"/>
                          <a:cs typeface="Malgun Gothic"/>
                        </a:rPr>
                        <a:t> ↓</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7525">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침수 깊이 / </a:t>
                      </a:r>
                      <a:r>
                        <a:rPr lang="ko-KR" sz="1350" b="1" dirty="0" err="1">
                          <a:solidFill>
                            <a:srgbClr val="1F497D"/>
                          </a:solidFill>
                          <a:latin typeface="Malgun Gothic"/>
                          <a:ea typeface="Malgun Gothic"/>
                          <a:cs typeface="Malgun Gothic"/>
                        </a:rPr>
                        <a:t>분사량</a:t>
                      </a:r>
                      <a:endParaRPr lang="ko-KR" sz="14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유효 저항 경로를 실시간 조절</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Rectangle 14"/>
          <p:cNvSpPr/>
          <p:nvPr/>
        </p:nvSpPr>
        <p:spPr>
          <a:xfrm>
            <a:off x="381000" y="4607433"/>
            <a:ext cx="2540000" cy="1320800"/>
          </a:xfrm>
          <a:prstGeom prst="rect">
            <a:avLst/>
          </a:prstGeom>
          <a:solidFill>
            <a:srgbClr val="E8EDF2"/>
          </a:solidFill>
          <a:ln>
            <a:solidFill>
              <a:schemeClr val="accent1">
                <a:lumMod val="40000"/>
                <a:lumOff val="60000"/>
              </a:schemeClr>
            </a:solidFill>
          </a:ln>
          <a:effectLst/>
        </p:spPr>
        <p:txBody>
          <a:bodyPr rtlCol="0" anchor="ctr"/>
          <a:lstStyle/>
          <a:p>
            <a:pPr algn="ctr"/>
            <a:endParaRPr/>
          </a:p>
        </p:txBody>
      </p:sp>
      <p:sp>
        <p:nvSpPr>
          <p:cNvPr id="16" name="TextBox 15"/>
          <p:cNvSpPr txBox="1"/>
          <p:nvPr/>
        </p:nvSpPr>
        <p:spPr>
          <a:xfrm>
            <a:off x="546100" y="4810633"/>
            <a:ext cx="2235200" cy="463550"/>
          </a:xfrm>
          <a:prstGeom prst="rect">
            <a:avLst/>
          </a:prstGeom>
          <a:noFill/>
          <a:effectLst/>
        </p:spPr>
        <p:txBody>
          <a:bodyPr wrap="none" lIns="0" tIns="0" rIns="0" bIns="0" anchor="t">
            <a:noAutofit/>
          </a:bodyPr>
          <a:lstStyle/>
          <a:p>
            <a:pPr algn="ctr" eaLnBrk="0" latinLnBrk="0">
              <a:lnSpc>
                <a:spcPts val="3350"/>
              </a:lnSpc>
              <a:spcBef>
                <a:spcPts val="0"/>
              </a:spcBef>
              <a:spcAft>
                <a:spcPts val="0"/>
              </a:spcAft>
            </a:pPr>
            <a:r>
              <a:rPr lang="ko-KR" sz="2500" b="1">
                <a:solidFill>
                  <a:srgbClr val="1F497D"/>
                </a:solidFill>
                <a:latin typeface="Malgun Gothic"/>
                <a:ea typeface="Malgun Gothic"/>
                <a:cs typeface="Malgun Gothic"/>
              </a:rPr>
              <a:t>P = V² / R</a:t>
            </a:r>
          </a:p>
        </p:txBody>
      </p:sp>
      <p:sp>
        <p:nvSpPr>
          <p:cNvPr id="17" name="TextBox 16"/>
          <p:cNvSpPr txBox="1"/>
          <p:nvPr/>
        </p:nvSpPr>
        <p:spPr>
          <a:xfrm>
            <a:off x="546100" y="5394833"/>
            <a:ext cx="2235200" cy="304800"/>
          </a:xfrm>
          <a:prstGeom prst="rect">
            <a:avLst/>
          </a:prstGeom>
          <a:noFill/>
          <a:effectLst/>
        </p:spPr>
        <p:txBody>
          <a:bodyPr wrap="none" lIns="0" tIns="0" rIns="0" bIns="0" anchor="t">
            <a:noAutofit/>
          </a:bodyPr>
          <a:lstStyle/>
          <a:p>
            <a:pPr algn="ctr" eaLnBrk="0" latinLnBrk="0">
              <a:lnSpc>
                <a:spcPts val="1607"/>
              </a:lnSpc>
              <a:spcBef>
                <a:spcPts val="0"/>
              </a:spcBef>
              <a:spcAft>
                <a:spcPts val="0"/>
              </a:spcAft>
            </a:pPr>
            <a:r>
              <a:rPr lang="ko-KR" sz="1200" b="0">
                <a:solidFill>
                  <a:srgbClr val="1F497D"/>
                </a:solidFill>
                <a:latin typeface="Malgun Gothic"/>
                <a:ea typeface="Malgun Gothic"/>
                <a:cs typeface="Malgun Gothic"/>
              </a:rPr>
              <a:t>전압 일정 → R로 출력 조절</a:t>
            </a:r>
          </a:p>
        </p:txBody>
      </p:sp>
      <p:sp>
        <p:nvSpPr>
          <p:cNvPr id="18" name="TextBox 17"/>
          <p:cNvSpPr txBox="1"/>
          <p:nvPr/>
        </p:nvSpPr>
        <p:spPr>
          <a:xfrm>
            <a:off x="3111500" y="4775200"/>
            <a:ext cx="5588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실제 운전 방식</a:t>
            </a:r>
          </a:p>
        </p:txBody>
      </p:sp>
      <p:sp>
        <p:nvSpPr>
          <p:cNvPr id="19" name="TextBox 18"/>
          <p:cNvSpPr txBox="1"/>
          <p:nvPr/>
        </p:nvSpPr>
        <p:spPr>
          <a:xfrm>
            <a:off x="3111500" y="5207000"/>
            <a:ext cx="5588000" cy="55257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전압 </a:t>
            </a:r>
            <a:r>
              <a:rPr lang="ko-KR" sz="1400" b="0" dirty="0" err="1">
                <a:solidFill>
                  <a:srgbClr val="262626"/>
                </a:solidFill>
                <a:latin typeface="Malgun Gothic"/>
                <a:ea typeface="Malgun Gothic"/>
                <a:cs typeface="Malgun Gothic"/>
              </a:rPr>
              <a:t>V를</a:t>
            </a:r>
            <a:r>
              <a:rPr lang="ko-KR" sz="1400" b="0" dirty="0">
                <a:solidFill>
                  <a:srgbClr val="262626"/>
                </a:solidFill>
                <a:latin typeface="Malgun Gothic"/>
                <a:ea typeface="Malgun Gothic"/>
                <a:cs typeface="Malgun Gothic"/>
              </a:rPr>
              <a:t> 일정하게 유지하고</a:t>
            </a:r>
            <a:r>
              <a:rPr lang="en-US" altLang="ko-KR" sz="1400" b="0" dirty="0">
                <a:solidFill>
                  <a:srgbClr val="262626"/>
                </a:solidFill>
                <a:latin typeface="Malgun Gothic"/>
                <a:ea typeface="Malgun Gothic"/>
                <a:cs typeface="Malgun Gothic"/>
              </a:rPr>
              <a:t>,</a:t>
            </a:r>
            <a:r>
              <a:rPr lang="ko-KR" sz="1400" b="0" dirty="0">
                <a:solidFill>
                  <a:srgbClr val="262626"/>
                </a:solidFill>
                <a:latin typeface="Malgun Gothic"/>
                <a:ea typeface="Malgun Gothic"/>
                <a:cs typeface="Malgun Gothic"/>
              </a:rPr>
              <a:t> </a:t>
            </a:r>
            <a:endParaRPr lang="en-US" alt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침수 깊이나 </a:t>
            </a:r>
            <a:r>
              <a:rPr lang="ko-KR" sz="1400" b="0" dirty="0" err="1">
                <a:solidFill>
                  <a:srgbClr val="262626"/>
                </a:solidFill>
                <a:latin typeface="Malgun Gothic"/>
                <a:ea typeface="Malgun Gothic"/>
                <a:cs typeface="Malgun Gothic"/>
              </a:rPr>
              <a:t>분사량으로</a:t>
            </a:r>
            <a:r>
              <a:rPr lang="en-US" altLang="ko-KR" sz="140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저항 </a:t>
            </a:r>
            <a:r>
              <a:rPr lang="ko-KR" sz="1400" b="0" dirty="0" err="1">
                <a:solidFill>
                  <a:srgbClr val="262626"/>
                </a:solidFill>
                <a:latin typeface="Malgun Gothic"/>
                <a:ea typeface="Malgun Gothic"/>
                <a:cs typeface="Malgun Gothic"/>
              </a:rPr>
              <a:t>R을</a:t>
            </a:r>
            <a:r>
              <a:rPr lang="ko-KR" sz="1400" b="0" dirty="0">
                <a:solidFill>
                  <a:srgbClr val="262626"/>
                </a:solidFill>
                <a:latin typeface="Malgun Gothic"/>
                <a:ea typeface="Malgun Gothic"/>
                <a:cs typeface="Malgun Gothic"/>
              </a:rPr>
              <a:t> 조절하여</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필요한 출력 </a:t>
            </a:r>
            <a:r>
              <a:rPr lang="ko-KR" sz="1400" b="0" dirty="0" err="1">
                <a:solidFill>
                  <a:srgbClr val="262626"/>
                </a:solidFill>
                <a:latin typeface="Malgun Gothic"/>
                <a:ea typeface="Malgun Gothic"/>
                <a:cs typeface="Malgun Gothic"/>
              </a:rPr>
              <a:t>P를</a:t>
            </a:r>
            <a:r>
              <a:rPr lang="ko-KR" sz="1400" b="0" dirty="0">
                <a:solidFill>
                  <a:srgbClr val="262626"/>
                </a:solidFill>
                <a:latin typeface="Malgun Gothic"/>
                <a:ea typeface="Malgun Gothic"/>
                <a:cs typeface="Malgun Gothic"/>
              </a:rPr>
              <a:t> 맞추는 방식</a:t>
            </a:r>
          </a:p>
          <a:p>
            <a:pPr algn="l" eaLnBrk="0" latinLnBrk="0">
              <a:lnSpc>
                <a:spcPts val="1876"/>
              </a:lnSpc>
              <a:spcBef>
                <a:spcPts val="0"/>
              </a:spcBef>
              <a:spcAft>
                <a:spcPts val="0"/>
              </a:spcAft>
            </a:pPr>
            <a:endParaRPr lang="ko-KR" sz="1400" b="0" dirty="0">
              <a:solidFill>
                <a:srgbClr val="262626"/>
              </a:solidFill>
              <a:latin typeface="Malgun Gothic"/>
              <a:ea typeface="Malgun Gothic"/>
              <a:cs typeface="Malgun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전극 간 </a:t>
            </a:r>
            <a:r>
              <a:rPr lang="ko-KR" sz="2500" b="1" dirty="0" err="1">
                <a:solidFill>
                  <a:srgbClr val="1F497D"/>
                </a:solidFill>
                <a:latin typeface="Malgun Gothic"/>
                <a:ea typeface="Malgun Gothic"/>
                <a:cs typeface="Malgun Gothic"/>
              </a:rPr>
              <a:t>거리·면적과</a:t>
            </a:r>
            <a:r>
              <a:rPr lang="ko-KR" sz="2500" b="1" dirty="0">
                <a:solidFill>
                  <a:srgbClr val="1F497D"/>
                </a:solidFill>
                <a:latin typeface="Malgun Gothic"/>
                <a:ea typeface="Malgun Gothic"/>
                <a:cs typeface="Malgun Gothic"/>
              </a:rPr>
              <a:t> 저항의 관계</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10</a:t>
            </a:r>
          </a:p>
        </p:txBody>
      </p:sp>
      <p:sp>
        <p:nvSpPr>
          <p:cNvPr id="11" name="Rectangle 10"/>
          <p:cNvSpPr/>
          <p:nvPr/>
        </p:nvSpPr>
        <p:spPr>
          <a:xfrm>
            <a:off x="381000" y="1066800"/>
            <a:ext cx="8382000" cy="673100"/>
          </a:xfrm>
          <a:prstGeom prst="rect">
            <a:avLst/>
          </a:prstGeom>
          <a:solidFill>
            <a:srgbClr val="E8EDF2"/>
          </a:solidFill>
          <a:ln>
            <a:noFill/>
          </a:ln>
          <a:effectLst/>
        </p:spPr>
        <p:txBody>
          <a:bodyPr rtlCol="0" anchor="ctr"/>
          <a:lstStyle/>
          <a:p>
            <a:pPr algn="ctr"/>
            <a:endParaRPr/>
          </a:p>
        </p:txBody>
      </p:sp>
      <p:sp>
        <p:nvSpPr>
          <p:cNvPr id="12" name="TextBox 11"/>
          <p:cNvSpPr txBox="1"/>
          <p:nvPr/>
        </p:nvSpPr>
        <p:spPr>
          <a:xfrm>
            <a:off x="546100" y="1193800"/>
            <a:ext cx="8051800" cy="482092"/>
          </a:xfrm>
          <a:prstGeom prst="rect">
            <a:avLst/>
          </a:prstGeom>
          <a:noFill/>
          <a:effectLst/>
        </p:spPr>
        <p:txBody>
          <a:bodyPr wrap="none" lIns="0" tIns="0" rIns="0" bIns="0" anchor="t">
            <a:noAutofit/>
          </a:bodyPr>
          <a:lstStyle/>
          <a:p>
            <a:pPr algn="ctr" eaLnBrk="0" latinLnBrk="0">
              <a:lnSpc>
                <a:spcPts val="3484"/>
              </a:lnSpc>
              <a:spcBef>
                <a:spcPts val="0"/>
              </a:spcBef>
              <a:spcAft>
                <a:spcPts val="0"/>
              </a:spcAft>
            </a:pPr>
            <a:r>
              <a:rPr lang="ko-KR" sz="2600" b="1" dirty="0" err="1">
                <a:solidFill>
                  <a:srgbClr val="1F497D"/>
                </a:solidFill>
                <a:latin typeface="Malgun Gothic"/>
                <a:ea typeface="Malgun Gothic"/>
                <a:cs typeface="Malgun Gothic"/>
              </a:rPr>
              <a:t>R</a:t>
            </a:r>
            <a:r>
              <a:rPr lang="ko-KR" sz="2600" b="1" dirty="0">
                <a:solidFill>
                  <a:srgbClr val="1F497D"/>
                </a:solidFill>
                <a:latin typeface="Malgun Gothic"/>
                <a:ea typeface="Malgun Gothic"/>
                <a:cs typeface="Malgun Gothic"/>
              </a:rPr>
              <a:t> = </a:t>
            </a:r>
            <a:r>
              <a:rPr lang="ko-KR" sz="2600" b="1" i="1" dirty="0" err="1">
                <a:solidFill>
                  <a:srgbClr val="1F497D"/>
                </a:solidFill>
                <a:latin typeface="Malgun Gothic"/>
                <a:ea typeface="Malgun Gothic"/>
                <a:cs typeface="Malgun Gothic"/>
              </a:rPr>
              <a:t>ρ</a:t>
            </a:r>
            <a:r>
              <a:rPr lang="ko-KR" sz="2600" b="1" dirty="0">
                <a:solidFill>
                  <a:srgbClr val="1F497D"/>
                </a:solidFill>
                <a:latin typeface="Malgun Gothic"/>
                <a:ea typeface="Malgun Gothic"/>
                <a:cs typeface="Malgun Gothic"/>
              </a:rPr>
              <a:t> × (</a:t>
            </a:r>
            <a:r>
              <a:rPr lang="ko-KR" sz="2600" b="1" dirty="0" err="1">
                <a:solidFill>
                  <a:srgbClr val="1F497D"/>
                </a:solidFill>
                <a:latin typeface="Malgun Gothic"/>
                <a:ea typeface="Malgun Gothic"/>
                <a:cs typeface="Malgun Gothic"/>
              </a:rPr>
              <a:t>L</a:t>
            </a:r>
            <a:r>
              <a:rPr lang="ko-KR" sz="2600" b="1" dirty="0">
                <a:solidFill>
                  <a:srgbClr val="1F497D"/>
                </a:solidFill>
                <a:latin typeface="Malgun Gothic"/>
                <a:ea typeface="Malgun Gothic"/>
                <a:cs typeface="Malgun Gothic"/>
              </a:rPr>
              <a:t> / </a:t>
            </a:r>
            <a:r>
              <a:rPr lang="ko-KR" sz="2600" b="1" dirty="0" err="1">
                <a:solidFill>
                  <a:srgbClr val="1F497D"/>
                </a:solidFill>
                <a:latin typeface="Malgun Gothic"/>
                <a:ea typeface="Malgun Gothic"/>
                <a:cs typeface="Malgun Gothic"/>
              </a:rPr>
              <a:t>A</a:t>
            </a:r>
            <a:r>
              <a:rPr lang="ko-KR" sz="2600" b="1" dirty="0">
                <a:solidFill>
                  <a:srgbClr val="1F497D"/>
                </a:solidFill>
                <a:latin typeface="Malgun Gothic"/>
                <a:ea typeface="Malgun Gothic"/>
                <a:cs typeface="Malgun Gothic"/>
              </a:rPr>
              <a:t>)</a:t>
            </a:r>
          </a:p>
        </p:txBody>
      </p:sp>
      <p:sp>
        <p:nvSpPr>
          <p:cNvPr id="13" name="Rectangle 12"/>
          <p:cNvSpPr/>
          <p:nvPr/>
        </p:nvSpPr>
        <p:spPr>
          <a:xfrm>
            <a:off x="736600" y="2413000"/>
            <a:ext cx="2908300" cy="1993900"/>
          </a:xfrm>
          <a:prstGeom prst="rect">
            <a:avLst/>
          </a:prstGeom>
          <a:solidFill>
            <a:srgbClr val="E6EEF7"/>
          </a:solidFill>
          <a:ln>
            <a:noFill/>
          </a:ln>
          <a:effectLst/>
        </p:spPr>
        <p:txBody>
          <a:bodyPr rtlCol="0" anchor="ctr"/>
          <a:lstStyle/>
          <a:p>
            <a:pPr algn="ctr"/>
            <a:endParaRPr/>
          </a:p>
        </p:txBody>
      </p:sp>
      <p:sp>
        <p:nvSpPr>
          <p:cNvPr id="14" name="Rectangle 13"/>
          <p:cNvSpPr/>
          <p:nvPr/>
        </p:nvSpPr>
        <p:spPr>
          <a:xfrm>
            <a:off x="609600" y="2286000"/>
            <a:ext cx="127000" cy="2247900"/>
          </a:xfrm>
          <a:prstGeom prst="rect">
            <a:avLst/>
          </a:prstGeom>
          <a:solidFill>
            <a:srgbClr val="8997A8"/>
          </a:solidFill>
          <a:ln>
            <a:noFill/>
          </a:ln>
          <a:effectLst/>
        </p:spPr>
        <p:txBody>
          <a:bodyPr rtlCol="0" anchor="ctr"/>
          <a:lstStyle/>
          <a:p>
            <a:pPr algn="ctr"/>
            <a:endParaRPr/>
          </a:p>
        </p:txBody>
      </p:sp>
      <p:sp>
        <p:nvSpPr>
          <p:cNvPr id="15" name="Rectangle 14"/>
          <p:cNvSpPr/>
          <p:nvPr/>
        </p:nvSpPr>
        <p:spPr>
          <a:xfrm>
            <a:off x="3644900" y="2286000"/>
            <a:ext cx="127000" cy="2247900"/>
          </a:xfrm>
          <a:prstGeom prst="rect">
            <a:avLst/>
          </a:prstGeom>
          <a:solidFill>
            <a:srgbClr val="8997A8"/>
          </a:solidFill>
          <a:ln>
            <a:noFill/>
          </a:ln>
          <a:effectLst/>
        </p:spPr>
        <p:txBody>
          <a:bodyPr rtlCol="0" anchor="ctr"/>
          <a:lstStyle/>
          <a:p>
            <a:pPr algn="ctr"/>
            <a:endParaRPr/>
          </a:p>
        </p:txBody>
      </p:sp>
      <p:sp>
        <p:nvSpPr>
          <p:cNvPr id="16" name="TextBox 15"/>
          <p:cNvSpPr txBox="1"/>
          <p:nvPr/>
        </p:nvSpPr>
        <p:spPr>
          <a:xfrm>
            <a:off x="546100" y="1943100"/>
            <a:ext cx="889000" cy="30480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1">
                <a:solidFill>
                  <a:srgbClr val="1F497D"/>
                </a:solidFill>
                <a:latin typeface="Malgun Gothic"/>
                <a:ea typeface="Malgun Gothic"/>
                <a:cs typeface="Malgun Gothic"/>
              </a:rPr>
              <a:t>전극판</a:t>
            </a:r>
          </a:p>
        </p:txBody>
      </p:sp>
      <p:sp>
        <p:nvSpPr>
          <p:cNvPr id="17" name="TextBox 16"/>
          <p:cNvSpPr txBox="1"/>
          <p:nvPr/>
        </p:nvSpPr>
        <p:spPr>
          <a:xfrm>
            <a:off x="3327400" y="1943100"/>
            <a:ext cx="889000" cy="30480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1">
                <a:solidFill>
                  <a:srgbClr val="1F497D"/>
                </a:solidFill>
                <a:latin typeface="Malgun Gothic"/>
                <a:ea typeface="Malgun Gothic"/>
                <a:cs typeface="Malgun Gothic"/>
              </a:rPr>
              <a:t>전극판</a:t>
            </a:r>
          </a:p>
        </p:txBody>
      </p:sp>
      <p:sp>
        <p:nvSpPr>
          <p:cNvPr id="18" name="TextBox 17"/>
          <p:cNvSpPr txBox="1"/>
          <p:nvPr/>
        </p:nvSpPr>
        <p:spPr>
          <a:xfrm>
            <a:off x="876300" y="3187700"/>
            <a:ext cx="2616200" cy="355600"/>
          </a:xfrm>
          <a:prstGeom prst="rect">
            <a:avLst/>
          </a:prstGeom>
          <a:noFill/>
          <a:effectLst/>
        </p:spPr>
        <p:txBody>
          <a:bodyPr wrap="none" lIns="0" tIns="0" rIns="0" bIns="0" anchor="t">
            <a:noAutofit/>
          </a:bodyPr>
          <a:lstStyle/>
          <a:p>
            <a:pPr algn="ctr" eaLnBrk="0" latinLnBrk="0">
              <a:lnSpc>
                <a:spcPts val="2278"/>
              </a:lnSpc>
              <a:spcBef>
                <a:spcPts val="0"/>
              </a:spcBef>
              <a:spcAft>
                <a:spcPts val="0"/>
              </a:spcAft>
            </a:pPr>
            <a:r>
              <a:rPr lang="ko-KR" sz="1700" b="1" dirty="0">
                <a:solidFill>
                  <a:srgbClr val="1F497D"/>
                </a:solidFill>
                <a:latin typeface="Malgun Gothic"/>
                <a:ea typeface="Malgun Gothic"/>
                <a:cs typeface="Malgun Gothic"/>
              </a:rPr>
              <a:t>전해질(물) </a:t>
            </a:r>
            <a:r>
              <a:rPr lang="ko-KR" sz="1700" b="1" i="1" dirty="0" err="1">
                <a:solidFill>
                  <a:srgbClr val="1F497D"/>
                </a:solidFill>
                <a:latin typeface="Malgun Gothic"/>
                <a:ea typeface="Malgun Gothic"/>
                <a:cs typeface="Malgun Gothic"/>
              </a:rPr>
              <a:t>ρ</a:t>
            </a:r>
            <a:endParaRPr lang="ko-KR" sz="1700" b="1" i="1" dirty="0">
              <a:solidFill>
                <a:srgbClr val="1F497D"/>
              </a:solidFill>
              <a:latin typeface="Malgun Gothic"/>
              <a:ea typeface="Malgun Gothic"/>
              <a:cs typeface="Malgun Gothic"/>
            </a:endParaRPr>
          </a:p>
        </p:txBody>
      </p:sp>
      <p:cxnSp>
        <p:nvCxnSpPr>
          <p:cNvPr id="19" name="Connector 18"/>
          <p:cNvCxnSpPr/>
          <p:nvPr/>
        </p:nvCxnSpPr>
        <p:spPr>
          <a:xfrm>
            <a:off x="749300" y="4737100"/>
            <a:ext cx="2895600" cy="0"/>
          </a:xfrm>
          <a:prstGeom prst="line">
            <a:avLst/>
          </a:prstGeom>
          <a:ln w="12700">
            <a:solidFill>
              <a:srgbClr val="65758A"/>
            </a:solidFill>
          </a:ln>
          <a:effectLst/>
        </p:spPr>
      </p:cxnSp>
      <p:sp>
        <p:nvSpPr>
          <p:cNvPr id="20" name="TextBox 19"/>
          <p:cNvSpPr txBox="1"/>
          <p:nvPr/>
        </p:nvSpPr>
        <p:spPr>
          <a:xfrm>
            <a:off x="787400" y="4851400"/>
            <a:ext cx="2832100" cy="292100"/>
          </a:xfrm>
          <a:prstGeom prst="rect">
            <a:avLst/>
          </a:prstGeom>
          <a:noFill/>
          <a:effectLst/>
        </p:spPr>
        <p:txBody>
          <a:bodyPr wrap="none" lIns="0" tIns="0" rIns="0" bIns="0" anchor="t">
            <a:noAutofit/>
          </a:bodyPr>
          <a:lstStyle/>
          <a:p>
            <a:pPr algn="ctr" eaLnBrk="0" latinLnBrk="0">
              <a:lnSpc>
                <a:spcPts val="1742"/>
              </a:lnSpc>
              <a:spcBef>
                <a:spcPts val="0"/>
              </a:spcBef>
              <a:spcAft>
                <a:spcPts val="0"/>
              </a:spcAft>
            </a:pPr>
            <a:r>
              <a:rPr lang="ko-KR" sz="1300" b="0">
                <a:solidFill>
                  <a:srgbClr val="1F497D"/>
                </a:solidFill>
                <a:latin typeface="Malgun Gothic"/>
                <a:ea typeface="Malgun Gothic"/>
                <a:cs typeface="Malgun Gothic"/>
              </a:rPr>
              <a:t>L · 전극 간 거리</a:t>
            </a:r>
          </a:p>
        </p:txBody>
      </p:sp>
      <p:sp>
        <p:nvSpPr>
          <p:cNvPr id="21" name="TextBox 20"/>
          <p:cNvSpPr txBox="1"/>
          <p:nvPr/>
        </p:nvSpPr>
        <p:spPr>
          <a:xfrm>
            <a:off x="381000" y="3073400"/>
            <a:ext cx="228600" cy="3048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1">
                <a:solidFill>
                  <a:srgbClr val="1F497D"/>
                </a:solidFill>
                <a:latin typeface="Malgun Gothic"/>
                <a:ea typeface="Malgun Gothic"/>
                <a:cs typeface="Malgun Gothic"/>
              </a:rPr>
              <a:t>A</a:t>
            </a:r>
          </a:p>
        </p:txBody>
      </p:sp>
      <p:sp>
        <p:nvSpPr>
          <p:cNvPr id="22" name="Rectangle 21"/>
          <p:cNvSpPr/>
          <p:nvPr/>
        </p:nvSpPr>
        <p:spPr>
          <a:xfrm>
            <a:off x="4203700" y="1968500"/>
            <a:ext cx="4559300" cy="990600"/>
          </a:xfrm>
          <a:prstGeom prst="rect">
            <a:avLst/>
          </a:prstGeom>
          <a:solidFill>
            <a:srgbClr val="FFFFFF"/>
          </a:solidFill>
          <a:ln w="7620">
            <a:solidFill>
              <a:srgbClr val="DEE3E8"/>
            </a:solidFill>
          </a:ln>
          <a:effectLst/>
        </p:spPr>
        <p:txBody>
          <a:bodyPr rtlCol="0" anchor="ctr"/>
          <a:lstStyle/>
          <a:p>
            <a:pPr algn="ctr"/>
            <a:endParaRPr/>
          </a:p>
        </p:txBody>
      </p:sp>
      <p:sp>
        <p:nvSpPr>
          <p:cNvPr id="23" name="Rectangle 22"/>
          <p:cNvSpPr/>
          <p:nvPr/>
        </p:nvSpPr>
        <p:spPr>
          <a:xfrm>
            <a:off x="4203700" y="1968500"/>
            <a:ext cx="25400" cy="990600"/>
          </a:xfrm>
          <a:prstGeom prst="rect">
            <a:avLst/>
          </a:prstGeom>
          <a:solidFill>
            <a:srgbClr val="65758A"/>
          </a:solidFill>
          <a:ln>
            <a:noFill/>
          </a:ln>
          <a:effectLst/>
        </p:spPr>
        <p:txBody>
          <a:bodyPr rtlCol="0" anchor="ctr"/>
          <a:lstStyle/>
          <a:p>
            <a:pPr algn="ctr"/>
            <a:endParaRPr/>
          </a:p>
        </p:txBody>
      </p:sp>
      <p:sp>
        <p:nvSpPr>
          <p:cNvPr id="24" name="TextBox 23"/>
          <p:cNvSpPr txBox="1"/>
          <p:nvPr/>
        </p:nvSpPr>
        <p:spPr>
          <a:xfrm>
            <a:off x="4368800" y="2095500"/>
            <a:ext cx="4229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i="1" dirty="0" err="1">
                <a:solidFill>
                  <a:srgbClr val="1F497D"/>
                </a:solidFill>
                <a:latin typeface="Malgun Gothic"/>
                <a:ea typeface="Malgun Gothic"/>
                <a:cs typeface="Malgun Gothic"/>
              </a:rPr>
              <a:t>ρ</a:t>
            </a:r>
            <a:r>
              <a:rPr lang="ko-KR" sz="1700" b="1" dirty="0">
                <a:solidFill>
                  <a:srgbClr val="1F497D"/>
                </a:solidFill>
                <a:latin typeface="Malgun Gothic"/>
                <a:ea typeface="Malgun Gothic"/>
                <a:cs typeface="Malgun Gothic"/>
              </a:rPr>
              <a:t> </a:t>
            </a:r>
            <a:r>
              <a:rPr lang="en-US" altLang="ko-KR" sz="1700" b="1" dirty="0">
                <a:solidFill>
                  <a:srgbClr val="1F497D"/>
                </a:solidFill>
                <a:latin typeface="Malgun Gothic"/>
                <a:ea typeface="Malgun Gothic"/>
                <a:cs typeface="Malgun Gothic"/>
              </a:rPr>
              <a:t>(</a:t>
            </a:r>
            <a:r>
              <a:rPr lang="ko-KR" sz="1700" b="1" dirty="0" err="1">
                <a:solidFill>
                  <a:srgbClr val="1F497D"/>
                </a:solidFill>
                <a:latin typeface="Malgun Gothic"/>
                <a:ea typeface="Malgun Gothic"/>
                <a:cs typeface="Malgun Gothic"/>
              </a:rPr>
              <a:t>비저항</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25" name="TextBox 24"/>
          <p:cNvSpPr txBox="1"/>
          <p:nvPr/>
        </p:nvSpPr>
        <p:spPr>
          <a:xfrm>
            <a:off x="4368800" y="2501900"/>
            <a:ext cx="4229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전해질 농도 </a:t>
            </a:r>
            <a:r>
              <a:rPr lang="ko-KR" altLang="en-US" sz="1400" b="0" dirty="0">
                <a:solidFill>
                  <a:srgbClr val="262626"/>
                </a:solidFill>
                <a:latin typeface="Malgun Gothic"/>
                <a:ea typeface="Malgun Gothic"/>
                <a:cs typeface="Malgun Gothic"/>
              </a:rPr>
              <a:t>올라가면 </a:t>
            </a:r>
            <a:r>
              <a:rPr lang="ko-KR" sz="1400" b="0" i="1" dirty="0" err="1">
                <a:solidFill>
                  <a:srgbClr val="262626"/>
                </a:solidFill>
                <a:latin typeface="Malgun Gothic"/>
                <a:ea typeface="Malgun Gothic"/>
                <a:cs typeface="Malgun Gothic"/>
              </a:rPr>
              <a:t>ρ</a:t>
            </a:r>
            <a:r>
              <a:rPr 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감소</a:t>
            </a:r>
            <a:endParaRPr lang="en-US" alt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전도도는 상승하고 저항은 감소</a:t>
            </a:r>
          </a:p>
        </p:txBody>
      </p:sp>
      <p:sp>
        <p:nvSpPr>
          <p:cNvPr id="26" name="Rectangle 25"/>
          <p:cNvSpPr/>
          <p:nvPr/>
        </p:nvSpPr>
        <p:spPr>
          <a:xfrm>
            <a:off x="4203700" y="3111500"/>
            <a:ext cx="4559300" cy="901700"/>
          </a:xfrm>
          <a:prstGeom prst="rect">
            <a:avLst/>
          </a:prstGeom>
          <a:solidFill>
            <a:srgbClr val="FFFFFF"/>
          </a:solidFill>
          <a:ln w="7620">
            <a:solidFill>
              <a:srgbClr val="DEE3E8"/>
            </a:solidFill>
          </a:ln>
          <a:effectLst/>
        </p:spPr>
        <p:txBody>
          <a:bodyPr rtlCol="0" anchor="ctr"/>
          <a:lstStyle/>
          <a:p>
            <a:pPr algn="ctr"/>
            <a:endParaRPr/>
          </a:p>
        </p:txBody>
      </p:sp>
      <p:sp>
        <p:nvSpPr>
          <p:cNvPr id="27" name="Rectangle 26"/>
          <p:cNvSpPr/>
          <p:nvPr/>
        </p:nvSpPr>
        <p:spPr>
          <a:xfrm>
            <a:off x="4203700" y="3111500"/>
            <a:ext cx="25400" cy="901700"/>
          </a:xfrm>
          <a:prstGeom prst="rect">
            <a:avLst/>
          </a:prstGeom>
          <a:solidFill>
            <a:srgbClr val="65758A"/>
          </a:solidFill>
          <a:ln>
            <a:noFill/>
          </a:ln>
          <a:effectLst/>
        </p:spPr>
        <p:txBody>
          <a:bodyPr rtlCol="0" anchor="ctr"/>
          <a:lstStyle/>
          <a:p>
            <a:pPr algn="ctr"/>
            <a:endParaRPr/>
          </a:p>
        </p:txBody>
      </p:sp>
      <p:sp>
        <p:nvSpPr>
          <p:cNvPr id="28" name="TextBox 27"/>
          <p:cNvSpPr txBox="1"/>
          <p:nvPr/>
        </p:nvSpPr>
        <p:spPr>
          <a:xfrm>
            <a:off x="4368800" y="3238500"/>
            <a:ext cx="4229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err="1">
                <a:solidFill>
                  <a:srgbClr val="1F497D"/>
                </a:solidFill>
                <a:latin typeface="Malgun Gothic"/>
                <a:ea typeface="Malgun Gothic"/>
                <a:cs typeface="Malgun Gothic"/>
              </a:rPr>
              <a:t>L</a:t>
            </a:r>
            <a:r>
              <a:rPr lang="ko-KR" sz="1700" b="1" dirty="0">
                <a:solidFill>
                  <a:srgbClr val="1F497D"/>
                </a:solidFill>
                <a:latin typeface="Malgun Gothic"/>
                <a:ea typeface="Malgun Gothic"/>
                <a:cs typeface="Malgun Gothic"/>
              </a:rPr>
              <a:t> </a:t>
            </a:r>
            <a:r>
              <a:rPr lang="en-US" altLang="ko-KR" sz="1700" b="1" dirty="0">
                <a:solidFill>
                  <a:srgbClr val="1F497D"/>
                </a:solidFill>
                <a:latin typeface="Malgun Gothic"/>
                <a:ea typeface="Malgun Gothic"/>
                <a:cs typeface="Malgun Gothic"/>
              </a:rPr>
              <a:t>(</a:t>
            </a:r>
            <a:r>
              <a:rPr lang="ko-KR" sz="1700" b="1" dirty="0">
                <a:solidFill>
                  <a:srgbClr val="1F497D"/>
                </a:solidFill>
                <a:latin typeface="Malgun Gothic"/>
                <a:ea typeface="Malgun Gothic"/>
                <a:cs typeface="Malgun Gothic"/>
              </a:rPr>
              <a:t>전극 간 거리</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29" name="TextBox 28"/>
          <p:cNvSpPr txBox="1"/>
          <p:nvPr/>
        </p:nvSpPr>
        <p:spPr>
          <a:xfrm>
            <a:off x="4368800" y="3644900"/>
            <a:ext cx="42291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전극 사이 거리가 멀수록 저항 증가</a:t>
            </a:r>
          </a:p>
        </p:txBody>
      </p:sp>
      <p:sp>
        <p:nvSpPr>
          <p:cNvPr id="30" name="Rectangle 29"/>
          <p:cNvSpPr/>
          <p:nvPr/>
        </p:nvSpPr>
        <p:spPr>
          <a:xfrm>
            <a:off x="4203700" y="4165600"/>
            <a:ext cx="4559300" cy="990600"/>
          </a:xfrm>
          <a:prstGeom prst="rect">
            <a:avLst/>
          </a:prstGeom>
          <a:solidFill>
            <a:srgbClr val="FFFFFF"/>
          </a:solidFill>
          <a:ln w="7620">
            <a:solidFill>
              <a:srgbClr val="DEE3E8"/>
            </a:solidFill>
          </a:ln>
          <a:effectLst/>
        </p:spPr>
        <p:txBody>
          <a:bodyPr rtlCol="0" anchor="ctr"/>
          <a:lstStyle/>
          <a:p>
            <a:pPr algn="ctr"/>
            <a:endParaRPr/>
          </a:p>
        </p:txBody>
      </p:sp>
      <p:sp>
        <p:nvSpPr>
          <p:cNvPr id="31" name="Rectangle 30"/>
          <p:cNvSpPr/>
          <p:nvPr/>
        </p:nvSpPr>
        <p:spPr>
          <a:xfrm>
            <a:off x="4203700" y="4165600"/>
            <a:ext cx="25400" cy="990600"/>
          </a:xfrm>
          <a:prstGeom prst="rect">
            <a:avLst/>
          </a:prstGeom>
          <a:solidFill>
            <a:srgbClr val="65758A"/>
          </a:solidFill>
          <a:ln>
            <a:noFill/>
          </a:ln>
          <a:effectLst/>
        </p:spPr>
        <p:txBody>
          <a:bodyPr rtlCol="0" anchor="ctr"/>
          <a:lstStyle/>
          <a:p>
            <a:pPr algn="ctr"/>
            <a:endParaRPr/>
          </a:p>
        </p:txBody>
      </p:sp>
      <p:sp>
        <p:nvSpPr>
          <p:cNvPr id="32" name="TextBox 31"/>
          <p:cNvSpPr txBox="1"/>
          <p:nvPr/>
        </p:nvSpPr>
        <p:spPr>
          <a:xfrm>
            <a:off x="4368800" y="4292600"/>
            <a:ext cx="4229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err="1">
                <a:solidFill>
                  <a:srgbClr val="1F497D"/>
                </a:solidFill>
                <a:latin typeface="Malgun Gothic"/>
                <a:ea typeface="Malgun Gothic"/>
                <a:cs typeface="Malgun Gothic"/>
              </a:rPr>
              <a:t>A</a:t>
            </a:r>
            <a:r>
              <a:rPr lang="ko-KR" sz="1700" b="1" dirty="0">
                <a:solidFill>
                  <a:srgbClr val="1F497D"/>
                </a:solidFill>
                <a:latin typeface="Malgun Gothic"/>
                <a:ea typeface="Malgun Gothic"/>
                <a:cs typeface="Malgun Gothic"/>
              </a:rPr>
              <a:t> </a:t>
            </a:r>
            <a:r>
              <a:rPr lang="en-US" altLang="ko-KR" sz="1700" b="1" dirty="0">
                <a:solidFill>
                  <a:srgbClr val="1F497D"/>
                </a:solidFill>
                <a:latin typeface="Malgun Gothic"/>
                <a:ea typeface="Malgun Gothic"/>
                <a:cs typeface="Malgun Gothic"/>
              </a:rPr>
              <a:t>(</a:t>
            </a:r>
            <a:r>
              <a:rPr lang="ko-KR" sz="1700" b="1" dirty="0">
                <a:solidFill>
                  <a:srgbClr val="1F497D"/>
                </a:solidFill>
                <a:latin typeface="Malgun Gothic"/>
                <a:ea typeface="Malgun Gothic"/>
                <a:cs typeface="Malgun Gothic"/>
              </a:rPr>
              <a:t>전류가 통과하는 면적</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33" name="TextBox 32"/>
          <p:cNvSpPr txBox="1"/>
          <p:nvPr/>
        </p:nvSpPr>
        <p:spPr>
          <a:xfrm>
            <a:off x="4368800" y="4699000"/>
            <a:ext cx="4229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면적이 넓을수록 저항 감소</a:t>
            </a: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전극판형 설계로 </a:t>
            </a:r>
            <a:r>
              <a:rPr lang="ko-KR" sz="1400" b="0" dirty="0" err="1">
                <a:solidFill>
                  <a:srgbClr val="262626"/>
                </a:solidFill>
                <a:latin typeface="Malgun Gothic"/>
                <a:ea typeface="Malgun Gothic"/>
                <a:cs typeface="Malgun Gothic"/>
              </a:rPr>
              <a:t>A를</a:t>
            </a:r>
            <a:r>
              <a:rPr lang="ko-KR" sz="1400" b="0" dirty="0">
                <a:solidFill>
                  <a:srgbClr val="262626"/>
                </a:solidFill>
                <a:latin typeface="Malgun Gothic"/>
                <a:ea typeface="Malgun Gothic"/>
                <a:cs typeface="Malgun Gothic"/>
              </a:rPr>
              <a:t> 넓혀 저항을 낮춤</a:t>
            </a:r>
          </a:p>
        </p:txBody>
      </p:sp>
      <p:sp>
        <p:nvSpPr>
          <p:cNvPr id="34" name="Rectangle 33"/>
          <p:cNvSpPr/>
          <p:nvPr/>
        </p:nvSpPr>
        <p:spPr>
          <a:xfrm>
            <a:off x="381000" y="5397499"/>
            <a:ext cx="8382000" cy="969009"/>
          </a:xfrm>
          <a:prstGeom prst="rect">
            <a:avLst/>
          </a:prstGeom>
          <a:solidFill>
            <a:srgbClr val="F3F5F7"/>
          </a:solidFill>
          <a:ln>
            <a:noFill/>
          </a:ln>
          <a:effectLst/>
        </p:spPr>
        <p:txBody>
          <a:bodyPr rtlCol="0" anchor="ctr"/>
          <a:lstStyle/>
          <a:p>
            <a:pPr algn="ctr"/>
            <a:endParaRPr/>
          </a:p>
        </p:txBody>
      </p:sp>
      <p:sp>
        <p:nvSpPr>
          <p:cNvPr id="35" name="Rectangle 34"/>
          <p:cNvSpPr/>
          <p:nvPr/>
        </p:nvSpPr>
        <p:spPr>
          <a:xfrm>
            <a:off x="381000" y="5397499"/>
            <a:ext cx="25400" cy="969009"/>
          </a:xfrm>
          <a:prstGeom prst="rect">
            <a:avLst/>
          </a:prstGeom>
          <a:solidFill>
            <a:srgbClr val="65758A"/>
          </a:solidFill>
          <a:ln>
            <a:noFill/>
          </a:ln>
          <a:effectLst/>
        </p:spPr>
        <p:txBody>
          <a:bodyPr rtlCol="0" anchor="ctr"/>
          <a:lstStyle/>
          <a:p>
            <a:pPr algn="ctr"/>
            <a:endParaRPr/>
          </a:p>
        </p:txBody>
      </p:sp>
      <p:sp>
        <p:nvSpPr>
          <p:cNvPr id="36" name="TextBox 35"/>
          <p:cNvSpPr txBox="1"/>
          <p:nvPr/>
        </p:nvSpPr>
        <p:spPr>
          <a:xfrm>
            <a:off x="546100" y="5505449"/>
            <a:ext cx="8077200" cy="789273"/>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altLang="en-US" sz="2000" b="1" dirty="0">
                <a:solidFill>
                  <a:srgbClr val="1F497D"/>
                </a:solidFill>
                <a:latin typeface="Malgun Gothic"/>
                <a:ea typeface="Malgun Gothic"/>
                <a:cs typeface="Malgun Gothic"/>
              </a:rPr>
              <a:t>시사점</a:t>
            </a:r>
            <a:endParaRPr lang="en-US" altLang="ko-KR" sz="2000" b="1" dirty="0">
              <a:solidFill>
                <a:srgbClr val="1F497D"/>
              </a:solidFill>
              <a:latin typeface="Malgun Gothic"/>
              <a:ea typeface="Malgun Gothic"/>
              <a:cs typeface="Malgun Gothic"/>
            </a:endParaRPr>
          </a:p>
          <a:p>
            <a:pPr algn="l" eaLnBrk="0" latinLnBrk="0">
              <a:lnSpc>
                <a:spcPts val="1809"/>
              </a:lnSpc>
              <a:spcBef>
                <a:spcPts val="0"/>
              </a:spcBef>
              <a:spcAft>
                <a:spcPts val="0"/>
              </a:spcAft>
            </a:pPr>
            <a:r>
              <a:rPr lang="ko-KR" altLang="en-US" sz="1350" dirty="0">
                <a:solidFill>
                  <a:srgbClr val="1F497D"/>
                </a:solidFill>
                <a:latin typeface="Malgun Gothic"/>
                <a:ea typeface="Malgun Gothic"/>
                <a:cs typeface="Malgun Gothic"/>
              </a:rPr>
              <a:t>전극 표면 근처에 전류밀도가 가장 높고 국부적으로 발열과 마모가 집중됨</a:t>
            </a:r>
            <a:endParaRPr lang="en-US" altLang="ko-KR" sz="1350" dirty="0">
              <a:solidFill>
                <a:srgbClr val="1F497D"/>
              </a:solidFill>
              <a:latin typeface="Malgun Gothic"/>
              <a:ea typeface="Malgun Gothic"/>
              <a:cs typeface="Malgun Gothic"/>
            </a:endParaRPr>
          </a:p>
          <a:p>
            <a:pPr eaLnBrk="0">
              <a:lnSpc>
                <a:spcPts val="1809"/>
              </a:lnSpc>
            </a:pPr>
            <a:r>
              <a:rPr lang="en-US" altLang="ko-KR" sz="1350" dirty="0">
                <a:solidFill>
                  <a:schemeClr val="tx2"/>
                </a:solidFill>
                <a:latin typeface="Malgun Gothic" pitchFamily="34" charset="0"/>
                <a:ea typeface="Malgun Gothic" pitchFamily="34" charset="-122"/>
                <a:cs typeface="Malgun Gothic" pitchFamily="34" charset="-120"/>
              </a:rPr>
              <a:t>→ </a:t>
            </a:r>
            <a:r>
              <a:rPr lang="ko-KR" altLang="en-US" sz="1350" dirty="0">
                <a:solidFill>
                  <a:schemeClr val="tx2"/>
                </a:solidFill>
                <a:latin typeface="Malgun Gothic" pitchFamily="34" charset="0"/>
                <a:ea typeface="Malgun Gothic" pitchFamily="34" charset="-122"/>
                <a:cs typeface="Malgun Gothic" pitchFamily="34" charset="-120"/>
              </a:rPr>
              <a:t>전극 표면적을 넓히고</a:t>
            </a:r>
            <a:r>
              <a:rPr lang="en-US" altLang="ko-KR" sz="1350" dirty="0">
                <a:solidFill>
                  <a:schemeClr val="tx2"/>
                </a:solidFill>
                <a:latin typeface="Malgun Gothic" pitchFamily="34" charset="0"/>
                <a:ea typeface="Malgun Gothic" pitchFamily="34" charset="-122"/>
                <a:cs typeface="Malgun Gothic" pitchFamily="34" charset="-120"/>
              </a:rPr>
              <a:t>, </a:t>
            </a:r>
            <a:r>
              <a:rPr lang="ko-KR" altLang="en-US" sz="1350" dirty="0" err="1">
                <a:solidFill>
                  <a:schemeClr val="tx2"/>
                </a:solidFill>
                <a:latin typeface="Malgun Gothic" pitchFamily="34" charset="0"/>
                <a:ea typeface="Malgun Gothic" pitchFamily="34" charset="-122"/>
                <a:cs typeface="Malgun Gothic" pitchFamily="34" charset="-120"/>
              </a:rPr>
              <a:t>내식성</a:t>
            </a:r>
            <a:r>
              <a:rPr lang="ko-KR" altLang="en-US" sz="1350" dirty="0">
                <a:solidFill>
                  <a:schemeClr val="tx2"/>
                </a:solidFill>
                <a:latin typeface="Malgun Gothic" pitchFamily="34" charset="0"/>
                <a:ea typeface="Malgun Gothic" pitchFamily="34" charset="-122"/>
                <a:cs typeface="Malgun Gothic" pitchFamily="34" charset="-120"/>
              </a:rPr>
              <a:t> 코팅 필요</a:t>
            </a:r>
            <a:endParaRPr lang="ko-KR" sz="1350" b="0" dirty="0">
              <a:solidFill>
                <a:schemeClr val="tx2"/>
              </a:solidFill>
              <a:latin typeface="Malgun Gothic"/>
              <a:ea typeface="Malgun Gothic"/>
              <a:cs typeface="Malgun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발열량을 좌우하는 실제 설계변수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Elpanneteknik · 회사 개요와 적용 분야</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12</a:t>
            </a:r>
          </a:p>
        </p:txBody>
      </p:sp>
      <p:sp>
        <p:nvSpPr>
          <p:cNvPr id="34"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15_0.jpeg"/>
          <p:cNvPicPr>
            <a:picLocks noChangeAspect="1"/>
          </p:cNvPicPr>
          <p:nvPr/>
        </p:nvPicPr>
        <p:blipFill>
          <a:blip r:embed="rId4"/>
          <a:stretch>
            <a:fillRect/>
          </a:stretch>
        </p:blipFill>
        <p:spPr>
          <a:xfrm>
            <a:off x="381000" y="1245172"/>
            <a:ext cx="4102100" cy="1954655"/>
          </a:xfrm>
          <a:prstGeom prst="rect">
            <a:avLst/>
          </a:prstGeom>
          <a:effectLst/>
        </p:spPr>
      </p:pic>
      <p:sp>
        <p:nvSpPr>
          <p:cNvPr id="12" name="TextBox 11"/>
          <p:cNvSpPr txBox="1"/>
          <p:nvPr/>
        </p:nvSpPr>
        <p:spPr>
          <a:xfrm>
            <a:off x="4660900" y="1066800"/>
            <a:ext cx="4102100" cy="355600"/>
          </a:xfrm>
          <a:prstGeom prst="rect">
            <a:avLst/>
          </a:prstGeom>
          <a:noFill/>
          <a:effectLst/>
        </p:spPr>
        <p:txBody>
          <a:bodyPr wrap="none" lIns="0" tIns="0" rIns="0" bIns="0" anchor="t">
            <a:noAutofit/>
          </a:bodyPr>
          <a:lstStyle/>
          <a:p>
            <a:pPr algn="l" eaLnBrk="0" latinLnBrk="0">
              <a:lnSpc>
                <a:spcPts val="2546"/>
              </a:lnSpc>
              <a:spcBef>
                <a:spcPts val="0"/>
              </a:spcBef>
              <a:spcAft>
                <a:spcPts val="0"/>
              </a:spcAft>
            </a:pPr>
            <a:r>
              <a:rPr lang="ko-KR" sz="1900" b="1">
                <a:solidFill>
                  <a:srgbClr val="1F497D"/>
                </a:solidFill>
                <a:latin typeface="Malgun Gothic"/>
                <a:ea typeface="Malgun Gothic"/>
                <a:cs typeface="Malgun Gothic"/>
              </a:rPr>
              <a:t>Elpanneteknik Sweden AB</a:t>
            </a:r>
          </a:p>
        </p:txBody>
      </p:sp>
      <p:sp>
        <p:nvSpPr>
          <p:cNvPr id="13" name="TextBox 12"/>
          <p:cNvSpPr txBox="1"/>
          <p:nvPr/>
        </p:nvSpPr>
        <p:spPr>
          <a:xfrm>
            <a:off x="4660900" y="1562100"/>
            <a:ext cx="4102100" cy="1041400"/>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본사: 스웨덴 </a:t>
            </a:r>
            <a:r>
              <a:rPr lang="ko-KR" sz="1450" b="0" dirty="0" err="1">
                <a:solidFill>
                  <a:srgbClr val="262626"/>
                </a:solidFill>
                <a:latin typeface="Malgun Gothic"/>
                <a:ea typeface="Malgun Gothic"/>
                <a:cs typeface="Malgun Gothic"/>
              </a:rPr>
              <a:t>예테보리</a:t>
            </a:r>
            <a:r>
              <a:rPr lang="ko-KR" sz="1450" b="0" dirty="0">
                <a:solidFill>
                  <a:srgbClr val="262626"/>
                </a:solidFill>
                <a:latin typeface="Malgun Gothic"/>
                <a:ea typeface="Malgun Gothic"/>
                <a:cs typeface="Malgun Gothic"/>
              </a:rPr>
              <a:t>(</a:t>
            </a:r>
            <a:r>
              <a:rPr lang="ko-KR" sz="1450" b="0" dirty="0" err="1">
                <a:solidFill>
                  <a:srgbClr val="262626"/>
                </a:solidFill>
                <a:latin typeface="Malgun Gothic"/>
                <a:ea typeface="Malgun Gothic"/>
                <a:cs typeface="Malgun Gothic"/>
              </a:rPr>
              <a:t>Göteborg</a:t>
            </a:r>
            <a:r>
              <a:rPr lang="ko-KR" sz="1450" b="0" dirty="0">
                <a:solidFill>
                  <a:srgbClr val="262626"/>
                </a:solidFill>
                <a:latin typeface="Malgun Gothic"/>
                <a:ea typeface="Malgun Gothic"/>
                <a:cs typeface="Malgun Gothic"/>
              </a:rPr>
              <a:t>)</a:t>
            </a:r>
          </a:p>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공장: </a:t>
            </a:r>
            <a:r>
              <a:rPr lang="ko-KR" sz="1450" b="0" dirty="0" err="1">
                <a:solidFill>
                  <a:srgbClr val="262626"/>
                </a:solidFill>
                <a:latin typeface="Malgun Gothic"/>
                <a:ea typeface="Malgun Gothic"/>
                <a:cs typeface="Malgun Gothic"/>
              </a:rPr>
              <a:t>뉘셰핑</a:t>
            </a:r>
            <a:r>
              <a:rPr lang="ko-KR" sz="1450" b="0" dirty="0">
                <a:solidFill>
                  <a:srgbClr val="262626"/>
                </a:solidFill>
                <a:latin typeface="Malgun Gothic"/>
                <a:ea typeface="Malgun Gothic"/>
                <a:cs typeface="Malgun Gothic"/>
              </a:rPr>
              <a:t>(</a:t>
            </a:r>
            <a:r>
              <a:rPr lang="ko-KR" sz="1450" b="0" dirty="0" err="1">
                <a:solidFill>
                  <a:srgbClr val="262626"/>
                </a:solidFill>
                <a:latin typeface="Malgun Gothic"/>
                <a:ea typeface="Malgun Gothic"/>
                <a:cs typeface="Malgun Gothic"/>
              </a:rPr>
              <a:t>Nyköping</a:t>
            </a:r>
            <a:r>
              <a:rPr lang="ko-KR" sz="1450" b="0" dirty="0">
                <a:solidFill>
                  <a:srgbClr val="262626"/>
                </a:solidFill>
                <a:latin typeface="Malgun Gothic"/>
                <a:ea typeface="Malgun Gothic"/>
                <a:cs typeface="Malgun Gothic"/>
              </a:rPr>
              <a:t>)</a:t>
            </a:r>
          </a:p>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고전압 전극보일러 전문 제조사</a:t>
            </a:r>
          </a:p>
        </p:txBody>
      </p:sp>
      <p:cxnSp>
        <p:nvCxnSpPr>
          <p:cNvPr id="14" name="Connector 13"/>
          <p:cNvCxnSpPr/>
          <p:nvPr/>
        </p:nvCxnSpPr>
        <p:spPr>
          <a:xfrm>
            <a:off x="381000" y="2743200"/>
            <a:ext cx="8382000" cy="0"/>
          </a:xfrm>
          <a:prstGeom prst="line">
            <a:avLst/>
          </a:prstGeom>
          <a:ln w="10160">
            <a:solidFill>
              <a:srgbClr val="DEE3E8"/>
            </a:solidFill>
          </a:ln>
          <a:effectLst/>
        </p:spPr>
      </p:cxnSp>
      <p:sp>
        <p:nvSpPr>
          <p:cNvPr id="15" name="TextBox 14"/>
          <p:cNvSpPr txBox="1"/>
          <p:nvPr/>
        </p:nvSpPr>
        <p:spPr>
          <a:xfrm>
            <a:off x="381000" y="3733800"/>
            <a:ext cx="4102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주요 사업 분야</a:t>
            </a:r>
          </a:p>
        </p:txBody>
      </p:sp>
      <p:sp>
        <p:nvSpPr>
          <p:cNvPr id="16" name="Rectangle 15"/>
          <p:cNvSpPr/>
          <p:nvPr/>
        </p:nvSpPr>
        <p:spPr>
          <a:xfrm>
            <a:off x="381000" y="4343400"/>
            <a:ext cx="38100" cy="38100"/>
          </a:xfrm>
          <a:prstGeom prst="rect">
            <a:avLst/>
          </a:prstGeom>
          <a:solidFill>
            <a:srgbClr val="65758A"/>
          </a:solidFill>
          <a:ln>
            <a:noFill/>
          </a:ln>
          <a:effectLst/>
        </p:spPr>
        <p:txBody>
          <a:bodyPr rtlCol="0" anchor="ctr"/>
          <a:lstStyle/>
          <a:p>
            <a:pPr algn="ctr"/>
            <a:endParaRPr/>
          </a:p>
        </p:txBody>
      </p:sp>
      <p:sp>
        <p:nvSpPr>
          <p:cNvPr id="17" name="TextBox 16"/>
          <p:cNvSpPr txBox="1"/>
          <p:nvPr/>
        </p:nvSpPr>
        <p:spPr>
          <a:xfrm>
            <a:off x="571500" y="4254500"/>
            <a:ext cx="3721100" cy="495300"/>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지역난방 </a:t>
            </a:r>
          </a:p>
        </p:txBody>
      </p:sp>
      <p:sp>
        <p:nvSpPr>
          <p:cNvPr id="18" name="Rectangle 17"/>
          <p:cNvSpPr/>
          <p:nvPr/>
        </p:nvSpPr>
        <p:spPr>
          <a:xfrm>
            <a:off x="381000" y="4876800"/>
            <a:ext cx="38100" cy="38100"/>
          </a:xfrm>
          <a:prstGeom prst="rect">
            <a:avLst/>
          </a:prstGeom>
          <a:solidFill>
            <a:srgbClr val="65758A"/>
          </a:solidFill>
          <a:ln>
            <a:noFill/>
          </a:ln>
          <a:effectLst/>
        </p:spPr>
        <p:txBody>
          <a:bodyPr rtlCol="0" anchor="ctr"/>
          <a:lstStyle/>
          <a:p>
            <a:pPr algn="ctr"/>
            <a:endParaRPr/>
          </a:p>
        </p:txBody>
      </p:sp>
      <p:sp>
        <p:nvSpPr>
          <p:cNvPr id="19" name="TextBox 18"/>
          <p:cNvSpPr txBox="1"/>
          <p:nvPr/>
        </p:nvSpPr>
        <p:spPr>
          <a:xfrm>
            <a:off x="571500" y="4787900"/>
            <a:ext cx="3721100" cy="495300"/>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산업용 열원</a:t>
            </a:r>
          </a:p>
        </p:txBody>
      </p:sp>
      <p:sp>
        <p:nvSpPr>
          <p:cNvPr id="20" name="Rectangle 19"/>
          <p:cNvSpPr/>
          <p:nvPr/>
        </p:nvSpPr>
        <p:spPr>
          <a:xfrm>
            <a:off x="381000" y="5410200"/>
            <a:ext cx="38100" cy="38100"/>
          </a:xfrm>
          <a:prstGeom prst="rect">
            <a:avLst/>
          </a:prstGeom>
          <a:solidFill>
            <a:srgbClr val="65758A"/>
          </a:solidFill>
          <a:ln>
            <a:noFill/>
          </a:ln>
          <a:effectLst/>
        </p:spPr>
        <p:txBody>
          <a:bodyPr rtlCol="0" anchor="ctr"/>
          <a:lstStyle/>
          <a:p>
            <a:pPr algn="ctr"/>
            <a:endParaRPr/>
          </a:p>
        </p:txBody>
      </p:sp>
      <p:sp>
        <p:nvSpPr>
          <p:cNvPr id="21" name="TextBox 20"/>
          <p:cNvSpPr txBox="1"/>
          <p:nvPr/>
        </p:nvSpPr>
        <p:spPr>
          <a:xfrm>
            <a:off x="571500" y="5321300"/>
            <a:ext cx="3721100" cy="495300"/>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원자력발전소 열원</a:t>
            </a:r>
          </a:p>
        </p:txBody>
      </p:sp>
      <p:sp>
        <p:nvSpPr>
          <p:cNvPr id="22" name="Rectangle 21"/>
          <p:cNvSpPr/>
          <p:nvPr/>
        </p:nvSpPr>
        <p:spPr>
          <a:xfrm>
            <a:off x="381000" y="5943600"/>
            <a:ext cx="38100" cy="381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571500" y="5854700"/>
            <a:ext cx="3721100" cy="495300"/>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열에너지 저장 · </a:t>
            </a:r>
            <a:r>
              <a:rPr lang="ko-KR" sz="1450" b="0" dirty="0" err="1">
                <a:solidFill>
                  <a:srgbClr val="262626"/>
                </a:solidFill>
                <a:latin typeface="Malgun Gothic"/>
                <a:ea typeface="Malgun Gothic"/>
                <a:cs typeface="Malgun Gothic"/>
              </a:rPr>
              <a:t>전력망</a:t>
            </a:r>
            <a:r>
              <a:rPr lang="ko-KR" sz="1450" b="0" dirty="0">
                <a:solidFill>
                  <a:srgbClr val="262626"/>
                </a:solidFill>
                <a:latin typeface="Malgun Gothic"/>
                <a:ea typeface="Malgun Gothic"/>
                <a:cs typeface="Malgun Gothic"/>
              </a:rPr>
              <a:t> 주파수 조정</a:t>
            </a:r>
            <a:r>
              <a:rPr lang="en-US" altLang="ko-KR" sz="1450" b="0" dirty="0">
                <a:solidFill>
                  <a:srgbClr val="262626"/>
                </a:solidFill>
                <a:latin typeface="Malgun Gothic"/>
                <a:ea typeface="Malgun Gothic"/>
                <a:cs typeface="Malgun Gothic"/>
              </a:rPr>
              <a:t>(P2H)</a:t>
            </a:r>
            <a:endParaRPr lang="ko-KR" sz="1450" b="0" dirty="0">
              <a:solidFill>
                <a:srgbClr val="262626"/>
              </a:solidFill>
              <a:latin typeface="Malgun Gothic"/>
              <a:ea typeface="Malgun Gothic"/>
              <a:cs typeface="Malgun Gothic"/>
            </a:endParaRPr>
          </a:p>
        </p:txBody>
      </p:sp>
      <p:sp>
        <p:nvSpPr>
          <p:cNvPr id="24" name="TextBox 23"/>
          <p:cNvSpPr txBox="1"/>
          <p:nvPr/>
        </p:nvSpPr>
        <p:spPr>
          <a:xfrm>
            <a:off x="4660900" y="3733800"/>
            <a:ext cx="4102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altLang="en-US" sz="1700" b="1" dirty="0">
                <a:solidFill>
                  <a:srgbClr val="1F497D"/>
                </a:solidFill>
                <a:latin typeface="Malgun Gothic"/>
                <a:ea typeface="Malgun Gothic"/>
                <a:cs typeface="Malgun Gothic"/>
              </a:rPr>
              <a:t>실제 </a:t>
            </a:r>
            <a:r>
              <a:rPr lang="ko-KR" sz="1700" b="1" dirty="0">
                <a:solidFill>
                  <a:srgbClr val="1F497D"/>
                </a:solidFill>
                <a:latin typeface="Malgun Gothic"/>
                <a:ea typeface="Malgun Gothic"/>
                <a:cs typeface="Malgun Gothic"/>
              </a:rPr>
              <a:t>기술 사례</a:t>
            </a:r>
          </a:p>
        </p:txBody>
      </p:sp>
      <p:sp>
        <p:nvSpPr>
          <p:cNvPr id="25" name="Rectangle 24"/>
          <p:cNvSpPr/>
          <p:nvPr/>
        </p:nvSpPr>
        <p:spPr>
          <a:xfrm>
            <a:off x="4660900" y="4343400"/>
            <a:ext cx="38100" cy="38100"/>
          </a:xfrm>
          <a:prstGeom prst="rect">
            <a:avLst/>
          </a:prstGeom>
          <a:solidFill>
            <a:srgbClr val="65758A"/>
          </a:solidFill>
          <a:ln>
            <a:noFill/>
          </a:ln>
          <a:effectLst/>
        </p:spPr>
        <p:txBody>
          <a:bodyPr rtlCol="0" anchor="ctr"/>
          <a:lstStyle/>
          <a:p>
            <a:pPr algn="ctr"/>
            <a:endParaRPr/>
          </a:p>
        </p:txBody>
      </p:sp>
      <p:sp>
        <p:nvSpPr>
          <p:cNvPr id="26" name="TextBox 25"/>
          <p:cNvSpPr txBox="1"/>
          <p:nvPr/>
        </p:nvSpPr>
        <p:spPr>
          <a:xfrm>
            <a:off x="4851400" y="4254500"/>
            <a:ext cx="3911600" cy="4953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err="1">
                <a:solidFill>
                  <a:srgbClr val="262626"/>
                </a:solidFill>
                <a:latin typeface="Malgun Gothic"/>
                <a:ea typeface="Malgun Gothic"/>
                <a:cs typeface="Malgun Gothic"/>
              </a:rPr>
              <a:t>링할스</a:t>
            </a:r>
            <a:r>
              <a:rPr lang="ko-KR" sz="1350" b="0" dirty="0">
                <a:solidFill>
                  <a:srgbClr val="262626"/>
                </a:solidFill>
                <a:latin typeface="Malgun Gothic"/>
                <a:ea typeface="Malgun Gothic"/>
                <a:cs typeface="Malgun Gothic"/>
              </a:rPr>
              <a:t> 원전: 20 </a:t>
            </a:r>
            <a:r>
              <a:rPr lang="ko-KR" sz="1350" b="0" dirty="0" err="1">
                <a:solidFill>
                  <a:srgbClr val="262626"/>
                </a:solidFill>
                <a:latin typeface="Malgun Gothic"/>
                <a:ea typeface="Malgun Gothic"/>
                <a:cs typeface="Malgun Gothic"/>
              </a:rPr>
              <a:t>MW급</a:t>
            </a:r>
            <a:r>
              <a:rPr lang="ko-KR" sz="1350" b="0" dirty="0">
                <a:solidFill>
                  <a:srgbClr val="262626"/>
                </a:solidFill>
                <a:latin typeface="Malgun Gothic"/>
                <a:ea typeface="Malgun Gothic"/>
                <a:cs typeface="Malgun Gothic"/>
              </a:rPr>
              <a:t> 전극</a:t>
            </a: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증기보일러 ETSH35 공급</a:t>
            </a:r>
          </a:p>
        </p:txBody>
      </p:sp>
      <p:sp>
        <p:nvSpPr>
          <p:cNvPr id="27" name="Rectangle 26"/>
          <p:cNvSpPr/>
          <p:nvPr/>
        </p:nvSpPr>
        <p:spPr>
          <a:xfrm>
            <a:off x="4660900" y="4876800"/>
            <a:ext cx="38100" cy="38100"/>
          </a:xfrm>
          <a:prstGeom prst="rect">
            <a:avLst/>
          </a:prstGeom>
          <a:solidFill>
            <a:srgbClr val="65758A"/>
          </a:solidFill>
          <a:ln>
            <a:noFill/>
          </a:ln>
          <a:effectLst/>
        </p:spPr>
        <p:txBody>
          <a:bodyPr rtlCol="0" anchor="ctr"/>
          <a:lstStyle/>
          <a:p>
            <a:pPr algn="ctr"/>
            <a:endParaRPr/>
          </a:p>
        </p:txBody>
      </p:sp>
      <p:sp>
        <p:nvSpPr>
          <p:cNvPr id="28" name="TextBox 27"/>
          <p:cNvSpPr txBox="1"/>
          <p:nvPr/>
        </p:nvSpPr>
        <p:spPr>
          <a:xfrm>
            <a:off x="4851400" y="4787900"/>
            <a:ext cx="3911600" cy="4953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레닌그라드 원전: 고전압 전극보일러</a:t>
            </a: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4기 </a:t>
            </a:r>
            <a:r>
              <a:rPr lang="ko-KR" sz="1350" b="0" dirty="0" err="1">
                <a:solidFill>
                  <a:srgbClr val="262626"/>
                </a:solidFill>
                <a:latin typeface="Malgun Gothic"/>
                <a:ea typeface="Malgun Gothic"/>
                <a:cs typeface="Malgun Gothic"/>
              </a:rPr>
              <a:t>커미셔닝</a:t>
            </a:r>
            <a:endParaRPr lang="ko-KR" sz="1350" b="0" dirty="0">
              <a:solidFill>
                <a:srgbClr val="262626"/>
              </a:solidFill>
              <a:latin typeface="Malgun Gothic"/>
              <a:ea typeface="Malgun Gothic"/>
              <a:cs typeface="Malgun Gothic"/>
            </a:endParaRPr>
          </a:p>
        </p:txBody>
      </p:sp>
      <p:sp>
        <p:nvSpPr>
          <p:cNvPr id="29" name="Rectangle 28"/>
          <p:cNvSpPr/>
          <p:nvPr/>
        </p:nvSpPr>
        <p:spPr>
          <a:xfrm>
            <a:off x="4660900" y="5410200"/>
            <a:ext cx="38100" cy="38100"/>
          </a:xfrm>
          <a:prstGeom prst="rect">
            <a:avLst/>
          </a:prstGeom>
          <a:solidFill>
            <a:srgbClr val="65758A"/>
          </a:solidFill>
          <a:ln>
            <a:noFill/>
          </a:ln>
          <a:effectLst/>
        </p:spPr>
        <p:txBody>
          <a:bodyPr rtlCol="0" anchor="ctr"/>
          <a:lstStyle/>
          <a:p>
            <a:pPr algn="ctr"/>
            <a:endParaRPr/>
          </a:p>
        </p:txBody>
      </p:sp>
      <p:sp>
        <p:nvSpPr>
          <p:cNvPr id="30" name="TextBox 29"/>
          <p:cNvSpPr txBox="1"/>
          <p:nvPr/>
        </p:nvSpPr>
        <p:spPr>
          <a:xfrm>
            <a:off x="4851400" y="5321300"/>
            <a:ext cx="3911600" cy="4953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효율 거의 100% · </a:t>
            </a:r>
            <a:r>
              <a:rPr lang="ko-KR" sz="1350" b="0" dirty="0" err="1">
                <a:solidFill>
                  <a:srgbClr val="262626"/>
                </a:solidFill>
                <a:latin typeface="Malgun Gothic"/>
                <a:ea typeface="Malgun Gothic"/>
                <a:cs typeface="Malgun Gothic"/>
              </a:rPr>
              <a:t>최소~최대부하</a:t>
            </a:r>
            <a:r>
              <a:rPr lang="en-US" altLang="ko-KR" sz="135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전환 30초 이내</a:t>
            </a:r>
          </a:p>
        </p:txBody>
      </p:sp>
      <p:sp>
        <p:nvSpPr>
          <p:cNvPr id="31" name="Rectangle 30"/>
          <p:cNvSpPr/>
          <p:nvPr/>
        </p:nvSpPr>
        <p:spPr>
          <a:xfrm>
            <a:off x="4660900" y="5943600"/>
            <a:ext cx="38100" cy="38100"/>
          </a:xfrm>
          <a:prstGeom prst="rect">
            <a:avLst/>
          </a:prstGeom>
          <a:solidFill>
            <a:srgbClr val="65758A"/>
          </a:solidFill>
          <a:ln>
            <a:noFill/>
          </a:ln>
          <a:effectLst/>
        </p:spPr>
        <p:txBody>
          <a:bodyPr rtlCol="0" anchor="ctr"/>
          <a:lstStyle/>
          <a:p>
            <a:pPr algn="ctr"/>
            <a:endParaRPr/>
          </a:p>
        </p:txBody>
      </p:sp>
      <p:sp>
        <p:nvSpPr>
          <p:cNvPr id="32" name="TextBox 31"/>
          <p:cNvSpPr txBox="1"/>
          <p:nvPr/>
        </p:nvSpPr>
        <p:spPr>
          <a:xfrm>
            <a:off x="4851400" y="5854700"/>
            <a:ext cx="3911600" cy="4953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3개 튜브형 </a:t>
            </a:r>
            <a:r>
              <a:rPr lang="ko-KR" sz="1350" b="0" dirty="0" err="1">
                <a:solidFill>
                  <a:srgbClr val="262626"/>
                </a:solidFill>
                <a:latin typeface="Malgun Gothic"/>
                <a:ea typeface="Malgun Gothic"/>
                <a:cs typeface="Malgun Gothic"/>
              </a:rPr>
              <a:t>중성점</a:t>
            </a:r>
            <a:r>
              <a:rPr lang="ko-KR" sz="1350" b="0" dirty="0">
                <a:solidFill>
                  <a:srgbClr val="262626"/>
                </a:solidFill>
                <a:latin typeface="Malgun Gothic"/>
                <a:ea typeface="Malgun Gothic"/>
                <a:cs typeface="Malgun Gothic"/>
              </a:rPr>
              <a:t> 전극과 </a:t>
            </a:r>
            <a:r>
              <a:rPr lang="ko-KR" sz="1350" b="0" dirty="0" err="1">
                <a:solidFill>
                  <a:srgbClr val="262626"/>
                </a:solidFill>
                <a:latin typeface="Malgun Gothic"/>
                <a:ea typeface="Malgun Gothic"/>
                <a:cs typeface="Malgun Gothic"/>
              </a:rPr>
              <a:t>상전극</a:t>
            </a: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사이의 </a:t>
            </a:r>
            <a:endParaRPr lang="en-US" altLang="ko-KR" sz="1350" b="0" dirty="0">
              <a:solidFill>
                <a:srgbClr val="262626"/>
              </a:solidFill>
              <a:latin typeface="Malgun Gothic"/>
              <a:ea typeface="Malgun Gothic"/>
              <a:cs typeface="Malgun Gothic"/>
            </a:endParaRP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전류 유효면적으로 출력 결정</a:t>
            </a:r>
          </a:p>
        </p:txBody>
      </p:sp>
      <p:sp>
        <p:nvSpPr>
          <p:cNvPr id="33" name="TextBox 32"/>
          <p:cNvSpPr txBox="1"/>
          <p:nvPr/>
        </p:nvSpPr>
        <p:spPr>
          <a:xfrm>
            <a:off x="1270000" y="6565900"/>
            <a:ext cx="6731000" cy="203200"/>
          </a:xfrm>
          <a:prstGeom prst="rect">
            <a:avLst/>
          </a:prstGeom>
          <a:noFill/>
        </p:spPr>
        <p:txBody>
          <a:bodyPr wrap="square" lIns="0" tIns="0" rIns="0" bIns="0" anchor="t">
            <a:noAutofit/>
          </a:bodyPr>
          <a:lstStyle/>
          <a:p>
            <a:pPr algn="l" eaLnBrk="0" latinLnBrk="0">
              <a:lnSpc>
                <a:spcPct val="115000"/>
              </a:lnSpc>
              <a:spcBef>
                <a:spcPts val="0"/>
              </a:spcBef>
              <a:spcAft>
                <a:spcPts val="0"/>
              </a:spcAft>
              <a:defRPr sz="1000">
                <a:latin typeface="Malgun Gothic"/>
              </a:defRPr>
            </a:pPr>
            <a:r>
              <a:rPr lang="ko-KR" sz="1000" b="0" i="1" u="none">
                <a:solidFill>
                  <a:srgbClr val="707B87"/>
                </a:solidFill>
                <a:latin typeface="Malgun Gothic"/>
                <a:ea typeface="Malgun Gothic"/>
                <a:cs typeface="Malgun Gothic"/>
                <a:hlinkClick r:id="rId5"/>
              </a:rPr>
              <a:t>출처: Elpanneteknik | https://e-boiler.se/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온수보일러 · 저전압과 고전압 제품군</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13</a:t>
            </a:r>
          </a:p>
        </p:txBody>
      </p:sp>
      <p:graphicFrame>
        <p:nvGraphicFramePr>
          <p:cNvPr id="11" name="Table 10"/>
          <p:cNvGraphicFramePr>
            <a:graphicFrameLocks noGrp="1"/>
          </p:cNvGraphicFramePr>
          <p:nvPr>
            <p:extLst>
              <p:ext uri="{D42A27DB-BD31-4B8C-83A1-F6EECF244321}">
                <p14:modId xmlns:p14="http://schemas.microsoft.com/office/powerpoint/2010/main" val="782640522"/>
              </p:ext>
            </p:extLst>
          </p:nvPr>
        </p:nvGraphicFramePr>
        <p:xfrm>
          <a:off x="381000" y="1079500"/>
          <a:ext cx="8382000" cy="3492496"/>
        </p:xfrm>
        <a:graphic>
          <a:graphicData uri="http://schemas.openxmlformats.org/drawingml/2006/table">
            <a:tbl>
              <a:tblPr>
                <a:tableStyleId>{5C22544A-7EE6-4342-B048-85BDC9FD1C3A}</a:tableStyleId>
              </a:tblPr>
              <a:tblGrid>
                <a:gridCol w="11049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355600">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dirty="0">
                          <a:solidFill>
                            <a:srgbClr val="1F497D"/>
                          </a:solidFill>
                          <a:latin typeface="Malgun Gothic"/>
                          <a:ea typeface="Malgun Gothic"/>
                          <a:cs typeface="Malgun Gothic"/>
                        </a:rPr>
                        <a:t>구분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저전압 온수보일러</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고전압 온수보일러</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522816">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방식</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주로 </a:t>
                      </a:r>
                      <a:r>
                        <a:rPr lang="ko-KR" sz="1250" b="0" dirty="0" err="1">
                          <a:solidFill>
                            <a:srgbClr val="262626"/>
                          </a:solidFill>
                          <a:latin typeface="Malgun Gothic"/>
                          <a:ea typeface="Malgun Gothic"/>
                          <a:cs typeface="Malgun Gothic"/>
                        </a:rPr>
                        <a:t>엘리먼트</a:t>
                      </a:r>
                      <a:r>
                        <a:rPr lang="ko-KR" sz="1250" b="0" dirty="0">
                          <a:solidFill>
                            <a:srgbClr val="262626"/>
                          </a:solidFill>
                          <a:latin typeface="Malgun Gothic"/>
                          <a:ea typeface="Malgun Gothic"/>
                          <a:cs typeface="Malgun Gothic"/>
                        </a:rPr>
                        <a:t>(발열체)식</a:t>
                      </a:r>
                    </a:p>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필요에 따라 </a:t>
                      </a:r>
                      <a:r>
                        <a:rPr lang="ko-KR" sz="1250" b="0" dirty="0" err="1">
                          <a:solidFill>
                            <a:srgbClr val="262626"/>
                          </a:solidFill>
                          <a:latin typeface="Malgun Gothic"/>
                          <a:ea typeface="Malgun Gothic"/>
                          <a:cs typeface="Malgun Gothic"/>
                        </a:rPr>
                        <a:t>전극식</a:t>
                      </a:r>
                      <a:r>
                        <a:rPr lang="ko-KR" sz="1250" b="0" dirty="0">
                          <a:solidFill>
                            <a:srgbClr val="262626"/>
                          </a:solidFill>
                          <a:latin typeface="Malgun Gothic"/>
                          <a:ea typeface="Malgun Gothic"/>
                          <a:cs typeface="Malgun Gothic"/>
                        </a:rPr>
                        <a:t> 선택 가능</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err="1">
                          <a:solidFill>
                            <a:srgbClr val="262626"/>
                          </a:solidFill>
                          <a:latin typeface="Malgun Gothic"/>
                          <a:ea typeface="Malgun Gothic"/>
                          <a:cs typeface="Malgun Gothic"/>
                        </a:rPr>
                        <a:t>전극식</a:t>
                      </a:r>
                      <a:r>
                        <a:rPr lang="ko-KR" sz="1250" b="0" dirty="0">
                          <a:solidFill>
                            <a:srgbClr val="262626"/>
                          </a:solidFill>
                          <a:latin typeface="Malgun Gothic"/>
                          <a:ea typeface="Malgun Gothic"/>
                          <a:cs typeface="Malgun Gothic"/>
                        </a:rPr>
                        <a:t> · 직접가열</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2816">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용량</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18~6,000 </a:t>
                      </a:r>
                      <a:r>
                        <a:rPr lang="ko-KR" sz="1250" b="0" dirty="0" err="1">
                          <a:solidFill>
                            <a:srgbClr val="262626"/>
                          </a:solidFill>
                          <a:latin typeface="Malgun Gothic"/>
                          <a:ea typeface="Malgun Gothic"/>
                          <a:cs typeface="Malgun Gothic"/>
                        </a:rPr>
                        <a:t>kW</a:t>
                      </a:r>
                      <a:endParaRPr lang="ko-KR" sz="1300" b="0" dirty="0">
                        <a:solidFill>
                          <a:srgbClr val="262626"/>
                        </a:solidFill>
                        <a:latin typeface="Malgun Gothic"/>
                        <a:ea typeface="Malgun Gothic"/>
                        <a:cs typeface="Malgun Gothic"/>
                      </a:endParaRPr>
                    </a:p>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일부 자료: 400~6,000 </a:t>
                      </a:r>
                      <a:r>
                        <a:rPr lang="ko-KR" sz="1250" b="0" dirty="0" err="1">
                          <a:solidFill>
                            <a:srgbClr val="262626"/>
                          </a:solidFill>
                          <a:latin typeface="Malgun Gothic"/>
                          <a:ea typeface="Malgun Gothic"/>
                          <a:cs typeface="Malgun Gothic"/>
                        </a:rPr>
                        <a:t>kW</a:t>
                      </a:r>
                      <a:endParaRPr lang="ko-KR" sz="13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4~60 MW</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2816">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전압</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400~690 </a:t>
                      </a:r>
                      <a:r>
                        <a:rPr lang="ko-KR" sz="1250" b="0" dirty="0" err="1">
                          <a:solidFill>
                            <a:srgbClr val="262626"/>
                          </a:solidFill>
                          <a:latin typeface="Malgun Gothic"/>
                          <a:ea typeface="Malgun Gothic"/>
                          <a:cs typeface="Malgun Gothic"/>
                        </a:rPr>
                        <a:t>V</a:t>
                      </a:r>
                      <a:endParaRPr lang="ko-KR" sz="13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6~15 </a:t>
                      </a:r>
                      <a:r>
                        <a:rPr lang="ko-KR" sz="1250" b="0" dirty="0" err="1">
                          <a:solidFill>
                            <a:srgbClr val="262626"/>
                          </a:solidFill>
                          <a:latin typeface="Malgun Gothic"/>
                          <a:ea typeface="Malgun Gothic"/>
                          <a:cs typeface="Malgun Gothic"/>
                        </a:rPr>
                        <a:t>kV</a:t>
                      </a:r>
                      <a:r>
                        <a:rPr lang="ko-KR" sz="1250" b="0" dirty="0">
                          <a:solidFill>
                            <a:srgbClr val="262626"/>
                          </a:solidFill>
                          <a:latin typeface="Malgun Gothic"/>
                          <a:ea typeface="Malgun Gothic"/>
                          <a:cs typeface="Malgun Gothic"/>
                        </a:rPr>
                        <a:t> · 3상</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2816">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최대 온도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120°C </a:t>
                      </a:r>
                      <a:r>
                        <a:rPr lang="ko-KR"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초과 시 </a:t>
                      </a:r>
                      <a:r>
                        <a:rPr lang="ko-KR" sz="1250" b="0" dirty="0" err="1">
                          <a:solidFill>
                            <a:srgbClr val="262626"/>
                          </a:solidFill>
                          <a:latin typeface="Malgun Gothic"/>
                          <a:ea typeface="Malgun Gothic"/>
                          <a:cs typeface="Malgun Gothic"/>
                        </a:rPr>
                        <a:t>스팀보일러+열교환기</a:t>
                      </a:r>
                      <a:r>
                        <a:rPr lang="ko-KR" altLang="ko-KR" sz="1250" b="0" dirty="0">
                          <a:solidFill>
                            <a:srgbClr val="262626"/>
                          </a:solidFill>
                          <a:latin typeface="Malgun Gothic"/>
                          <a:ea typeface="Malgun Gothic"/>
                          <a:cs typeface="Malgun Gothic"/>
                        </a:rPr>
                        <a:t> </a:t>
                      </a:r>
                      <a:r>
                        <a:rPr lang="ko-KR" altLang="en-US" sz="1250" b="0" dirty="0">
                          <a:solidFill>
                            <a:srgbClr val="262626"/>
                          </a:solidFill>
                          <a:latin typeface="Malgun Gothic"/>
                          <a:ea typeface="Malgun Gothic"/>
                          <a:cs typeface="Malgun Gothic"/>
                        </a:rPr>
                        <a:t>조합</a:t>
                      </a:r>
                      <a:r>
                        <a:rPr lang="ko-KR" altLang="ko-KR" sz="1250" b="0" dirty="0">
                          <a:solidFill>
                            <a:srgbClr val="262626"/>
                          </a:solidFill>
                          <a:latin typeface="Malgun Gothic"/>
                          <a:ea typeface="Malgun Gothic"/>
                          <a:cs typeface="Malgun Gothic"/>
                        </a:rPr>
                        <a:t>)</a:t>
                      </a:r>
                      <a:endParaRPr lang="ko-KR" sz="13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2816">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dirty="0">
                          <a:solidFill>
                            <a:srgbClr val="1F497D"/>
                          </a:solidFill>
                          <a:latin typeface="Malgun Gothic"/>
                          <a:ea typeface="Malgun Gothic"/>
                          <a:cs typeface="Malgun Gothic"/>
                        </a:rPr>
                        <a:t>효율</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99.9%</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2816">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용도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소·중규모 산업 열원 · 건물 난방</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대형 </a:t>
                      </a:r>
                      <a:r>
                        <a:rPr lang="ko-KR" sz="1250" b="0" dirty="0" err="1">
                          <a:solidFill>
                            <a:srgbClr val="262626"/>
                          </a:solidFill>
                          <a:latin typeface="Malgun Gothic"/>
                          <a:ea typeface="Malgun Gothic"/>
                          <a:cs typeface="Malgun Gothic"/>
                        </a:rPr>
                        <a:t>지역난방·산업</a:t>
                      </a:r>
                      <a:r>
                        <a:rPr lang="ko-KR" sz="1250" b="0" dirty="0">
                          <a:solidFill>
                            <a:srgbClr val="262626"/>
                          </a:solidFill>
                          <a:latin typeface="Malgun Gothic"/>
                          <a:ea typeface="Malgun Gothic"/>
                          <a:cs typeface="Malgun Gothic"/>
                        </a:rPr>
                        <a:t> 열원·</a:t>
                      </a:r>
                      <a:endParaRPr lang="en-US" altLang="ko-KR" sz="1300" b="0" dirty="0">
                        <a:solidFill>
                          <a:srgbClr val="262626"/>
                        </a:solidFill>
                        <a:latin typeface="Malgun Gothic"/>
                        <a:ea typeface="Malgun Gothic"/>
                        <a:cs typeface="Malgun Gothic"/>
                      </a:endParaRPr>
                    </a:p>
                    <a:p>
                      <a:pPr eaLnBrk="0" latinLnBrk="0" algn="l">
                        <a:lnSpc>
                          <a:spcPct val="115000"/>
                        </a:lnSpc>
                        <a:spcBef>
                          <a:spcPts val="0"/>
                        </a:spcBef>
                        <a:spcAft>
                          <a:spcPts val="0"/>
                        </a:spcAft>
                        <a:defRPr sz="1250">
                          <a:latin typeface="Malgun Gothic"/>
                        </a:defRPr>
                      </a:pPr>
                      <a:r>
                        <a:rPr lang="ko-KR" sz="1250" b="0" dirty="0" err="1">
                          <a:solidFill>
                            <a:srgbClr val="262626"/>
                          </a:solidFill>
                          <a:latin typeface="Malgun Gothic"/>
                          <a:ea typeface="Malgun Gothic"/>
                          <a:cs typeface="Malgun Gothic"/>
                        </a:rPr>
                        <a:t>전력망</a:t>
                      </a:r>
                      <a:r>
                        <a:rPr lang="ko-KR" altLang="ko-KR" sz="1250" b="0" dirty="0">
                          <a:solidFill>
                            <a:srgbClr val="262626"/>
                          </a:solidFill>
                          <a:latin typeface="Malgun Gothic"/>
                          <a:ea typeface="Malgun Gothic"/>
                          <a:cs typeface="Malgun Gothic"/>
                        </a:rPr>
                        <a:t> </a:t>
                      </a:r>
                      <a:r>
                        <a:rPr lang="ko-KR" sz="1250" b="0" dirty="0">
                          <a:solidFill>
                            <a:srgbClr val="262626"/>
                          </a:solidFill>
                          <a:latin typeface="Malgun Gothic"/>
                          <a:ea typeface="Malgun Gothic"/>
                          <a:cs typeface="Malgun Gothic"/>
                        </a:rPr>
                        <a:t>주파수</a:t>
                      </a:r>
                      <a:r>
                        <a:rPr lang="ko-KR" altLang="ko-KR" sz="1250" b="0" dirty="0">
                          <a:solidFill>
                            <a:srgbClr val="262626"/>
                          </a:solidFill>
                          <a:latin typeface="Malgun Gothic"/>
                          <a:ea typeface="Malgun Gothic"/>
                          <a:cs typeface="Malgun Gothic"/>
                        </a:rPr>
                        <a:t> </a:t>
                      </a:r>
                      <a:r>
                        <a:rPr lang="ko-KR" sz="1250" b="0" dirty="0" err="1">
                          <a:solidFill>
                            <a:srgbClr val="262626"/>
                          </a:solidFill>
                          <a:latin typeface="Malgun Gothic"/>
                          <a:ea typeface="Malgun Gothic"/>
                          <a:cs typeface="Malgun Gothic"/>
                        </a:rPr>
                        <a:t>조정·열저장</a:t>
                      </a:r>
                      <a:r>
                        <a:rPr lang="ko-KR" sz="1250" b="0" dirty="0">
                          <a:solidFill>
                            <a:srgbClr val="262626"/>
                          </a:solidFill>
                          <a:latin typeface="Malgun Gothic"/>
                          <a:ea typeface="Malgun Gothic"/>
                          <a:cs typeface="Malgun Gothic"/>
                        </a:rPr>
                        <a:t>(P2H)</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Box 11"/>
          <p:cNvSpPr txBox="1"/>
          <p:nvPr/>
        </p:nvSpPr>
        <p:spPr>
          <a:xfrm>
            <a:off x="381000" y="4787900"/>
            <a:ext cx="41021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고전압 제품의 핵심 구조</a:t>
            </a:r>
          </a:p>
        </p:txBody>
      </p:sp>
      <p:sp>
        <p:nvSpPr>
          <p:cNvPr id="13" name="TextBox 12"/>
          <p:cNvSpPr txBox="1"/>
          <p:nvPr/>
        </p:nvSpPr>
        <p:spPr>
          <a:xfrm>
            <a:off x="381000" y="5181600"/>
            <a:ext cx="4102100" cy="9525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Y결선</a:t>
            </a:r>
            <a:r>
              <a:rPr lang="ko-KR" sz="1350" b="0" dirty="0">
                <a:solidFill>
                  <a:srgbClr val="262626"/>
                </a:solidFill>
                <a:latin typeface="Malgun Gothic"/>
                <a:ea typeface="Malgun Gothic"/>
                <a:cs typeface="Malgun Gothic"/>
              </a:rPr>
              <a:t> 상전극을 용기 천장에 설치</a:t>
            </a:r>
          </a:p>
          <a:p>
            <a:pPr algn="l" eaLnBrk="0" latinLnBrk="0">
              <a:lnSpc>
                <a:spcPts val="1809"/>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고정된 튜브 3개의 </a:t>
            </a:r>
            <a:r>
              <a:rPr lang="ko-KR" sz="1350" b="0" dirty="0" err="1">
                <a:solidFill>
                  <a:srgbClr val="262626"/>
                </a:solidFill>
                <a:latin typeface="Malgun Gothic"/>
                <a:ea typeface="Malgun Gothic"/>
                <a:cs typeface="Malgun Gothic"/>
              </a:rPr>
              <a:t>중성점</a:t>
            </a:r>
            <a:r>
              <a:rPr lang="ko-KR" sz="1350" b="0" dirty="0">
                <a:solidFill>
                  <a:srgbClr val="262626"/>
                </a:solidFill>
                <a:latin typeface="Malgun Gothic"/>
                <a:ea typeface="Malgun Gothic"/>
                <a:cs typeface="Malgun Gothic"/>
              </a:rPr>
              <a:t> 전극과 통전</a:t>
            </a:r>
          </a:p>
          <a:p>
            <a:pPr algn="l" eaLnBrk="0" latinLnBrk="0">
              <a:lnSpc>
                <a:spcPts val="1809"/>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절연 </a:t>
            </a:r>
            <a:r>
              <a:rPr lang="ko-KR" sz="1350" b="0" dirty="0" err="1">
                <a:solidFill>
                  <a:srgbClr val="262626"/>
                </a:solidFill>
                <a:latin typeface="Malgun Gothic"/>
                <a:ea typeface="Malgun Gothic"/>
                <a:cs typeface="Malgun Gothic"/>
              </a:rPr>
              <a:t>조절식</a:t>
            </a:r>
            <a:r>
              <a:rPr lang="ko-KR" sz="1350" b="0" dirty="0">
                <a:solidFill>
                  <a:srgbClr val="262626"/>
                </a:solidFill>
                <a:latin typeface="Malgun Gothic"/>
                <a:ea typeface="Malgun Gothic"/>
                <a:cs typeface="Malgun Gothic"/>
              </a:rPr>
              <a:t> 차폐판을 상하로 움직여</a:t>
            </a:r>
            <a:endParaRPr lang="en-US" altLang="ko-KR" sz="1350" dirty="0">
              <a:solidFill>
                <a:srgbClr val="262626"/>
              </a:solidFill>
              <a:latin typeface="Malgun Gothic"/>
              <a:ea typeface="Malgun Gothic"/>
              <a:cs typeface="Malgun Gothic"/>
            </a:endParaRPr>
          </a:p>
          <a:p>
            <a:pPr algn="l" eaLnBrk="0" latinLnBrk="0">
              <a:lnSpc>
                <a:spcPts val="1809"/>
              </a:lnSpc>
              <a:spcBef>
                <a:spcPts val="0"/>
              </a:spcBef>
              <a:spcAft>
                <a:spcPts val="0"/>
              </a:spcAft>
            </a:pPr>
            <a:r>
              <a:rPr lang="en-US" altLang="ko-KR" sz="1350" dirty="0">
                <a:solidFill>
                  <a:schemeClr val="bg1"/>
                </a:solidFill>
                <a:latin typeface="Malgun Gothic"/>
                <a:ea typeface="Malgun Gothic"/>
                <a:cs typeface="Malgun Gothic"/>
              </a:rPr>
              <a:t>-</a:t>
            </a:r>
            <a:r>
              <a:rPr lang="en-US" altLang="ko-KR" sz="135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전극 노출면적과 출력을 제어</a:t>
            </a:r>
          </a:p>
        </p:txBody>
      </p:sp>
      <p:sp>
        <p:nvSpPr>
          <p:cNvPr id="14" name="TextBox 13"/>
          <p:cNvSpPr txBox="1"/>
          <p:nvPr/>
        </p:nvSpPr>
        <p:spPr>
          <a:xfrm>
            <a:off x="4660900" y="4787900"/>
            <a:ext cx="41021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충수 및 수질 관리</a:t>
            </a:r>
          </a:p>
        </p:txBody>
      </p:sp>
      <p:sp>
        <p:nvSpPr>
          <p:cNvPr id="15" name="TextBox 14"/>
          <p:cNvSpPr txBox="1"/>
          <p:nvPr/>
        </p:nvSpPr>
        <p:spPr>
          <a:xfrm>
            <a:off x="4660900" y="5181600"/>
            <a:ext cx="4102100" cy="9525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i="0">
                <a:solidFill>
                  <a:srgbClr val="262626"/>
                </a:solidFill>
                <a:latin typeface="Malgun Gothic"/>
                <a:ea typeface="Malgun Gothic"/>
                <a:cs typeface="Malgun Gothic"/>
              </a:rPr>
              <a:t>탈염 후: 전도도 ≤10 µS/cm (25°C)</a:t>
            </a:r>
            <a:endParaRPr lang="en-US" altLang="ko-KR" sz="1350" b="0" dirty="0">
              <a:solidFill>
                <a:srgbClr val="262626"/>
              </a:solidFill>
              <a:latin typeface="Malgun Gothic"/>
              <a:ea typeface="Malgun Gothic"/>
              <a:cs typeface="Malgun Gothic"/>
            </a:endParaRPr>
          </a:p>
          <a:p>
            <a:pPr algn="l" eaLnBrk="0" latinLnBrk="0">
              <a:lnSpc>
                <a:spcPts val="1809"/>
              </a:lnSpc>
              <a:spcBef>
                <a:spcPts val="0"/>
              </a:spcBef>
              <a:spcAft>
                <a:spcPts val="0"/>
              </a:spcAft>
            </a:pPr>
            <a:r>
              <a:rPr lang="ko-KR" sz="1350" b="0" i="0">
                <a:solidFill>
                  <a:srgbClr val="262626"/>
                </a:solidFill>
                <a:latin typeface="Malgun Gothic"/>
                <a:ea typeface="Malgun Gothic"/>
                <a:cs typeface="Malgun Gothic"/>
              </a:rPr>
              <a:t>pH ≥7</a:t>
            </a:r>
          </a:p>
          <a:p>
            <a:pPr algn="l" eaLnBrk="0" latinLnBrk="0">
              <a:lnSpc>
                <a:spcPts val="1809"/>
              </a:lnSpc>
              <a:spcBef>
                <a:spcPts val="0"/>
              </a:spcBef>
              <a:spcAft>
                <a:spcPts val="0"/>
              </a:spcAft>
            </a:pPr>
            <a:r>
              <a:rPr lang="ko-KR" sz="1350" b="0" i="0">
                <a:solidFill>
                  <a:srgbClr val="262626"/>
                </a:solidFill>
                <a:latin typeface="Malgun Gothic"/>
                <a:ea typeface="Malgun Gothic"/>
                <a:cs typeface="Malgun Gothic"/>
              </a:rPr>
              <a:t>인산삼나트륨(Na₃PO₄) 주입 후</a:t>
            </a:r>
          </a:p>
          <a:p>
            <a:pPr algn="l" eaLnBrk="0" latinLnBrk="0">
              <a:lnSpc>
                <a:spcPts val="1809"/>
              </a:lnSpc>
              <a:spcBef>
                <a:spcPts val="0"/>
              </a:spcBef>
              <a:spcAft>
                <a:spcPts val="0"/>
              </a:spcAft>
            </a:pPr>
            <a:r>
              <a:rPr lang="ko-KR" sz="1350" b="0" i="0">
                <a:solidFill>
                  <a:srgbClr val="262626"/>
                </a:solidFill>
                <a:latin typeface="Malgun Gothic"/>
                <a:ea typeface="Malgun Gothic"/>
                <a:cs typeface="Malgun Gothic"/>
              </a:rPr>
              <a:t>pH 8.5~9.5로 조정</a:t>
            </a:r>
          </a:p>
        </p:txBody>
      </p:sp>
      <p:sp>
        <p:nvSpPr>
          <p:cNvPr id="16" name="TextBox 15"/>
          <p:cNvSpPr txBox="1"/>
          <p:nvPr/>
        </p:nvSpPr>
        <p:spPr>
          <a:xfrm>
            <a:off x="1270000" y="6565900"/>
            <a:ext cx="6731000" cy="203200"/>
          </a:xfrm>
          <a:prstGeom prst="rect">
            <a:avLst/>
          </a:prstGeom>
          <a:noFill/>
        </p:spPr>
        <p:txBody>
          <a:bodyPr wrap="square" lIns="0" tIns="0" rIns="0" bIns="0" anchor="t">
            <a:noAutofit/>
          </a:bodyPr>
          <a:lstStyle/>
          <a:p>
            <a:pPr algn="l" eaLnBrk="0" latinLnBrk="0">
              <a:lnSpc>
                <a:spcPct val="115000"/>
              </a:lnSpc>
              <a:spcBef>
                <a:spcPts val="0"/>
              </a:spcBef>
              <a:spcAft>
                <a:spcPts val="0"/>
              </a:spcAft>
              <a:defRPr sz="1000">
                <a:latin typeface="Malgun Gothic"/>
              </a:defRPr>
            </a:pPr>
            <a:r>
              <a:rPr lang="ko-KR" sz="1000" b="0" i="1" u="none">
                <a:solidFill>
                  <a:srgbClr val="707B87"/>
                </a:solidFill>
                <a:latin typeface="Malgun Gothic"/>
                <a:ea typeface="Malgun Gothic"/>
                <a:cs typeface="Malgun Gothic"/>
                <a:hlinkClick r:id="rId4"/>
              </a:rPr>
              <a:t>출처: Elpanneteknik | https://e-boiler.se/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증기보일러 · 구조와 운전 특성</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14</a:t>
            </a:r>
          </a:p>
        </p:txBody>
      </p:sp>
      <p:sp>
        <p:nvSpPr>
          <p:cNvPr id="11" name="Rectangle 10"/>
          <p:cNvSpPr/>
          <p:nvPr/>
        </p:nvSpPr>
        <p:spPr>
          <a:xfrm>
            <a:off x="381000" y="1079500"/>
            <a:ext cx="4070350" cy="838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2" name="TextBox 11"/>
          <p:cNvSpPr txBox="1"/>
          <p:nvPr/>
        </p:nvSpPr>
        <p:spPr>
          <a:xfrm>
            <a:off x="495300" y="1193800"/>
            <a:ext cx="384175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전극보일러</a:t>
            </a:r>
          </a:p>
        </p:txBody>
      </p:sp>
      <p:sp>
        <p:nvSpPr>
          <p:cNvPr id="13" name="TextBox 12"/>
          <p:cNvSpPr txBox="1"/>
          <p:nvPr/>
        </p:nvSpPr>
        <p:spPr>
          <a:xfrm>
            <a:off x="482600" y="1536700"/>
            <a:ext cx="3867150" cy="3429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0">
                <a:solidFill>
                  <a:srgbClr val="262626"/>
                </a:solidFill>
                <a:latin typeface="Malgun Gothic"/>
                <a:ea typeface="Malgun Gothic"/>
                <a:cs typeface="Malgun Gothic"/>
              </a:rPr>
              <a:t>6~14 kV / 6~60 MW</a:t>
            </a:r>
          </a:p>
        </p:txBody>
      </p:sp>
      <p:sp>
        <p:nvSpPr>
          <p:cNvPr id="14" name="Rectangle 13"/>
          <p:cNvSpPr/>
          <p:nvPr/>
        </p:nvSpPr>
        <p:spPr>
          <a:xfrm>
            <a:off x="4692650" y="1079500"/>
            <a:ext cx="4070350" cy="838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5" name="TextBox 14"/>
          <p:cNvSpPr txBox="1"/>
          <p:nvPr/>
        </p:nvSpPr>
        <p:spPr>
          <a:xfrm>
            <a:off x="4826000" y="1193800"/>
            <a:ext cx="384175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전기저항보일러</a:t>
            </a:r>
          </a:p>
        </p:txBody>
      </p:sp>
      <p:sp>
        <p:nvSpPr>
          <p:cNvPr id="16" name="TextBox 15"/>
          <p:cNvSpPr txBox="1"/>
          <p:nvPr/>
        </p:nvSpPr>
        <p:spPr>
          <a:xfrm>
            <a:off x="4794250" y="1536700"/>
            <a:ext cx="3867150" cy="3429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0">
                <a:solidFill>
                  <a:srgbClr val="262626"/>
                </a:solidFill>
                <a:latin typeface="Malgun Gothic"/>
                <a:ea typeface="Malgun Gothic"/>
                <a:cs typeface="Malgun Gothic"/>
              </a:rPr>
              <a:t>380~690 V / 최대 6 MW</a:t>
            </a:r>
          </a:p>
        </p:txBody>
      </p:sp>
      <p:sp>
        <p:nvSpPr>
          <p:cNvPr id="17" name="TextBox 16"/>
          <p:cNvSpPr txBox="1"/>
          <p:nvPr/>
        </p:nvSpPr>
        <p:spPr>
          <a:xfrm>
            <a:off x="381000" y="2133600"/>
            <a:ext cx="4102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침지형 구조와 증기 발생</a:t>
            </a:r>
          </a:p>
        </p:txBody>
      </p:sp>
      <p:sp>
        <p:nvSpPr>
          <p:cNvPr id="18" name="Rectangle 17"/>
          <p:cNvSpPr/>
          <p:nvPr/>
        </p:nvSpPr>
        <p:spPr>
          <a:xfrm>
            <a:off x="381000" y="2654300"/>
            <a:ext cx="38100" cy="38100"/>
          </a:xfrm>
          <a:prstGeom prst="rect">
            <a:avLst/>
          </a:prstGeom>
          <a:solidFill>
            <a:srgbClr val="65758A"/>
          </a:solidFill>
          <a:ln>
            <a:noFill/>
          </a:ln>
          <a:effectLst/>
        </p:spPr>
        <p:txBody>
          <a:bodyPr rtlCol="0" anchor="ctr"/>
          <a:lstStyle/>
          <a:p>
            <a:pPr algn="ctr"/>
            <a:endParaRPr/>
          </a:p>
        </p:txBody>
      </p:sp>
      <p:sp>
        <p:nvSpPr>
          <p:cNvPr id="19" name="TextBox 18"/>
          <p:cNvSpPr txBox="1"/>
          <p:nvPr/>
        </p:nvSpPr>
        <p:spPr>
          <a:xfrm>
            <a:off x="571500" y="25654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dirty="0" err="1">
                <a:solidFill>
                  <a:srgbClr val="262626"/>
                </a:solidFill>
                <a:latin typeface="Malgun Gothic"/>
                <a:ea typeface="Malgun Gothic"/>
                <a:cs typeface="Malgun Gothic"/>
              </a:rPr>
              <a:t>외조·내조의</a:t>
            </a:r>
            <a:r>
              <a:rPr lang="ko-KR" sz="1300" b="0" dirty="0">
                <a:solidFill>
                  <a:srgbClr val="262626"/>
                </a:solidFill>
                <a:latin typeface="Malgun Gothic"/>
                <a:ea typeface="Malgun Gothic"/>
                <a:cs typeface="Malgun Gothic"/>
              </a:rPr>
              <a:t> 이중 용기</a:t>
            </a:r>
            <a:endParaRPr lang="en-US" altLang="ko-KR" sz="1300" b="0" dirty="0">
              <a:solidFill>
                <a:srgbClr val="262626"/>
              </a:solidFill>
              <a:latin typeface="Malgun Gothic"/>
              <a:ea typeface="Malgun Gothic"/>
              <a:cs typeface="Malgun Gothic"/>
            </a:endParaRPr>
          </a:p>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내조는 외조와</a:t>
            </a:r>
            <a:r>
              <a:rPr lang="en-US" altLang="ko-KR" sz="1300" b="0" dirty="0">
                <a:solidFill>
                  <a:srgbClr val="262626"/>
                </a:solidFill>
                <a:latin typeface="Malgun Gothic"/>
                <a:ea typeface="Malgun Gothic"/>
                <a:cs typeface="Malgun Gothic"/>
              </a:rPr>
              <a:t> </a:t>
            </a:r>
            <a:r>
              <a:rPr lang="ko-KR" sz="1300" b="0" dirty="0">
                <a:solidFill>
                  <a:srgbClr val="262626"/>
                </a:solidFill>
                <a:latin typeface="Malgun Gothic"/>
                <a:ea typeface="Malgun Gothic"/>
                <a:cs typeface="Malgun Gothic"/>
              </a:rPr>
              <a:t>전기적으로 절연</a:t>
            </a:r>
          </a:p>
        </p:txBody>
      </p:sp>
      <p:sp>
        <p:nvSpPr>
          <p:cNvPr id="20" name="Rectangle 19"/>
          <p:cNvSpPr/>
          <p:nvPr/>
        </p:nvSpPr>
        <p:spPr>
          <a:xfrm>
            <a:off x="381000" y="3581400"/>
            <a:ext cx="38100" cy="38100"/>
          </a:xfrm>
          <a:prstGeom prst="rect">
            <a:avLst/>
          </a:prstGeom>
          <a:solidFill>
            <a:srgbClr val="65758A"/>
          </a:solidFill>
          <a:ln>
            <a:noFill/>
          </a:ln>
          <a:effectLst/>
        </p:spPr>
        <p:txBody>
          <a:bodyPr rtlCol="0" anchor="ctr"/>
          <a:lstStyle/>
          <a:p>
            <a:pPr algn="ctr"/>
            <a:endParaRPr/>
          </a:p>
        </p:txBody>
      </p:sp>
      <p:sp>
        <p:nvSpPr>
          <p:cNvPr id="21" name="TextBox 20"/>
          <p:cNvSpPr txBox="1"/>
          <p:nvPr/>
        </p:nvSpPr>
        <p:spPr>
          <a:xfrm>
            <a:off x="571500" y="34925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a:solidFill>
                  <a:srgbClr val="262626"/>
                </a:solidFill>
                <a:latin typeface="Malgun Gothic"/>
                <a:ea typeface="Malgun Gothic"/>
                <a:cs typeface="Malgun Gothic"/>
              </a:rPr>
              <a:t>내조 전극의 침수 접촉량을 수위·조절밸브로 제어</a:t>
            </a:r>
          </a:p>
          <a:p>
            <a:pPr algn="l" eaLnBrk="0" latinLnBrk="0">
              <a:lnSpc>
                <a:spcPct val="150000"/>
              </a:lnSpc>
              <a:spcBef>
                <a:spcPts val="0"/>
              </a:spcBef>
              <a:spcAft>
                <a:spcPts val="0"/>
              </a:spcAft>
            </a:pPr>
            <a:r>
              <a:rPr lang="ko-KR" sz="1300" b="0">
                <a:solidFill>
                  <a:srgbClr val="262626"/>
                </a:solidFill>
                <a:latin typeface="Malgun Gothic"/>
                <a:ea typeface="Malgun Gothic"/>
                <a:cs typeface="Malgun Gothic"/>
              </a:rPr>
              <a:t>→ 출력 0~100%</a:t>
            </a:r>
          </a:p>
        </p:txBody>
      </p:sp>
      <p:sp>
        <p:nvSpPr>
          <p:cNvPr id="22" name="Rectangle 21"/>
          <p:cNvSpPr/>
          <p:nvPr/>
        </p:nvSpPr>
        <p:spPr>
          <a:xfrm>
            <a:off x="381000" y="4508500"/>
            <a:ext cx="38100" cy="381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571500" y="44196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물-전극 사이 옴저항으로 발열.</a:t>
            </a:r>
          </a:p>
          <a:p>
            <a:pPr algn="l" eaLnBrk="0" latinLnBrk="0">
              <a:lnSpc>
                <a:spcPct val="150000"/>
              </a:lnSpc>
              <a:spcBef>
                <a:spcPts val="0"/>
              </a:spcBef>
              <a:spcAft>
                <a:spcPts val="0"/>
              </a:spcAft>
            </a:pPr>
            <a:r>
              <a:rPr lang="ko-KR" sz="1300" b="0" dirty="0" err="1">
                <a:solidFill>
                  <a:srgbClr val="262626"/>
                </a:solidFill>
                <a:latin typeface="Malgun Gothic"/>
                <a:ea typeface="Malgun Gothic"/>
                <a:cs typeface="Malgun Gothic"/>
              </a:rPr>
              <a:t>순환량:증발량</a:t>
            </a:r>
            <a:r>
              <a:rPr lang="ko-KR" sz="1300" b="0" dirty="0">
                <a:solidFill>
                  <a:srgbClr val="262626"/>
                </a:solidFill>
                <a:latin typeface="Malgun Gothic"/>
                <a:ea typeface="Malgun Gothic"/>
                <a:cs typeface="Malgun Gothic"/>
              </a:rPr>
              <a:t> ≈ 10:1</a:t>
            </a:r>
          </a:p>
        </p:txBody>
      </p:sp>
      <p:sp>
        <p:nvSpPr>
          <p:cNvPr id="24" name="Rectangle 23"/>
          <p:cNvSpPr/>
          <p:nvPr/>
        </p:nvSpPr>
        <p:spPr>
          <a:xfrm>
            <a:off x="381000" y="5435600"/>
            <a:ext cx="38100" cy="38100"/>
          </a:xfrm>
          <a:prstGeom prst="rect">
            <a:avLst/>
          </a:prstGeom>
          <a:solidFill>
            <a:srgbClr val="65758A"/>
          </a:solidFill>
          <a:ln>
            <a:noFill/>
          </a:ln>
          <a:effectLst/>
        </p:spPr>
        <p:txBody>
          <a:bodyPr rtlCol="0" anchor="ctr"/>
          <a:lstStyle/>
          <a:p>
            <a:pPr algn="ctr"/>
            <a:endParaRPr/>
          </a:p>
        </p:txBody>
      </p:sp>
      <p:sp>
        <p:nvSpPr>
          <p:cNvPr id="25" name="TextBox 24"/>
          <p:cNvSpPr txBox="1"/>
          <p:nvPr/>
        </p:nvSpPr>
        <p:spPr>
          <a:xfrm>
            <a:off x="571500" y="53467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증기는 용기 상부에서 </a:t>
            </a:r>
            <a:r>
              <a:rPr lang="ko-KR" altLang="en-US" sz="1300" b="0" dirty="0">
                <a:solidFill>
                  <a:srgbClr val="262626"/>
                </a:solidFill>
                <a:latin typeface="Malgun Gothic"/>
                <a:ea typeface="Malgun Gothic"/>
                <a:cs typeface="Malgun Gothic"/>
              </a:rPr>
              <a:t>주 </a:t>
            </a:r>
            <a:r>
              <a:rPr lang="ko-KR" sz="1300" b="0" dirty="0">
                <a:solidFill>
                  <a:srgbClr val="262626"/>
                </a:solidFill>
                <a:latin typeface="Malgun Gothic"/>
                <a:ea typeface="Malgun Gothic"/>
                <a:cs typeface="Malgun Gothic"/>
              </a:rPr>
              <a:t>증기</a:t>
            </a:r>
            <a:r>
              <a:rPr lang="en-US" altLang="ko-KR" sz="1300" b="0" dirty="0">
                <a:solidFill>
                  <a:srgbClr val="262626"/>
                </a:solidFill>
                <a:latin typeface="Malgun Gothic"/>
                <a:ea typeface="Malgun Gothic"/>
                <a:cs typeface="Malgun Gothic"/>
              </a:rPr>
              <a:t> </a:t>
            </a:r>
            <a:r>
              <a:rPr lang="ko-KR" sz="1300" b="0" dirty="0">
                <a:solidFill>
                  <a:srgbClr val="262626"/>
                </a:solidFill>
                <a:latin typeface="Malgun Gothic"/>
                <a:ea typeface="Malgun Gothic"/>
                <a:cs typeface="Malgun Gothic"/>
              </a:rPr>
              <a:t>밸브로 배출</a:t>
            </a:r>
            <a:endParaRPr lang="en-US" altLang="ko-KR" sz="1300" b="0" dirty="0">
              <a:solidFill>
                <a:srgbClr val="262626"/>
              </a:solidFill>
              <a:latin typeface="Malgun Gothic"/>
              <a:ea typeface="Malgun Gothic"/>
              <a:cs typeface="Malgun Gothic"/>
            </a:endParaRPr>
          </a:p>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증기압</a:t>
            </a:r>
            <a:r>
              <a:rPr lang="en-US" altLang="ko-KR" sz="1300" b="0" dirty="0">
                <a:solidFill>
                  <a:srgbClr val="262626"/>
                </a:solidFill>
                <a:latin typeface="Malgun Gothic"/>
                <a:ea typeface="Malgun Gothic"/>
                <a:cs typeface="Malgun Gothic"/>
              </a:rPr>
              <a:t> </a:t>
            </a:r>
            <a:r>
              <a:rPr lang="ko-KR" sz="1300" b="0" dirty="0">
                <a:solidFill>
                  <a:srgbClr val="262626"/>
                </a:solidFill>
                <a:latin typeface="Malgun Gothic"/>
                <a:ea typeface="Malgun Gothic"/>
                <a:cs typeface="Malgun Gothic"/>
              </a:rPr>
              <a:t>초과 시 출력 자동 감소</a:t>
            </a:r>
          </a:p>
        </p:txBody>
      </p:sp>
      <p:sp>
        <p:nvSpPr>
          <p:cNvPr id="26" name="TextBox 25"/>
          <p:cNvSpPr txBox="1"/>
          <p:nvPr/>
        </p:nvSpPr>
        <p:spPr>
          <a:xfrm>
            <a:off x="4660900" y="2133600"/>
            <a:ext cx="4102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수질·전기 안정성</a:t>
            </a:r>
          </a:p>
        </p:txBody>
      </p:sp>
      <p:sp>
        <p:nvSpPr>
          <p:cNvPr id="27" name="Rectangle 26"/>
          <p:cNvSpPr/>
          <p:nvPr/>
        </p:nvSpPr>
        <p:spPr>
          <a:xfrm>
            <a:off x="4660900" y="2654300"/>
            <a:ext cx="38100" cy="38100"/>
          </a:xfrm>
          <a:prstGeom prst="rect">
            <a:avLst/>
          </a:prstGeom>
          <a:solidFill>
            <a:srgbClr val="65758A"/>
          </a:solidFill>
          <a:ln>
            <a:noFill/>
          </a:ln>
          <a:effectLst/>
        </p:spPr>
        <p:txBody>
          <a:bodyPr rtlCol="0" anchor="ctr"/>
          <a:lstStyle/>
          <a:p>
            <a:pPr algn="ctr"/>
            <a:endParaRPr/>
          </a:p>
        </p:txBody>
      </p:sp>
      <p:sp>
        <p:nvSpPr>
          <p:cNvPr id="28" name="TextBox 27"/>
          <p:cNvSpPr txBox="1"/>
          <p:nvPr/>
        </p:nvSpPr>
        <p:spPr>
          <a:xfrm>
            <a:off x="4851400" y="25654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자동 표면 </a:t>
            </a:r>
            <a:r>
              <a:rPr lang="ko-KR" sz="1300" b="0" dirty="0" err="1">
                <a:solidFill>
                  <a:srgbClr val="262626"/>
                </a:solidFill>
                <a:latin typeface="Malgun Gothic"/>
                <a:ea typeface="Malgun Gothic"/>
                <a:cs typeface="Malgun Gothic"/>
              </a:rPr>
              <a:t>블로우다운으로</a:t>
            </a:r>
            <a:r>
              <a:rPr lang="ko-KR" sz="1300" b="0" dirty="0">
                <a:solidFill>
                  <a:srgbClr val="262626"/>
                </a:solidFill>
                <a:latin typeface="Malgun Gothic"/>
                <a:ea typeface="Malgun Gothic"/>
                <a:cs typeface="Malgun Gothic"/>
              </a:rPr>
              <a:t> 적정 전도도 유지</a:t>
            </a:r>
          </a:p>
        </p:txBody>
      </p:sp>
      <p:sp>
        <p:nvSpPr>
          <p:cNvPr id="29" name="Rectangle 28"/>
          <p:cNvSpPr/>
          <p:nvPr/>
        </p:nvSpPr>
        <p:spPr>
          <a:xfrm>
            <a:off x="4660900" y="3581400"/>
            <a:ext cx="38100" cy="38100"/>
          </a:xfrm>
          <a:prstGeom prst="rect">
            <a:avLst/>
          </a:prstGeom>
          <a:solidFill>
            <a:srgbClr val="65758A"/>
          </a:solidFill>
          <a:ln>
            <a:noFill/>
          </a:ln>
          <a:effectLst/>
        </p:spPr>
        <p:txBody>
          <a:bodyPr rtlCol="0" anchor="ctr"/>
          <a:lstStyle/>
          <a:p>
            <a:pPr algn="ctr"/>
            <a:endParaRPr/>
          </a:p>
        </p:txBody>
      </p:sp>
      <p:sp>
        <p:nvSpPr>
          <p:cNvPr id="30" name="TextBox 29"/>
          <p:cNvSpPr txBox="1"/>
          <p:nvPr/>
        </p:nvSpPr>
        <p:spPr>
          <a:xfrm>
            <a:off x="4851400" y="34925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열회수장치 적용 시 </a:t>
            </a:r>
            <a:r>
              <a:rPr lang="ko-KR" sz="1300" b="0" dirty="0" err="1">
                <a:solidFill>
                  <a:srgbClr val="262626"/>
                </a:solidFill>
                <a:latin typeface="Malgun Gothic"/>
                <a:ea typeface="Malgun Gothic"/>
                <a:cs typeface="Malgun Gothic"/>
              </a:rPr>
              <a:t>블로우다운</a:t>
            </a:r>
            <a:r>
              <a:rPr lang="ko-KR" sz="1300" b="0" dirty="0">
                <a:solidFill>
                  <a:srgbClr val="262626"/>
                </a:solidFill>
                <a:latin typeface="Malgun Gothic"/>
                <a:ea typeface="Malgun Gothic"/>
                <a:cs typeface="Malgun Gothic"/>
              </a:rPr>
              <a:t> 효율</a:t>
            </a:r>
          </a:p>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손실 0.1% 미만</a:t>
            </a:r>
          </a:p>
        </p:txBody>
      </p:sp>
      <p:sp>
        <p:nvSpPr>
          <p:cNvPr id="31" name="Rectangle 30"/>
          <p:cNvSpPr/>
          <p:nvPr/>
        </p:nvSpPr>
        <p:spPr>
          <a:xfrm>
            <a:off x="4660900" y="4508500"/>
            <a:ext cx="38100" cy="38100"/>
          </a:xfrm>
          <a:prstGeom prst="rect">
            <a:avLst/>
          </a:prstGeom>
          <a:solidFill>
            <a:srgbClr val="65758A"/>
          </a:solidFill>
          <a:ln>
            <a:noFill/>
          </a:ln>
          <a:effectLst/>
        </p:spPr>
        <p:txBody>
          <a:bodyPr rtlCol="0" anchor="ctr"/>
          <a:lstStyle/>
          <a:p>
            <a:pPr algn="ctr"/>
            <a:endParaRPr/>
          </a:p>
        </p:txBody>
      </p:sp>
      <p:sp>
        <p:nvSpPr>
          <p:cNvPr id="32" name="TextBox 31"/>
          <p:cNvSpPr txBox="1"/>
          <p:nvPr/>
        </p:nvSpPr>
        <p:spPr>
          <a:xfrm>
            <a:off x="4851400" y="44196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탈염 </a:t>
            </a:r>
            <a:r>
              <a:rPr lang="ko-KR" sz="1300" b="0" dirty="0" err="1">
                <a:solidFill>
                  <a:srgbClr val="262626"/>
                </a:solidFill>
                <a:latin typeface="Malgun Gothic"/>
                <a:ea typeface="Malgun Gothic"/>
                <a:cs typeface="Malgun Gothic"/>
              </a:rPr>
              <a:t>급수·엄격한</a:t>
            </a:r>
            <a:r>
              <a:rPr lang="ko-KR" sz="1300" b="0" dirty="0">
                <a:solidFill>
                  <a:srgbClr val="262626"/>
                </a:solidFill>
                <a:latin typeface="Malgun Gothic"/>
                <a:ea typeface="Malgun Gothic"/>
                <a:cs typeface="Malgun Gothic"/>
              </a:rPr>
              <a:t> 전도도 관리로 거품</a:t>
            </a:r>
            <a:r>
              <a:rPr lang="ko-KR" altLang="en-US" sz="1300" b="0" dirty="0">
                <a:solidFill>
                  <a:srgbClr val="262626"/>
                </a:solidFill>
                <a:latin typeface="Malgun Gothic"/>
                <a:ea typeface="Malgun Gothic"/>
                <a:cs typeface="Malgun Gothic"/>
              </a:rPr>
              <a:t>이나 </a:t>
            </a:r>
            <a:r>
              <a:rPr lang="ko-KR" sz="1300" b="0" dirty="0">
                <a:solidFill>
                  <a:srgbClr val="262626"/>
                </a:solidFill>
                <a:latin typeface="Malgun Gothic"/>
                <a:ea typeface="Malgun Gothic"/>
                <a:cs typeface="Malgun Gothic"/>
              </a:rPr>
              <a:t>아크가</a:t>
            </a:r>
          </a:p>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거의 없다고 소개</a:t>
            </a:r>
          </a:p>
        </p:txBody>
      </p:sp>
      <p:sp>
        <p:nvSpPr>
          <p:cNvPr id="35" name="TextBox 34"/>
          <p:cNvSpPr txBox="1"/>
          <p:nvPr/>
        </p:nvSpPr>
        <p:spPr>
          <a:xfrm>
            <a:off x="1270000" y="6565900"/>
            <a:ext cx="6731000" cy="203200"/>
          </a:xfrm>
          <a:prstGeom prst="rect">
            <a:avLst/>
          </a:prstGeom>
          <a:noFill/>
        </p:spPr>
        <p:txBody>
          <a:bodyPr wrap="square" lIns="0" tIns="0" rIns="0" bIns="0" anchor="t">
            <a:noAutofit/>
          </a:bodyPr>
          <a:lstStyle/>
          <a:p>
            <a:pPr algn="l" eaLnBrk="0" latinLnBrk="0">
              <a:lnSpc>
                <a:spcPct val="115000"/>
              </a:lnSpc>
              <a:spcBef>
                <a:spcPts val="0"/>
              </a:spcBef>
              <a:spcAft>
                <a:spcPts val="0"/>
              </a:spcAft>
              <a:defRPr sz="1000">
                <a:latin typeface="Malgun Gothic"/>
              </a:defRPr>
            </a:pPr>
            <a:r>
              <a:rPr lang="ko-KR" sz="1000" b="0" i="1" u="none">
                <a:solidFill>
                  <a:srgbClr val="707B87"/>
                </a:solidFill>
                <a:latin typeface="Malgun Gothic"/>
                <a:ea typeface="Malgun Gothic"/>
                <a:cs typeface="Malgun Gothic"/>
                <a:hlinkClick r:id="rId4"/>
              </a:rPr>
              <a:t>출처: Elpanneteknik | https://e-boiler.se/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고전압 온수 시스템 · </a:t>
            </a:r>
            <a:r>
              <a:rPr lang="ko-KR" sz="2500" b="1" dirty="0" err="1">
                <a:solidFill>
                  <a:srgbClr val="1F497D"/>
                </a:solidFill>
                <a:latin typeface="Malgun Gothic"/>
                <a:ea typeface="Malgun Gothic"/>
                <a:cs typeface="Malgun Gothic"/>
              </a:rPr>
              <a:t>차폐판</a:t>
            </a:r>
            <a:r>
              <a:rPr lang="ko-KR" sz="2500" b="1" dirty="0">
                <a:solidFill>
                  <a:srgbClr val="1F497D"/>
                </a:solidFill>
                <a:latin typeface="Malgun Gothic"/>
                <a:ea typeface="Malgun Gothic"/>
                <a:cs typeface="Malgun Gothic"/>
              </a:rPr>
              <a:t> 제어</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a:solidFill>
                  <a:srgbClr val="707B87"/>
                </a:solidFill>
                <a:latin typeface="Malgun Gothic"/>
                <a:ea typeface="Malgun Gothic"/>
                <a:cs typeface="Malgun Gothic"/>
              </a:rPr>
              <a:t>15</a:t>
            </a:r>
          </a:p>
        </p:txBody>
      </p:sp>
      <p:graphicFrame>
        <p:nvGraphicFramePr>
          <p:cNvPr id="11" name="Table 10"/>
          <p:cNvGraphicFramePr>
            <a:graphicFrameLocks noGrp="1"/>
          </p:cNvGraphicFramePr>
          <p:nvPr/>
        </p:nvGraphicFramePr>
        <p:xfrm>
          <a:off x="381000" y="1066800"/>
          <a:ext cx="8382000" cy="1396744"/>
        </p:xfrm>
        <a:graphic>
          <a:graphicData uri="http://schemas.openxmlformats.org/drawingml/2006/table">
            <a:tbl>
              <a:tblPr>
                <a:tableStyleId>{5C22544A-7EE6-4342-B048-85BDC9FD1C3A}</a:tableStyleId>
              </a:tblPr>
              <a:tblGrid>
                <a:gridCol w="1714500">
                  <a:extLst>
                    <a:ext uri="{9D8B030D-6E8A-4147-A177-3AD203B41FA5}">
                      <a16:colId xmlns:a16="http://schemas.microsoft.com/office/drawing/2014/main" val="20000"/>
                    </a:ext>
                  </a:extLst>
                </a:gridCol>
                <a:gridCol w="6667500">
                  <a:extLst>
                    <a:ext uri="{9D8B030D-6E8A-4147-A177-3AD203B41FA5}">
                      <a16:colId xmlns:a16="http://schemas.microsoft.com/office/drawing/2014/main" val="20001"/>
                    </a:ext>
                  </a:extLst>
                </a:gridCol>
              </a:tblGrid>
              <a:tr h="349186">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주요 사양</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원문 수치·설명</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49186">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용량 / 전압</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a:solidFill>
                            <a:srgbClr val="262626"/>
                          </a:solidFill>
                          <a:latin typeface="Malgun Gothic"/>
                          <a:ea typeface="Malgun Gothic"/>
                          <a:cs typeface="Malgun Gothic"/>
                        </a:rPr>
                        <a:t>4~60 MW / 6~15 kV · 3상</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9186">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온도 / 효율</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a:solidFill>
                            <a:srgbClr val="262626"/>
                          </a:solidFill>
                          <a:latin typeface="Malgun Gothic"/>
                          <a:ea typeface="Malgun Gothic"/>
                          <a:cs typeface="Malgun Gothic"/>
                        </a:rPr>
                        <a:t>최대 120°C / 99.9%</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9186">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수명 / 특징</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a:solidFill>
                            <a:srgbClr val="262626"/>
                          </a:solidFill>
                          <a:latin typeface="Malgun Gothic"/>
                          <a:ea typeface="Malgun Gothic"/>
                          <a:cs typeface="Malgun Gothic"/>
                        </a:rPr>
                        <a:t>최대 60년 / 무오염·연료 취급 불필요·빠른 기동·정밀 제어·낮은 유지보수</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381000" y="2654300"/>
            <a:ext cx="41021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dirty="0" err="1">
                <a:solidFill>
                  <a:srgbClr val="1F497D"/>
                </a:solidFill>
                <a:latin typeface="Malgun Gothic"/>
                <a:ea typeface="Malgun Gothic"/>
                <a:cs typeface="Malgun Gothic"/>
              </a:rPr>
              <a:t>Y결선</a:t>
            </a:r>
            <a:r>
              <a:rPr lang="ko-KR" sz="1600" b="1" dirty="0">
                <a:solidFill>
                  <a:srgbClr val="1F497D"/>
                </a:solidFill>
                <a:latin typeface="Malgun Gothic"/>
                <a:ea typeface="Malgun Gothic"/>
                <a:cs typeface="Malgun Gothic"/>
              </a:rPr>
              <a:t> · </a:t>
            </a:r>
            <a:r>
              <a:rPr lang="ko-KR" sz="1600" b="1" dirty="0" err="1">
                <a:solidFill>
                  <a:srgbClr val="1F497D"/>
                </a:solidFill>
                <a:latin typeface="Malgun Gothic"/>
                <a:ea typeface="Malgun Gothic"/>
                <a:cs typeface="Malgun Gothic"/>
              </a:rPr>
              <a:t>중성점</a:t>
            </a:r>
            <a:r>
              <a:rPr lang="ko-KR" sz="1600" b="1" dirty="0">
                <a:solidFill>
                  <a:srgbClr val="1F497D"/>
                </a:solidFill>
                <a:latin typeface="Malgun Gothic"/>
                <a:ea typeface="Malgun Gothic"/>
                <a:cs typeface="Malgun Gothic"/>
              </a:rPr>
              <a:t> 전극</a:t>
            </a:r>
          </a:p>
        </p:txBody>
      </p:sp>
      <p:sp>
        <p:nvSpPr>
          <p:cNvPr id="13" name="Rectangle 12"/>
          <p:cNvSpPr/>
          <p:nvPr/>
        </p:nvSpPr>
        <p:spPr>
          <a:xfrm>
            <a:off x="381000" y="3225800"/>
            <a:ext cx="38100" cy="381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571500" y="3136900"/>
            <a:ext cx="3911600" cy="571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상전극은 애자로 용기 천장에 매달림.</a:t>
            </a:r>
          </a:p>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고정 튜브형 중성점 전극 3개와 통전</a:t>
            </a:r>
          </a:p>
        </p:txBody>
      </p:sp>
      <p:sp>
        <p:nvSpPr>
          <p:cNvPr id="15" name="Rectangle 14"/>
          <p:cNvSpPr/>
          <p:nvPr/>
        </p:nvSpPr>
        <p:spPr>
          <a:xfrm>
            <a:off x="381000" y="4267200"/>
            <a:ext cx="38100" cy="38100"/>
          </a:xfrm>
          <a:prstGeom prst="rect">
            <a:avLst/>
          </a:prstGeom>
          <a:solidFill>
            <a:srgbClr val="65758A"/>
          </a:solidFill>
          <a:ln>
            <a:noFill/>
          </a:ln>
          <a:effectLst/>
        </p:spPr>
        <p:txBody>
          <a:bodyPr rtlCol="0" anchor="ctr"/>
          <a:lstStyle/>
          <a:p>
            <a:pPr algn="ctr"/>
            <a:endParaRPr/>
          </a:p>
        </p:txBody>
      </p:sp>
      <p:sp>
        <p:nvSpPr>
          <p:cNvPr id="16" name="TextBox 15"/>
          <p:cNvSpPr txBox="1"/>
          <p:nvPr/>
        </p:nvSpPr>
        <p:spPr>
          <a:xfrm>
            <a:off x="571500" y="4178300"/>
            <a:ext cx="3911600" cy="571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절연 차폐판(control shield)을 공용</a:t>
            </a:r>
          </a:p>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요크(yoke)로 상하 이동 → 유효면적 조절</a:t>
            </a:r>
          </a:p>
        </p:txBody>
      </p:sp>
      <p:sp>
        <p:nvSpPr>
          <p:cNvPr id="17" name="Rectangle 16"/>
          <p:cNvSpPr/>
          <p:nvPr/>
        </p:nvSpPr>
        <p:spPr>
          <a:xfrm>
            <a:off x="381000" y="5308600"/>
            <a:ext cx="38100" cy="381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571500" y="5219700"/>
            <a:ext cx="3911600" cy="571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dirty="0">
                <a:solidFill>
                  <a:srgbClr val="262626"/>
                </a:solidFill>
                <a:latin typeface="Malgun Gothic"/>
                <a:ea typeface="Malgun Gothic"/>
                <a:cs typeface="Malgun Gothic"/>
              </a:rPr>
              <a:t>전극 완전 노출 → 최대출력</a:t>
            </a: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많이 차폐 → 출력 감소</a:t>
            </a:r>
          </a:p>
        </p:txBody>
      </p:sp>
      <p:sp>
        <p:nvSpPr>
          <p:cNvPr id="19" name="TextBox 18"/>
          <p:cNvSpPr txBox="1"/>
          <p:nvPr/>
        </p:nvSpPr>
        <p:spPr>
          <a:xfrm>
            <a:off x="4660900" y="2654300"/>
            <a:ext cx="41021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수질 관리와 부하 대응</a:t>
            </a:r>
          </a:p>
        </p:txBody>
      </p:sp>
      <p:sp>
        <p:nvSpPr>
          <p:cNvPr id="20" name="Rectangle 19"/>
          <p:cNvSpPr/>
          <p:nvPr/>
        </p:nvSpPr>
        <p:spPr>
          <a:xfrm>
            <a:off x="4660900" y="3225800"/>
            <a:ext cx="38100" cy="38100"/>
          </a:xfrm>
          <a:prstGeom prst="rect">
            <a:avLst/>
          </a:prstGeom>
          <a:solidFill>
            <a:srgbClr val="65758A"/>
          </a:solidFill>
          <a:ln>
            <a:noFill/>
          </a:ln>
          <a:effectLst/>
        </p:spPr>
        <p:txBody>
          <a:bodyPr rtlCol="0" anchor="ctr"/>
          <a:lstStyle/>
          <a:p>
            <a:pPr algn="ctr"/>
            <a:endParaRPr/>
          </a:p>
        </p:txBody>
      </p:sp>
      <p:sp>
        <p:nvSpPr>
          <p:cNvPr id="21" name="TextBox 20"/>
          <p:cNvSpPr txBox="1"/>
          <p:nvPr/>
        </p:nvSpPr>
        <p:spPr>
          <a:xfrm>
            <a:off x="4851400" y="3136900"/>
            <a:ext cx="3911600" cy="571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출력 과다 → 물 교체·희석 → 전도도 ↓</a:t>
            </a:r>
          </a:p>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출력 부족 → 약품 정량 주입 → 전도도 ↑</a:t>
            </a:r>
          </a:p>
        </p:txBody>
      </p:sp>
      <p:sp>
        <p:nvSpPr>
          <p:cNvPr id="22" name="Rectangle 21"/>
          <p:cNvSpPr/>
          <p:nvPr/>
        </p:nvSpPr>
        <p:spPr>
          <a:xfrm>
            <a:off x="4660900" y="4267200"/>
            <a:ext cx="38100" cy="381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4851400" y="4178300"/>
            <a:ext cx="3911600" cy="571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충수: ≤10 µS/cm (25°C), pH ≥7</a:t>
            </a:r>
          </a:p>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Na₃PO₄ 주입 후 pH 8.5~9.5</a:t>
            </a:r>
          </a:p>
        </p:txBody>
      </p:sp>
      <p:sp>
        <p:nvSpPr>
          <p:cNvPr id="24" name="Rectangle 23"/>
          <p:cNvSpPr/>
          <p:nvPr/>
        </p:nvSpPr>
        <p:spPr>
          <a:xfrm>
            <a:off x="4660900" y="5308600"/>
            <a:ext cx="38100" cy="38100"/>
          </a:xfrm>
          <a:prstGeom prst="rect">
            <a:avLst/>
          </a:prstGeom>
          <a:solidFill>
            <a:srgbClr val="65758A"/>
          </a:solidFill>
          <a:ln>
            <a:noFill/>
          </a:ln>
          <a:effectLst/>
        </p:spPr>
        <p:txBody>
          <a:bodyPr rtlCol="0" anchor="ctr"/>
          <a:lstStyle/>
          <a:p>
            <a:pPr algn="ctr"/>
            <a:endParaRPr/>
          </a:p>
        </p:txBody>
      </p:sp>
      <p:sp>
        <p:nvSpPr>
          <p:cNvPr id="25" name="TextBox 24"/>
          <p:cNvSpPr txBox="1"/>
          <p:nvPr/>
        </p:nvSpPr>
        <p:spPr>
          <a:xfrm>
            <a:off x="4851400" y="5219700"/>
            <a:ext cx="3911600" cy="571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dirty="0" err="1">
                <a:solidFill>
                  <a:srgbClr val="262626"/>
                </a:solidFill>
                <a:latin typeface="Malgun Gothic"/>
                <a:ea typeface="Malgun Gothic"/>
                <a:cs typeface="Malgun Gothic"/>
              </a:rPr>
              <a:t>지역난방·산업</a:t>
            </a:r>
            <a:r>
              <a:rPr 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열원·전력망</a:t>
            </a:r>
            <a:r>
              <a:rPr 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조정·열저장</a:t>
            </a:r>
            <a:endParaRPr lang="ko-KR" sz="1350" b="0" dirty="0">
              <a:solidFill>
                <a:srgbClr val="262626"/>
              </a:solidFill>
              <a:latin typeface="Malgun Gothic"/>
              <a:ea typeface="Malgun Gothic"/>
              <a:cs typeface="Malgun Gothic"/>
            </a:endParaRPr>
          </a:p>
          <a:p>
            <a:pPr algn="l" eaLnBrk="0" latinLnBrk="0">
              <a:lnSpc>
                <a:spcPct val="150000"/>
              </a:lnSpc>
              <a:spcBef>
                <a:spcPts val="0"/>
              </a:spcBef>
              <a:spcAft>
                <a:spcPts val="0"/>
              </a:spcAft>
            </a:pPr>
            <a:r>
              <a:rPr lang="ko-KR" sz="1350" b="0" dirty="0" err="1">
                <a:solidFill>
                  <a:srgbClr val="262626"/>
                </a:solidFill>
                <a:latin typeface="Malgun Gothic"/>
                <a:ea typeface="Malgun Gothic"/>
                <a:cs typeface="Malgun Gothic"/>
              </a:rPr>
              <a:t>최소~최대부하</a:t>
            </a:r>
            <a:r>
              <a:rPr lang="ko-KR" sz="1350" b="0" dirty="0">
                <a:solidFill>
                  <a:srgbClr val="262626"/>
                </a:solidFill>
                <a:latin typeface="Malgun Gothic"/>
                <a:ea typeface="Malgun Gothic"/>
                <a:cs typeface="Malgun Gothic"/>
              </a:rPr>
              <a:t> 전환 30초 이내</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i="0">
                <a:solidFill>
                  <a:srgbClr val="1F497D"/>
                </a:solidFill>
                <a:latin typeface="Malgun Gothic"/>
                <a:ea typeface="Malgun Gothic"/>
                <a:cs typeface="Malgun Gothic"/>
              </a:rPr>
              <a:t>고전압 온수 시스템 · 계통 구성과 운전 관리</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16</a:t>
            </a:r>
          </a:p>
        </p:txBody>
      </p:sp>
      <p:sp>
        <p:nvSpPr>
          <p:cNvPr id="11" name="TextBox 10"/>
          <p:cNvSpPr txBox="1"/>
          <p:nvPr/>
        </p:nvSpPr>
        <p:spPr>
          <a:xfrm>
            <a:off x="381000" y="1193800"/>
            <a:ext cx="8382000" cy="355600"/>
          </a:xfrm>
          <a:prstGeom prst="rect">
            <a:avLst/>
          </a:prstGeom>
          <a:noFill/>
        </p:spPr>
        <p:txBody>
          <a:bodyPr wrap="none" lIns="0" tIns="0" rIns="0" bIns="0" anchor="t">
            <a:noAutofit/>
          </a:bodyPr>
          <a:lstStyle/>
          <a:p>
            <a:pPr algn="l" eaLnBrk="0" latinLnBrk="0">
              <a:lnSpc>
                <a:spcPts val="2412"/>
              </a:lnSpc>
              <a:spcBef>
                <a:spcPts val="0"/>
              </a:spcBef>
              <a:spcAft>
                <a:spcPts val="0"/>
              </a:spcAft>
            </a:pPr>
            <a:r>
              <a:rPr lang="ko-KR" sz="2000" b="1" i="0" dirty="0">
                <a:solidFill>
                  <a:srgbClr val="1F497D"/>
                </a:solidFill>
                <a:latin typeface="Malgun Gothic"/>
                <a:ea typeface="Malgun Gothic"/>
                <a:cs typeface="Malgun Gothic"/>
              </a:rPr>
              <a:t>주요 구성설비</a:t>
            </a:r>
          </a:p>
        </p:txBody>
      </p:sp>
      <p:sp>
        <p:nvSpPr>
          <p:cNvPr id="12" name="Rectangle 11"/>
          <p:cNvSpPr/>
          <p:nvPr/>
        </p:nvSpPr>
        <p:spPr>
          <a:xfrm>
            <a:off x="3810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14" name="TextBox 13"/>
          <p:cNvSpPr txBox="1"/>
          <p:nvPr/>
        </p:nvSpPr>
        <p:spPr>
          <a:xfrm>
            <a:off x="444500" y="2304415"/>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a:solidFill>
                  <a:srgbClr val="1F497D"/>
                </a:solidFill>
                <a:latin typeface="Malgun Gothic"/>
                <a:ea typeface="Malgun Gothic"/>
                <a:cs typeface="Malgun Gothic"/>
              </a:rPr>
              <a:t>탈염필터</a:t>
            </a:r>
          </a:p>
        </p:txBody>
      </p:sp>
      <p:sp>
        <p:nvSpPr>
          <p:cNvPr id="15" name="TextBox 14"/>
          <p:cNvSpPr txBox="1"/>
          <p:nvPr/>
        </p:nvSpPr>
        <p:spPr>
          <a:xfrm>
            <a:off x="1447800" y="2279015"/>
            <a:ext cx="152400" cy="352298"/>
          </a:xfrm>
          <a:prstGeom prst="rect">
            <a:avLst/>
          </a:prstGeom>
          <a:noFill/>
        </p:spPr>
        <p:txBody>
          <a:bodyPr wrap="none" lIns="0" tIns="0" rIns="0" bIns="0" anchor="t">
            <a:noAutofit/>
          </a:bodyPr>
          <a:lstStyle/>
          <a:p>
            <a:pPr algn="ctr" eaLnBrk="0" latinLnBrk="0">
              <a:lnSpc>
                <a:spcPts val="2546"/>
              </a:lnSpc>
              <a:spcBef>
                <a:spcPts val="0"/>
              </a:spcBef>
              <a:spcAft>
                <a:spcPts val="0"/>
              </a:spcAft>
            </a:pPr>
            <a:r>
              <a:rPr lang="ko-KR" sz="1900" b="1" i="0">
                <a:solidFill>
                  <a:srgbClr val="1F497D"/>
                </a:solidFill>
                <a:latin typeface="Malgun Gothic"/>
                <a:ea typeface="Malgun Gothic"/>
                <a:cs typeface="Malgun Gothic"/>
              </a:rPr>
              <a:t>›</a:t>
            </a:r>
          </a:p>
        </p:txBody>
      </p:sp>
      <p:sp>
        <p:nvSpPr>
          <p:cNvPr id="16" name="Rectangle 15"/>
          <p:cNvSpPr/>
          <p:nvPr/>
        </p:nvSpPr>
        <p:spPr>
          <a:xfrm>
            <a:off x="16002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18" name="TextBox 17"/>
          <p:cNvSpPr txBox="1"/>
          <p:nvPr/>
        </p:nvSpPr>
        <p:spPr>
          <a:xfrm>
            <a:off x="1663700" y="2304415"/>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a:solidFill>
                  <a:srgbClr val="1F497D"/>
                </a:solidFill>
                <a:latin typeface="Malgun Gothic"/>
                <a:ea typeface="Malgun Gothic"/>
                <a:cs typeface="Malgun Gothic"/>
              </a:rPr>
              <a:t>전극보일러</a:t>
            </a:r>
          </a:p>
        </p:txBody>
      </p:sp>
      <p:sp>
        <p:nvSpPr>
          <p:cNvPr id="19" name="TextBox 18"/>
          <p:cNvSpPr txBox="1"/>
          <p:nvPr/>
        </p:nvSpPr>
        <p:spPr>
          <a:xfrm>
            <a:off x="2667000" y="2279015"/>
            <a:ext cx="152400" cy="352298"/>
          </a:xfrm>
          <a:prstGeom prst="rect">
            <a:avLst/>
          </a:prstGeom>
          <a:noFill/>
        </p:spPr>
        <p:txBody>
          <a:bodyPr wrap="none" lIns="0" tIns="0" rIns="0" bIns="0" anchor="t">
            <a:noAutofit/>
          </a:bodyPr>
          <a:lstStyle/>
          <a:p>
            <a:pPr algn="ctr" eaLnBrk="0" latinLnBrk="0">
              <a:lnSpc>
                <a:spcPts val="2546"/>
              </a:lnSpc>
              <a:spcBef>
                <a:spcPts val="0"/>
              </a:spcBef>
              <a:spcAft>
                <a:spcPts val="0"/>
              </a:spcAft>
            </a:pPr>
            <a:r>
              <a:rPr lang="ko-KR" sz="1900" b="1" i="0">
                <a:solidFill>
                  <a:srgbClr val="1F497D"/>
                </a:solidFill>
                <a:latin typeface="Malgun Gothic"/>
                <a:ea typeface="Malgun Gothic"/>
                <a:cs typeface="Malgun Gothic"/>
              </a:rPr>
              <a:t>›</a:t>
            </a:r>
          </a:p>
        </p:txBody>
      </p:sp>
      <p:sp>
        <p:nvSpPr>
          <p:cNvPr id="20" name="Rectangle 19"/>
          <p:cNvSpPr/>
          <p:nvPr/>
        </p:nvSpPr>
        <p:spPr>
          <a:xfrm>
            <a:off x="28194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22" name="TextBox 21"/>
          <p:cNvSpPr txBox="1"/>
          <p:nvPr/>
        </p:nvSpPr>
        <p:spPr>
          <a:xfrm>
            <a:off x="2882900" y="2304415"/>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a:solidFill>
                  <a:srgbClr val="1F497D"/>
                </a:solidFill>
                <a:latin typeface="Malgun Gothic"/>
                <a:ea typeface="Malgun Gothic"/>
                <a:cs typeface="Malgun Gothic"/>
              </a:rPr>
              <a:t>팽창탱크</a:t>
            </a:r>
          </a:p>
        </p:txBody>
      </p:sp>
      <p:sp>
        <p:nvSpPr>
          <p:cNvPr id="23" name="TextBox 22"/>
          <p:cNvSpPr txBox="1"/>
          <p:nvPr/>
        </p:nvSpPr>
        <p:spPr>
          <a:xfrm>
            <a:off x="3886200" y="2279015"/>
            <a:ext cx="152400" cy="352298"/>
          </a:xfrm>
          <a:prstGeom prst="rect">
            <a:avLst/>
          </a:prstGeom>
          <a:noFill/>
        </p:spPr>
        <p:txBody>
          <a:bodyPr wrap="none" lIns="0" tIns="0" rIns="0" bIns="0" anchor="t">
            <a:noAutofit/>
          </a:bodyPr>
          <a:lstStyle/>
          <a:p>
            <a:pPr algn="ctr" eaLnBrk="0" latinLnBrk="0">
              <a:lnSpc>
                <a:spcPts val="2546"/>
              </a:lnSpc>
              <a:spcBef>
                <a:spcPts val="0"/>
              </a:spcBef>
              <a:spcAft>
                <a:spcPts val="0"/>
              </a:spcAft>
            </a:pPr>
            <a:r>
              <a:rPr lang="ko-KR" sz="1900" b="1" i="0">
                <a:solidFill>
                  <a:srgbClr val="1F497D"/>
                </a:solidFill>
                <a:latin typeface="Malgun Gothic"/>
                <a:ea typeface="Malgun Gothic"/>
                <a:cs typeface="Malgun Gothic"/>
              </a:rPr>
              <a:t>›</a:t>
            </a:r>
          </a:p>
        </p:txBody>
      </p:sp>
      <p:sp>
        <p:nvSpPr>
          <p:cNvPr id="24" name="Rectangle 23"/>
          <p:cNvSpPr/>
          <p:nvPr/>
        </p:nvSpPr>
        <p:spPr>
          <a:xfrm>
            <a:off x="40386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26" name="TextBox 25"/>
          <p:cNvSpPr txBox="1"/>
          <p:nvPr/>
        </p:nvSpPr>
        <p:spPr>
          <a:xfrm>
            <a:off x="4102100" y="2304415"/>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a:solidFill>
                  <a:srgbClr val="1F497D"/>
                </a:solidFill>
                <a:latin typeface="Malgun Gothic"/>
                <a:ea typeface="Malgun Gothic"/>
                <a:cs typeface="Malgun Gothic"/>
              </a:rPr>
              <a:t>가압펌프</a:t>
            </a:r>
          </a:p>
        </p:txBody>
      </p:sp>
      <p:sp>
        <p:nvSpPr>
          <p:cNvPr id="27" name="TextBox 26"/>
          <p:cNvSpPr txBox="1"/>
          <p:nvPr/>
        </p:nvSpPr>
        <p:spPr>
          <a:xfrm>
            <a:off x="5105400" y="2279015"/>
            <a:ext cx="152400" cy="352298"/>
          </a:xfrm>
          <a:prstGeom prst="rect">
            <a:avLst/>
          </a:prstGeom>
          <a:noFill/>
        </p:spPr>
        <p:txBody>
          <a:bodyPr wrap="none" lIns="0" tIns="0" rIns="0" bIns="0" anchor="t">
            <a:noAutofit/>
          </a:bodyPr>
          <a:lstStyle/>
          <a:p>
            <a:pPr algn="ctr" eaLnBrk="0" latinLnBrk="0">
              <a:lnSpc>
                <a:spcPts val="2546"/>
              </a:lnSpc>
              <a:spcBef>
                <a:spcPts val="0"/>
              </a:spcBef>
              <a:spcAft>
                <a:spcPts val="0"/>
              </a:spcAft>
            </a:pPr>
            <a:r>
              <a:rPr lang="ko-KR" sz="1900" b="1" i="0">
                <a:solidFill>
                  <a:srgbClr val="1F497D"/>
                </a:solidFill>
                <a:latin typeface="Malgun Gothic"/>
                <a:ea typeface="Malgun Gothic"/>
                <a:cs typeface="Malgun Gothic"/>
              </a:rPr>
              <a:t>›</a:t>
            </a:r>
          </a:p>
        </p:txBody>
      </p:sp>
      <p:sp>
        <p:nvSpPr>
          <p:cNvPr id="28" name="Rectangle 27"/>
          <p:cNvSpPr/>
          <p:nvPr/>
        </p:nvSpPr>
        <p:spPr>
          <a:xfrm>
            <a:off x="52578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30" name="TextBox 29"/>
          <p:cNvSpPr txBox="1"/>
          <p:nvPr/>
        </p:nvSpPr>
        <p:spPr>
          <a:xfrm>
            <a:off x="5321300" y="2304415"/>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a:solidFill>
                  <a:srgbClr val="1F497D"/>
                </a:solidFill>
                <a:latin typeface="Malgun Gothic"/>
                <a:ea typeface="Malgun Gothic"/>
                <a:cs typeface="Malgun Gothic"/>
              </a:rPr>
              <a:t>순환펌프</a:t>
            </a:r>
          </a:p>
        </p:txBody>
      </p:sp>
      <p:sp>
        <p:nvSpPr>
          <p:cNvPr id="31" name="TextBox 30"/>
          <p:cNvSpPr txBox="1"/>
          <p:nvPr/>
        </p:nvSpPr>
        <p:spPr>
          <a:xfrm>
            <a:off x="6324600" y="2279015"/>
            <a:ext cx="152400" cy="352298"/>
          </a:xfrm>
          <a:prstGeom prst="rect">
            <a:avLst/>
          </a:prstGeom>
          <a:noFill/>
        </p:spPr>
        <p:txBody>
          <a:bodyPr wrap="none" lIns="0" tIns="0" rIns="0" bIns="0" anchor="t">
            <a:noAutofit/>
          </a:bodyPr>
          <a:lstStyle/>
          <a:p>
            <a:pPr algn="ctr" eaLnBrk="0" latinLnBrk="0">
              <a:lnSpc>
                <a:spcPts val="2546"/>
              </a:lnSpc>
              <a:spcBef>
                <a:spcPts val="0"/>
              </a:spcBef>
              <a:spcAft>
                <a:spcPts val="0"/>
              </a:spcAft>
            </a:pPr>
            <a:r>
              <a:rPr lang="ko-KR" sz="1900" b="1" i="0">
                <a:solidFill>
                  <a:srgbClr val="1F497D"/>
                </a:solidFill>
                <a:latin typeface="Malgun Gothic"/>
                <a:ea typeface="Malgun Gothic"/>
                <a:cs typeface="Malgun Gothic"/>
              </a:rPr>
              <a:t>›</a:t>
            </a:r>
          </a:p>
        </p:txBody>
      </p:sp>
      <p:sp>
        <p:nvSpPr>
          <p:cNvPr id="32" name="Rectangle 31"/>
          <p:cNvSpPr/>
          <p:nvPr/>
        </p:nvSpPr>
        <p:spPr>
          <a:xfrm>
            <a:off x="64770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34" name="TextBox 33"/>
          <p:cNvSpPr txBox="1"/>
          <p:nvPr/>
        </p:nvSpPr>
        <p:spPr>
          <a:xfrm>
            <a:off x="6540500" y="2304415"/>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a:solidFill>
                  <a:srgbClr val="1F497D"/>
                </a:solidFill>
                <a:latin typeface="Malgun Gothic"/>
                <a:ea typeface="Malgun Gothic"/>
                <a:cs typeface="Malgun Gothic"/>
              </a:rPr>
              <a:t>열교환기</a:t>
            </a:r>
          </a:p>
        </p:txBody>
      </p:sp>
      <p:sp>
        <p:nvSpPr>
          <p:cNvPr id="35" name="TextBox 34"/>
          <p:cNvSpPr txBox="1"/>
          <p:nvPr/>
        </p:nvSpPr>
        <p:spPr>
          <a:xfrm>
            <a:off x="7543800" y="2279015"/>
            <a:ext cx="152400" cy="352298"/>
          </a:xfrm>
          <a:prstGeom prst="rect">
            <a:avLst/>
          </a:prstGeom>
          <a:noFill/>
        </p:spPr>
        <p:txBody>
          <a:bodyPr wrap="none" lIns="0" tIns="0" rIns="0" bIns="0" anchor="t">
            <a:noAutofit/>
          </a:bodyPr>
          <a:lstStyle/>
          <a:p>
            <a:pPr algn="ctr" eaLnBrk="0" latinLnBrk="0">
              <a:lnSpc>
                <a:spcPts val="2546"/>
              </a:lnSpc>
              <a:spcBef>
                <a:spcPts val="0"/>
              </a:spcBef>
              <a:spcAft>
                <a:spcPts val="0"/>
              </a:spcAft>
            </a:pPr>
            <a:r>
              <a:rPr lang="ko-KR" sz="1900" b="1" i="0">
                <a:solidFill>
                  <a:srgbClr val="1F497D"/>
                </a:solidFill>
                <a:latin typeface="Malgun Gothic"/>
                <a:ea typeface="Malgun Gothic"/>
                <a:cs typeface="Malgun Gothic"/>
              </a:rPr>
              <a:t>›</a:t>
            </a:r>
          </a:p>
        </p:txBody>
      </p:sp>
      <p:sp>
        <p:nvSpPr>
          <p:cNvPr id="36" name="Rectangle 35"/>
          <p:cNvSpPr/>
          <p:nvPr/>
        </p:nvSpPr>
        <p:spPr>
          <a:xfrm>
            <a:off x="76962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38" name="TextBox 37"/>
          <p:cNvSpPr txBox="1"/>
          <p:nvPr/>
        </p:nvSpPr>
        <p:spPr>
          <a:xfrm>
            <a:off x="7766050" y="2186687"/>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dirty="0">
                <a:solidFill>
                  <a:srgbClr val="1F497D"/>
                </a:solidFill>
                <a:latin typeface="Malgun Gothic"/>
                <a:ea typeface="Malgun Gothic"/>
                <a:cs typeface="Malgun Gothic"/>
              </a:rPr>
              <a:t>냉각탱크</a:t>
            </a:r>
          </a:p>
          <a:p>
            <a:pPr algn="ctr" eaLnBrk="0" latinLnBrk="0">
              <a:lnSpc>
                <a:spcPts val="1809"/>
              </a:lnSpc>
              <a:spcBef>
                <a:spcPts val="0"/>
              </a:spcBef>
              <a:spcAft>
                <a:spcPts val="0"/>
              </a:spcAft>
            </a:pPr>
            <a:r>
              <a:rPr lang="ko-KR" sz="1350" b="1" i="0" dirty="0">
                <a:solidFill>
                  <a:srgbClr val="1F497D"/>
                </a:solidFill>
                <a:latin typeface="Malgun Gothic"/>
                <a:ea typeface="Malgun Gothic"/>
                <a:cs typeface="Malgun Gothic"/>
              </a:rPr>
              <a:t>(시료)</a:t>
            </a:r>
          </a:p>
        </p:txBody>
      </p:sp>
      <p:sp>
        <p:nvSpPr>
          <p:cNvPr id="39" name="TextBox 38"/>
          <p:cNvSpPr txBox="1"/>
          <p:nvPr/>
        </p:nvSpPr>
        <p:spPr>
          <a:xfrm>
            <a:off x="381000" y="3445510"/>
            <a:ext cx="4102100" cy="355600"/>
          </a:xfrm>
          <a:prstGeom prst="rect">
            <a:avLst/>
          </a:prstGeom>
          <a:noFill/>
        </p:spPr>
        <p:txBody>
          <a:bodyPr wrap="none" lIns="0" tIns="0" rIns="0" bIns="0" anchor="t">
            <a:noAutofit/>
          </a:bodyPr>
          <a:lstStyle/>
          <a:p>
            <a:pPr algn="l" eaLnBrk="0" latinLnBrk="0">
              <a:lnSpc>
                <a:spcPts val="2278"/>
              </a:lnSpc>
              <a:spcBef>
                <a:spcPts val="0"/>
              </a:spcBef>
              <a:spcAft>
                <a:spcPts val="0"/>
              </a:spcAft>
            </a:pPr>
            <a:r>
              <a:rPr lang="ko-KR" sz="2000" b="1" i="0" dirty="0">
                <a:solidFill>
                  <a:srgbClr val="1F497D"/>
                </a:solidFill>
                <a:latin typeface="Malgun Gothic"/>
                <a:ea typeface="Malgun Gothic"/>
                <a:cs typeface="Malgun Gothic"/>
              </a:rPr>
              <a:t>압력 유지</a:t>
            </a:r>
            <a:r>
              <a:rPr lang="en-US" altLang="ko-KR" sz="2000" b="1" i="0" dirty="0">
                <a:solidFill>
                  <a:srgbClr val="1F497D"/>
                </a:solidFill>
                <a:latin typeface="Malgun Gothic"/>
                <a:ea typeface="Malgun Gothic"/>
                <a:cs typeface="Malgun Gothic"/>
              </a:rPr>
              <a:t> </a:t>
            </a:r>
            <a:r>
              <a:rPr lang="ko-KR" altLang="en-US" sz="2000" b="1" i="0" dirty="0">
                <a:solidFill>
                  <a:srgbClr val="1F497D"/>
                </a:solidFill>
                <a:latin typeface="Malgun Gothic"/>
                <a:ea typeface="Malgun Gothic"/>
                <a:cs typeface="Malgun Gothic"/>
              </a:rPr>
              <a:t>및 </a:t>
            </a:r>
            <a:r>
              <a:rPr lang="ko-KR" sz="2000" b="1" i="0" dirty="0">
                <a:solidFill>
                  <a:srgbClr val="1F497D"/>
                </a:solidFill>
                <a:latin typeface="Malgun Gothic"/>
                <a:ea typeface="Malgun Gothic"/>
                <a:cs typeface="Malgun Gothic"/>
              </a:rPr>
              <a:t>환수</a:t>
            </a:r>
          </a:p>
        </p:txBody>
      </p:sp>
      <p:sp>
        <p:nvSpPr>
          <p:cNvPr id="41" name="Rectangle 40"/>
          <p:cNvSpPr/>
          <p:nvPr/>
        </p:nvSpPr>
        <p:spPr>
          <a:xfrm>
            <a:off x="381000" y="4106990"/>
            <a:ext cx="4102100" cy="1244600"/>
          </a:xfrm>
          <a:prstGeom prst="rect">
            <a:avLst/>
          </a:prstGeom>
          <a:solidFill>
            <a:srgbClr val="FFFFFF"/>
          </a:solidFill>
          <a:ln w="8255">
            <a:solidFill>
              <a:srgbClr val="B8C5D4"/>
            </a:solidFill>
          </a:ln>
          <a:effectLst/>
        </p:spPr>
        <p:txBody>
          <a:bodyPr rtlCol="0" anchor="ctr"/>
          <a:lstStyle/>
          <a:p>
            <a:pPr algn="ctr"/>
            <a:endParaRPr/>
          </a:p>
        </p:txBody>
      </p:sp>
      <p:sp>
        <p:nvSpPr>
          <p:cNvPr id="42" name="TextBox 41"/>
          <p:cNvSpPr txBox="1"/>
          <p:nvPr/>
        </p:nvSpPr>
        <p:spPr>
          <a:xfrm>
            <a:off x="546100" y="4259390"/>
            <a:ext cx="3771900" cy="330200"/>
          </a:xfrm>
          <a:prstGeom prst="rect">
            <a:avLst/>
          </a:prstGeom>
          <a:noFill/>
        </p:spPr>
        <p:txBody>
          <a:bodyPr wrap="none" lIns="0" tIns="0" rIns="0" bIns="0" anchor="t">
            <a:noAutofit/>
          </a:bodyPr>
          <a:lstStyle/>
          <a:p>
            <a:pPr algn="l" eaLnBrk="0" latinLnBrk="0">
              <a:lnSpc>
                <a:spcPts val="2144"/>
              </a:lnSpc>
              <a:spcBef>
                <a:spcPts val="0"/>
              </a:spcBef>
              <a:spcAft>
                <a:spcPts val="0"/>
              </a:spcAft>
            </a:pPr>
            <a:r>
              <a:rPr lang="ko-KR" sz="1600" b="1" i="0" dirty="0">
                <a:solidFill>
                  <a:srgbClr val="1F497D"/>
                </a:solidFill>
                <a:latin typeface="Malgun Gothic"/>
                <a:ea typeface="Malgun Gothic"/>
                <a:cs typeface="Malgun Gothic"/>
              </a:rPr>
              <a:t>가압펌프 2대 </a:t>
            </a:r>
            <a:r>
              <a:rPr lang="en-US" altLang="ko-KR" sz="1600" b="1" i="0" dirty="0">
                <a:solidFill>
                  <a:srgbClr val="1F497D"/>
                </a:solidFill>
                <a:latin typeface="Malgun Gothic"/>
                <a:ea typeface="Malgun Gothic"/>
                <a:cs typeface="Malgun Gothic"/>
              </a:rPr>
              <a:t>(</a:t>
            </a:r>
            <a:r>
              <a:rPr lang="ko-KR" sz="1600" b="1" i="0" dirty="0">
                <a:solidFill>
                  <a:srgbClr val="1F497D"/>
                </a:solidFill>
                <a:latin typeface="Malgun Gothic"/>
                <a:ea typeface="Malgun Gothic"/>
                <a:cs typeface="Malgun Gothic"/>
              </a:rPr>
              <a:t>1대 예비</a:t>
            </a:r>
            <a:r>
              <a:rPr lang="en-US" altLang="ko-KR" sz="1600" b="1" i="0" dirty="0">
                <a:solidFill>
                  <a:srgbClr val="1F497D"/>
                </a:solidFill>
                <a:latin typeface="Malgun Gothic"/>
                <a:ea typeface="Malgun Gothic"/>
                <a:cs typeface="Malgun Gothic"/>
              </a:rPr>
              <a:t>)</a:t>
            </a:r>
            <a:endParaRPr lang="ko-KR" sz="1600" b="1" i="0" dirty="0">
              <a:solidFill>
                <a:srgbClr val="1F497D"/>
              </a:solidFill>
              <a:latin typeface="Malgun Gothic"/>
              <a:ea typeface="Malgun Gothic"/>
              <a:cs typeface="Malgun Gothic"/>
            </a:endParaRPr>
          </a:p>
        </p:txBody>
      </p:sp>
      <p:sp>
        <p:nvSpPr>
          <p:cNvPr id="43" name="TextBox 42"/>
          <p:cNvSpPr txBox="1"/>
          <p:nvPr/>
        </p:nvSpPr>
        <p:spPr>
          <a:xfrm>
            <a:off x="546100" y="4656391"/>
            <a:ext cx="3771900" cy="533400"/>
          </a:xfrm>
          <a:prstGeom prst="rect">
            <a:avLst/>
          </a:prstGeom>
          <a:noFill/>
        </p:spPr>
        <p:txBody>
          <a:bodyPr wrap="none" lIns="0" tIns="0" rIns="0" bIns="0" anchor="t">
            <a:noAutofit/>
          </a:bodyPr>
          <a:lstStyle/>
          <a:p>
            <a:pPr algn="l" eaLnBrk="0" latinLnBrk="0">
              <a:lnSpc>
                <a:spcPct val="150000"/>
              </a:lnSpc>
              <a:spcBef>
                <a:spcPts val="0"/>
              </a:spcBef>
              <a:spcAft>
                <a:spcPts val="0"/>
              </a:spcAft>
            </a:pPr>
            <a:r>
              <a:rPr lang="ko-KR" sz="1450" b="0" i="0" dirty="0">
                <a:solidFill>
                  <a:srgbClr val="262626"/>
                </a:solidFill>
                <a:latin typeface="Malgun Gothic"/>
                <a:ea typeface="Malgun Gothic"/>
                <a:cs typeface="Malgun Gothic"/>
              </a:rPr>
              <a:t>팽창탱크에서 물을 공급하여</a:t>
            </a:r>
            <a:r>
              <a:rPr lang="en-US" altLang="ko-KR" sz="1450" b="0" i="0" dirty="0">
                <a:solidFill>
                  <a:srgbClr val="262626"/>
                </a:solidFill>
                <a:latin typeface="Malgun Gothic"/>
                <a:ea typeface="Malgun Gothic"/>
                <a:cs typeface="Malgun Gothic"/>
              </a:rPr>
              <a:t> </a:t>
            </a:r>
            <a:r>
              <a:rPr lang="ko-KR" sz="1450" b="0" i="0" dirty="0">
                <a:solidFill>
                  <a:srgbClr val="262626"/>
                </a:solidFill>
                <a:latin typeface="Malgun Gothic"/>
                <a:ea typeface="Malgun Gothic"/>
                <a:cs typeface="Malgun Gothic"/>
              </a:rPr>
              <a:t>운전압력을 유지</a:t>
            </a:r>
          </a:p>
        </p:txBody>
      </p:sp>
      <p:sp>
        <p:nvSpPr>
          <p:cNvPr id="47" name="Rectangle 46"/>
          <p:cNvSpPr/>
          <p:nvPr/>
        </p:nvSpPr>
        <p:spPr>
          <a:xfrm>
            <a:off x="4660900" y="4106990"/>
            <a:ext cx="4102100" cy="1248410"/>
          </a:xfrm>
          <a:prstGeom prst="rect">
            <a:avLst/>
          </a:prstGeom>
          <a:solidFill>
            <a:srgbClr val="FFFFFF"/>
          </a:solidFill>
          <a:ln w="8255">
            <a:solidFill>
              <a:srgbClr val="B8C5D4"/>
            </a:solidFill>
          </a:ln>
          <a:effectLst/>
        </p:spPr>
        <p:txBody>
          <a:bodyPr rtlCol="0" anchor="ctr"/>
          <a:lstStyle/>
          <a:p>
            <a:pPr algn="ctr"/>
            <a:endParaRPr/>
          </a:p>
        </p:txBody>
      </p:sp>
      <p:sp>
        <p:nvSpPr>
          <p:cNvPr id="48" name="TextBox 47"/>
          <p:cNvSpPr txBox="1"/>
          <p:nvPr/>
        </p:nvSpPr>
        <p:spPr>
          <a:xfrm>
            <a:off x="4826000" y="4262692"/>
            <a:ext cx="3771900" cy="330200"/>
          </a:xfrm>
          <a:prstGeom prst="rect">
            <a:avLst/>
          </a:prstGeom>
          <a:noFill/>
        </p:spPr>
        <p:txBody>
          <a:bodyPr wrap="none" lIns="0" tIns="0" rIns="0" bIns="0" anchor="t">
            <a:noAutofit/>
          </a:bodyPr>
          <a:lstStyle/>
          <a:p>
            <a:pPr algn="l" eaLnBrk="0" latinLnBrk="0">
              <a:lnSpc>
                <a:spcPts val="2144"/>
              </a:lnSpc>
              <a:spcBef>
                <a:spcPts val="0"/>
              </a:spcBef>
              <a:spcAft>
                <a:spcPts val="0"/>
              </a:spcAft>
            </a:pPr>
            <a:r>
              <a:rPr lang="ko-KR" sz="1600" b="1" i="0" dirty="0">
                <a:solidFill>
                  <a:srgbClr val="1F497D"/>
                </a:solidFill>
                <a:latin typeface="Malgun Gothic"/>
                <a:ea typeface="Malgun Gothic"/>
                <a:cs typeface="Malgun Gothic"/>
              </a:rPr>
              <a:t>압력 상승 시 환수</a:t>
            </a:r>
          </a:p>
        </p:txBody>
      </p:sp>
      <p:sp>
        <p:nvSpPr>
          <p:cNvPr id="49" name="TextBox 48"/>
          <p:cNvSpPr txBox="1"/>
          <p:nvPr/>
        </p:nvSpPr>
        <p:spPr>
          <a:xfrm>
            <a:off x="4826000" y="4656391"/>
            <a:ext cx="3771900" cy="635509"/>
          </a:xfrm>
          <a:prstGeom prst="rect">
            <a:avLst/>
          </a:prstGeom>
          <a:noFill/>
        </p:spPr>
        <p:txBody>
          <a:bodyPr wrap="none" lIns="0" tIns="0" rIns="0" bIns="0" anchor="t">
            <a:noAutofit/>
          </a:bodyPr>
          <a:lstStyle/>
          <a:p>
            <a:pPr algn="l" eaLnBrk="0" latinLnBrk="0">
              <a:lnSpc>
                <a:spcPct val="150000"/>
              </a:lnSpc>
              <a:spcBef>
                <a:spcPts val="0"/>
              </a:spcBef>
              <a:spcAft>
                <a:spcPts val="0"/>
              </a:spcAft>
            </a:pPr>
            <a:r>
              <a:rPr lang="ko-KR" sz="1400" b="0" i="0" dirty="0">
                <a:solidFill>
                  <a:srgbClr val="262626"/>
                </a:solidFill>
                <a:latin typeface="Malgun Gothic"/>
                <a:ea typeface="Malgun Gothic"/>
                <a:cs typeface="Malgun Gothic"/>
              </a:rPr>
              <a:t>압력이 계속 높아지면 </a:t>
            </a:r>
            <a:r>
              <a:rPr lang="ko-KR" sz="1400" b="0" i="0" dirty="0" err="1">
                <a:solidFill>
                  <a:srgbClr val="262626"/>
                </a:solidFill>
                <a:latin typeface="Malgun Gothic"/>
                <a:ea typeface="Malgun Gothic"/>
                <a:cs typeface="Malgun Gothic"/>
              </a:rPr>
              <a:t>오버플로밸브를</a:t>
            </a:r>
            <a:r>
              <a:rPr lang="ko-KR" sz="1400" b="0" i="0" dirty="0">
                <a:solidFill>
                  <a:srgbClr val="262626"/>
                </a:solidFill>
                <a:latin typeface="Malgun Gothic"/>
                <a:ea typeface="Malgun Gothic"/>
                <a:cs typeface="Malgun Gothic"/>
              </a:rPr>
              <a:t> 열어</a:t>
            </a:r>
          </a:p>
          <a:p>
            <a:pPr algn="l" eaLnBrk="0" latinLnBrk="0">
              <a:lnSpc>
                <a:spcPts val="1876"/>
              </a:lnSpc>
              <a:spcBef>
                <a:spcPts val="0"/>
              </a:spcBef>
              <a:spcAft>
                <a:spcPts val="0"/>
              </a:spcAft>
            </a:pPr>
            <a:r>
              <a:rPr lang="ko-KR" sz="1400" b="0" i="0" dirty="0">
                <a:solidFill>
                  <a:srgbClr val="262626"/>
                </a:solidFill>
                <a:latin typeface="Malgun Gothic"/>
                <a:ea typeface="Malgun Gothic"/>
                <a:cs typeface="Malgun Gothic"/>
              </a:rPr>
              <a:t>팽창탱크로 물을 돌려보냄</a:t>
            </a:r>
          </a:p>
        </p:txBody>
      </p:sp>
      <p:sp>
        <p:nvSpPr>
          <p:cNvPr id="53" name="TextBox 52"/>
          <p:cNvSpPr txBox="1"/>
          <p:nvPr/>
        </p:nvSpPr>
        <p:spPr>
          <a:xfrm>
            <a:off x="1270000" y="6565900"/>
            <a:ext cx="6731000" cy="203200"/>
          </a:xfrm>
          <a:prstGeom prst="rect">
            <a:avLst/>
          </a:prstGeom>
          <a:noFill/>
        </p:spPr>
        <p:txBody>
          <a:bodyPr wrap="square" lIns="0" tIns="0" rIns="0" bIns="0" anchor="t">
            <a:noAutofit/>
          </a:bodyPr>
          <a:lstStyle/>
          <a:p>
            <a:pPr algn="l" eaLnBrk="0" latinLnBrk="0">
              <a:lnSpc>
                <a:spcPct val="115000"/>
              </a:lnSpc>
              <a:spcBef>
                <a:spcPts val="0"/>
              </a:spcBef>
              <a:spcAft>
                <a:spcPts val="0"/>
              </a:spcAft>
              <a:defRPr sz="1000">
                <a:latin typeface="Malgun Gothic"/>
              </a:defRPr>
            </a:pPr>
            <a:r>
              <a:rPr lang="ko-KR" sz="1000" b="0" i="1" u="none">
                <a:solidFill>
                  <a:srgbClr val="707B87"/>
                </a:solidFill>
                <a:latin typeface="Malgun Gothic"/>
                <a:ea typeface="Malgun Gothic"/>
                <a:cs typeface="Malgun Gothic"/>
                <a:hlinkClick r:id="rId4"/>
              </a:rPr>
              <a:t>출처: Elpanneteknik | https://e-boiler.se/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고전압 증기 시스템 · 침지형 플랜트</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a:solidFill>
                  <a:srgbClr val="707B87"/>
                </a:solidFill>
                <a:latin typeface="Malgun Gothic"/>
                <a:ea typeface="Malgun Gothic"/>
                <a:cs typeface="Malgun Gothic"/>
              </a:rPr>
              <a:t>17</a:t>
            </a:r>
          </a:p>
        </p:txBody>
      </p:sp>
      <p:sp>
        <p:nvSpPr>
          <p:cNvPr id="11" name="Rectangle 10"/>
          <p:cNvSpPr/>
          <p:nvPr/>
        </p:nvSpPr>
        <p:spPr>
          <a:xfrm>
            <a:off x="381000" y="1066800"/>
            <a:ext cx="2633133" cy="8255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2" name="TextBox 11"/>
          <p:cNvSpPr txBox="1"/>
          <p:nvPr/>
        </p:nvSpPr>
        <p:spPr>
          <a:xfrm>
            <a:off x="495300" y="11938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01 급수</a:t>
            </a:r>
          </a:p>
        </p:txBody>
      </p:sp>
      <p:sp>
        <p:nvSpPr>
          <p:cNvPr id="13" name="TextBox 12"/>
          <p:cNvSpPr txBox="1"/>
          <p:nvPr/>
        </p:nvSpPr>
        <p:spPr>
          <a:xfrm>
            <a:off x="482600" y="1524000"/>
            <a:ext cx="2429933" cy="330200"/>
          </a:xfrm>
          <a:prstGeom prst="rect">
            <a:avLst/>
          </a:prstGeom>
          <a:noFill/>
          <a:effectLst/>
        </p:spPr>
        <p:txBody>
          <a:bodyPr wrap="none" lIns="0" tIns="0" rIns="0" bIns="0" anchor="t">
            <a:noAutofit/>
          </a:bodyPr>
          <a:lstStyle/>
          <a:p>
            <a:pPr algn="ctr" eaLnBrk="0" latinLnBrk="0">
              <a:lnSpc>
                <a:spcPts val="1607"/>
              </a:lnSpc>
              <a:spcBef>
                <a:spcPts val="0"/>
              </a:spcBef>
              <a:spcAft>
                <a:spcPts val="0"/>
              </a:spcAft>
            </a:pPr>
            <a:r>
              <a:rPr lang="ko-KR" sz="1200" b="0">
                <a:solidFill>
                  <a:srgbClr val="262626"/>
                </a:solidFill>
                <a:latin typeface="Malgun Gothic"/>
                <a:ea typeface="Malgun Gothic"/>
                <a:cs typeface="Malgun Gothic"/>
              </a:rPr>
              <a:t>탈염·탈기수 → 외조</a:t>
            </a:r>
          </a:p>
        </p:txBody>
      </p:sp>
      <p:sp>
        <p:nvSpPr>
          <p:cNvPr id="14" name="TextBox 13"/>
          <p:cNvSpPr txBox="1"/>
          <p:nvPr/>
        </p:nvSpPr>
        <p:spPr>
          <a:xfrm>
            <a:off x="3014133" y="131445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15" name="Rectangle 14"/>
          <p:cNvSpPr/>
          <p:nvPr/>
        </p:nvSpPr>
        <p:spPr>
          <a:xfrm>
            <a:off x="3255433" y="1066800"/>
            <a:ext cx="2633133" cy="8255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6" name="TextBox 15"/>
          <p:cNvSpPr txBox="1"/>
          <p:nvPr/>
        </p:nvSpPr>
        <p:spPr>
          <a:xfrm>
            <a:off x="3369733" y="11938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02 순환</a:t>
            </a:r>
          </a:p>
        </p:txBody>
      </p:sp>
      <p:sp>
        <p:nvSpPr>
          <p:cNvPr id="17" name="TextBox 16"/>
          <p:cNvSpPr txBox="1"/>
          <p:nvPr/>
        </p:nvSpPr>
        <p:spPr>
          <a:xfrm>
            <a:off x="3357033" y="1524000"/>
            <a:ext cx="2429933" cy="330200"/>
          </a:xfrm>
          <a:prstGeom prst="rect">
            <a:avLst/>
          </a:prstGeom>
          <a:noFill/>
          <a:effectLst/>
        </p:spPr>
        <p:txBody>
          <a:bodyPr wrap="none" lIns="0" tIns="0" rIns="0" bIns="0" anchor="t">
            <a:noAutofit/>
          </a:bodyPr>
          <a:lstStyle/>
          <a:p>
            <a:pPr algn="ctr" eaLnBrk="0" latinLnBrk="0">
              <a:lnSpc>
                <a:spcPts val="1607"/>
              </a:lnSpc>
              <a:spcBef>
                <a:spcPts val="0"/>
              </a:spcBef>
              <a:spcAft>
                <a:spcPts val="0"/>
              </a:spcAft>
            </a:pPr>
            <a:r>
              <a:rPr lang="ko-KR" sz="1200" b="0">
                <a:solidFill>
                  <a:srgbClr val="262626"/>
                </a:solidFill>
                <a:latin typeface="Malgun Gothic"/>
                <a:ea typeface="Malgun Gothic"/>
                <a:cs typeface="Malgun Gothic"/>
              </a:rPr>
              <a:t>펌프 2대 · 고장 시 자동 기동</a:t>
            </a:r>
          </a:p>
        </p:txBody>
      </p:sp>
      <p:sp>
        <p:nvSpPr>
          <p:cNvPr id="18" name="TextBox 17"/>
          <p:cNvSpPr txBox="1"/>
          <p:nvPr/>
        </p:nvSpPr>
        <p:spPr>
          <a:xfrm>
            <a:off x="5888566" y="131445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19" name="Rectangle 18"/>
          <p:cNvSpPr/>
          <p:nvPr/>
        </p:nvSpPr>
        <p:spPr>
          <a:xfrm>
            <a:off x="6129866" y="1066800"/>
            <a:ext cx="2633133" cy="8255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0" name="TextBox 19"/>
          <p:cNvSpPr txBox="1"/>
          <p:nvPr/>
        </p:nvSpPr>
        <p:spPr>
          <a:xfrm>
            <a:off x="6244166" y="11938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03 출력 제어</a:t>
            </a:r>
          </a:p>
        </p:txBody>
      </p:sp>
      <p:sp>
        <p:nvSpPr>
          <p:cNvPr id="21" name="TextBox 20"/>
          <p:cNvSpPr txBox="1"/>
          <p:nvPr/>
        </p:nvSpPr>
        <p:spPr>
          <a:xfrm>
            <a:off x="6231466" y="1524000"/>
            <a:ext cx="2429933" cy="330200"/>
          </a:xfrm>
          <a:prstGeom prst="rect">
            <a:avLst/>
          </a:prstGeom>
          <a:noFill/>
          <a:effectLst/>
        </p:spPr>
        <p:txBody>
          <a:bodyPr wrap="none" lIns="0" tIns="0" rIns="0" bIns="0" anchor="t">
            <a:noAutofit/>
          </a:bodyPr>
          <a:lstStyle/>
          <a:p>
            <a:pPr algn="ctr" eaLnBrk="0" latinLnBrk="0">
              <a:lnSpc>
                <a:spcPts val="1607"/>
              </a:lnSpc>
              <a:spcBef>
                <a:spcPts val="0"/>
              </a:spcBef>
              <a:spcAft>
                <a:spcPts val="0"/>
              </a:spcAft>
            </a:pPr>
            <a:r>
              <a:rPr lang="ko-KR" sz="1200" b="0" dirty="0">
                <a:solidFill>
                  <a:srgbClr val="262626"/>
                </a:solidFill>
                <a:latin typeface="Malgun Gothic"/>
                <a:ea typeface="Malgun Gothic"/>
                <a:cs typeface="Malgun Gothic"/>
              </a:rPr>
              <a:t>내조 </a:t>
            </a:r>
            <a:r>
              <a:rPr lang="ko-KR" sz="1200" b="0" dirty="0" err="1">
                <a:solidFill>
                  <a:srgbClr val="262626"/>
                </a:solidFill>
                <a:latin typeface="Malgun Gothic"/>
                <a:ea typeface="Malgun Gothic"/>
                <a:cs typeface="Malgun Gothic"/>
              </a:rPr>
              <a:t>수위·밸브로</a:t>
            </a:r>
            <a:r>
              <a:rPr lang="ko-KR" sz="1200" b="0" dirty="0">
                <a:solidFill>
                  <a:srgbClr val="262626"/>
                </a:solidFill>
                <a:latin typeface="Malgun Gothic"/>
                <a:ea typeface="Malgun Gothic"/>
                <a:cs typeface="Malgun Gothic"/>
              </a:rPr>
              <a:t> 0~100%</a:t>
            </a:r>
            <a:r>
              <a:rPr lang="en-US" altLang="ko-KR" sz="1200" b="0" dirty="0">
                <a:solidFill>
                  <a:srgbClr val="262626"/>
                </a:solidFill>
                <a:latin typeface="Malgun Gothic"/>
                <a:ea typeface="Malgun Gothic"/>
                <a:cs typeface="Malgun Gothic"/>
              </a:rPr>
              <a:t> </a:t>
            </a:r>
            <a:r>
              <a:rPr lang="ko-KR" altLang="en-US" sz="1200" b="0" dirty="0">
                <a:solidFill>
                  <a:srgbClr val="262626"/>
                </a:solidFill>
                <a:latin typeface="Malgun Gothic"/>
                <a:ea typeface="Malgun Gothic"/>
                <a:cs typeface="Malgun Gothic"/>
              </a:rPr>
              <a:t>조절</a:t>
            </a:r>
            <a:endParaRPr lang="ko-KR" sz="1200" b="0" dirty="0">
              <a:solidFill>
                <a:srgbClr val="262626"/>
              </a:solidFill>
              <a:latin typeface="Malgun Gothic"/>
              <a:ea typeface="Malgun Gothic"/>
              <a:cs typeface="Malgun Gothic"/>
            </a:endParaRPr>
          </a:p>
        </p:txBody>
      </p:sp>
      <p:sp>
        <p:nvSpPr>
          <p:cNvPr id="22" name="TextBox 21"/>
          <p:cNvSpPr txBox="1"/>
          <p:nvPr/>
        </p:nvSpPr>
        <p:spPr>
          <a:xfrm>
            <a:off x="381000" y="2057400"/>
            <a:ext cx="40894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수질·전기적 특성</a:t>
            </a:r>
          </a:p>
        </p:txBody>
      </p:sp>
      <p:sp>
        <p:nvSpPr>
          <p:cNvPr id="23" name="Rectangle 22"/>
          <p:cNvSpPr/>
          <p:nvPr/>
        </p:nvSpPr>
        <p:spPr>
          <a:xfrm>
            <a:off x="381000" y="2524125"/>
            <a:ext cx="38100" cy="38100"/>
          </a:xfrm>
          <a:prstGeom prst="rect">
            <a:avLst/>
          </a:prstGeom>
          <a:solidFill>
            <a:srgbClr val="65758A"/>
          </a:solidFill>
          <a:ln>
            <a:noFill/>
          </a:ln>
          <a:effectLst/>
        </p:spPr>
        <p:txBody>
          <a:bodyPr rtlCol="0" anchor="ctr"/>
          <a:lstStyle/>
          <a:p>
            <a:pPr algn="ctr"/>
            <a:endParaRPr/>
          </a:p>
        </p:txBody>
      </p:sp>
      <p:sp>
        <p:nvSpPr>
          <p:cNvPr id="24" name="TextBox 23"/>
          <p:cNvSpPr txBox="1"/>
          <p:nvPr/>
        </p:nvSpPr>
        <p:spPr>
          <a:xfrm>
            <a:off x="571500" y="2451100"/>
            <a:ext cx="3898900" cy="444500"/>
          </a:xfrm>
          <a:prstGeom prst="rect">
            <a:avLst/>
          </a:prstGeom>
          <a:noFill/>
          <a:effectLst/>
        </p:spPr>
        <p:txBody>
          <a:bodyPr wrap="none" lIns="0" tIns="0" rIns="0" bIns="0" anchor="t">
            <a:noAutofit/>
          </a:bodyPr>
          <a:lstStyle/>
          <a:p>
            <a:pPr algn="l" eaLnBrk="0" latinLnBrk="0">
              <a:lnSpc>
                <a:spcPts val="1675"/>
              </a:lnSpc>
              <a:spcBef>
                <a:spcPts val="0"/>
              </a:spcBef>
              <a:spcAft>
                <a:spcPts val="0"/>
              </a:spcAft>
            </a:pPr>
            <a:r>
              <a:rPr lang="ko-KR" sz="1250" b="0" dirty="0">
                <a:solidFill>
                  <a:srgbClr val="262626"/>
                </a:solidFill>
                <a:latin typeface="Malgun Gothic"/>
                <a:ea typeface="Malgun Gothic"/>
                <a:cs typeface="Malgun Gothic"/>
              </a:rPr>
              <a:t>자동 표면 </a:t>
            </a:r>
            <a:r>
              <a:rPr lang="ko-KR" sz="1250" b="0" dirty="0" err="1">
                <a:solidFill>
                  <a:srgbClr val="262626"/>
                </a:solidFill>
                <a:latin typeface="Malgun Gothic"/>
                <a:ea typeface="Malgun Gothic"/>
                <a:cs typeface="Malgun Gothic"/>
              </a:rPr>
              <a:t>블로우다운으로</a:t>
            </a:r>
            <a:r>
              <a:rPr lang="ko-KR" sz="1250" b="0" dirty="0">
                <a:solidFill>
                  <a:srgbClr val="262626"/>
                </a:solidFill>
                <a:latin typeface="Malgun Gothic"/>
                <a:ea typeface="Malgun Gothic"/>
                <a:cs typeface="Malgun Gothic"/>
              </a:rPr>
              <a:t> 전도도 유지</a:t>
            </a:r>
          </a:p>
          <a:p>
            <a:pPr algn="l" eaLnBrk="0" latinLnBrk="0">
              <a:lnSpc>
                <a:spcPts val="1675"/>
              </a:lnSpc>
              <a:spcBef>
                <a:spcPts val="0"/>
              </a:spcBef>
              <a:spcAft>
                <a:spcPts val="0"/>
              </a:spcAft>
            </a:pPr>
            <a:r>
              <a:rPr lang="ko-KR" sz="1250" b="0" dirty="0" err="1">
                <a:solidFill>
                  <a:srgbClr val="262626"/>
                </a:solidFill>
                <a:latin typeface="Malgun Gothic"/>
                <a:ea typeface="Malgun Gothic"/>
                <a:cs typeface="Malgun Gothic"/>
              </a:rPr>
              <a:t>열회수</a:t>
            </a:r>
            <a:r>
              <a:rPr lang="ko-KR" sz="1250" b="0" dirty="0">
                <a:solidFill>
                  <a:srgbClr val="262626"/>
                </a:solidFill>
                <a:latin typeface="Malgun Gothic"/>
                <a:ea typeface="Malgun Gothic"/>
                <a:cs typeface="Malgun Gothic"/>
              </a:rPr>
              <a:t> 적용 시 효율 손실 0.1% 미만</a:t>
            </a:r>
          </a:p>
        </p:txBody>
      </p:sp>
      <p:sp>
        <p:nvSpPr>
          <p:cNvPr id="25" name="Rectangle 24"/>
          <p:cNvSpPr/>
          <p:nvPr/>
        </p:nvSpPr>
        <p:spPr>
          <a:xfrm>
            <a:off x="381000" y="3134360"/>
            <a:ext cx="38100" cy="38100"/>
          </a:xfrm>
          <a:prstGeom prst="rect">
            <a:avLst/>
          </a:prstGeom>
          <a:solidFill>
            <a:srgbClr val="65758A"/>
          </a:solidFill>
          <a:ln>
            <a:noFill/>
          </a:ln>
          <a:effectLst/>
        </p:spPr>
        <p:txBody>
          <a:bodyPr rtlCol="0" anchor="ctr"/>
          <a:lstStyle/>
          <a:p>
            <a:pPr algn="ctr"/>
            <a:endParaRPr/>
          </a:p>
        </p:txBody>
      </p:sp>
      <p:sp>
        <p:nvSpPr>
          <p:cNvPr id="26" name="TextBox 25"/>
          <p:cNvSpPr txBox="1"/>
          <p:nvPr/>
        </p:nvSpPr>
        <p:spPr>
          <a:xfrm>
            <a:off x="571500" y="3061335"/>
            <a:ext cx="3898900" cy="444500"/>
          </a:xfrm>
          <a:prstGeom prst="rect">
            <a:avLst/>
          </a:prstGeom>
          <a:noFill/>
          <a:effectLst/>
        </p:spPr>
        <p:txBody>
          <a:bodyPr wrap="none" lIns="0" tIns="0" rIns="0" bIns="0" anchor="t">
            <a:noAutofit/>
          </a:bodyPr>
          <a:lstStyle/>
          <a:p>
            <a:pPr algn="l" eaLnBrk="0" latinLnBrk="0">
              <a:lnSpc>
                <a:spcPts val="1675"/>
              </a:lnSpc>
              <a:spcBef>
                <a:spcPts val="0"/>
              </a:spcBef>
              <a:spcAft>
                <a:spcPts val="0"/>
              </a:spcAft>
            </a:pPr>
            <a:r>
              <a:rPr lang="ko-KR" altLang="en-US" sz="1250" b="0" dirty="0">
                <a:solidFill>
                  <a:srgbClr val="262626"/>
                </a:solidFill>
                <a:latin typeface="Malgun Gothic"/>
                <a:ea typeface="Malgun Gothic"/>
                <a:cs typeface="Malgun Gothic"/>
              </a:rPr>
              <a:t>중성점을 절연으로 설계해 </a:t>
            </a:r>
            <a:r>
              <a:rPr lang="ko-KR" sz="1250" b="0" dirty="0">
                <a:solidFill>
                  <a:srgbClr val="262626"/>
                </a:solidFill>
                <a:latin typeface="Malgun Gothic"/>
                <a:ea typeface="Malgun Gothic"/>
                <a:cs typeface="Malgun Gothic"/>
              </a:rPr>
              <a:t>상용 전력망에</a:t>
            </a:r>
            <a:r>
              <a:rPr lang="en-US" altLang="ko-KR" sz="1250" b="0" dirty="0">
                <a:solidFill>
                  <a:srgbClr val="262626"/>
                </a:solidFill>
                <a:latin typeface="Malgun Gothic"/>
                <a:ea typeface="Malgun Gothic"/>
                <a:cs typeface="Malgun Gothic"/>
              </a:rPr>
              <a:t> </a:t>
            </a:r>
            <a:r>
              <a:rPr lang="ko-KR" sz="1250" b="0" dirty="0">
                <a:solidFill>
                  <a:srgbClr val="262626"/>
                </a:solidFill>
                <a:latin typeface="Malgun Gothic"/>
                <a:ea typeface="Malgun Gothic"/>
                <a:cs typeface="Malgun Gothic"/>
              </a:rPr>
              <a:t>직접</a:t>
            </a:r>
            <a:r>
              <a:rPr lang="en-US" altLang="ko-KR" sz="1250" b="0" dirty="0">
                <a:solidFill>
                  <a:srgbClr val="262626"/>
                </a:solidFill>
                <a:latin typeface="Malgun Gothic"/>
                <a:ea typeface="Malgun Gothic"/>
                <a:cs typeface="Malgun Gothic"/>
              </a:rPr>
              <a:t> </a:t>
            </a:r>
            <a:r>
              <a:rPr lang="ko-KR" altLang="en-US" sz="1250" b="0" dirty="0">
                <a:solidFill>
                  <a:srgbClr val="262626"/>
                </a:solidFill>
                <a:latin typeface="Malgun Gothic"/>
                <a:ea typeface="Malgun Gothic"/>
                <a:cs typeface="Malgun Gothic"/>
              </a:rPr>
              <a:t>연계 가능</a:t>
            </a:r>
            <a:endParaRPr lang="ko-KR" sz="1250" b="0" dirty="0">
              <a:solidFill>
                <a:srgbClr val="262626"/>
              </a:solidFill>
              <a:latin typeface="Malgun Gothic"/>
              <a:ea typeface="Malgun Gothic"/>
              <a:cs typeface="Malgun Gothic"/>
            </a:endParaRPr>
          </a:p>
        </p:txBody>
      </p:sp>
      <p:sp>
        <p:nvSpPr>
          <p:cNvPr id="27" name="Rectangle 26"/>
          <p:cNvSpPr/>
          <p:nvPr/>
        </p:nvSpPr>
        <p:spPr>
          <a:xfrm>
            <a:off x="381000" y="3706495"/>
            <a:ext cx="38100" cy="38100"/>
          </a:xfrm>
          <a:prstGeom prst="rect">
            <a:avLst/>
          </a:prstGeom>
          <a:solidFill>
            <a:srgbClr val="65758A"/>
          </a:solidFill>
          <a:ln>
            <a:noFill/>
          </a:ln>
          <a:effectLst/>
        </p:spPr>
        <p:txBody>
          <a:bodyPr rtlCol="0" anchor="ctr"/>
          <a:lstStyle/>
          <a:p>
            <a:pPr algn="ctr"/>
            <a:endParaRPr/>
          </a:p>
        </p:txBody>
      </p:sp>
      <p:sp>
        <p:nvSpPr>
          <p:cNvPr id="28" name="TextBox 27"/>
          <p:cNvSpPr txBox="1"/>
          <p:nvPr/>
        </p:nvSpPr>
        <p:spPr>
          <a:xfrm>
            <a:off x="571500" y="3633470"/>
            <a:ext cx="3898900" cy="444500"/>
          </a:xfrm>
          <a:prstGeom prst="rect">
            <a:avLst/>
          </a:prstGeom>
          <a:noFill/>
          <a:effectLst/>
        </p:spPr>
        <p:txBody>
          <a:bodyPr wrap="none" lIns="0" tIns="0" rIns="0" bIns="0" anchor="t">
            <a:noAutofit/>
          </a:bodyPr>
          <a:lstStyle/>
          <a:p>
            <a:pPr algn="l" eaLnBrk="0" latinLnBrk="0">
              <a:lnSpc>
                <a:spcPts val="1675"/>
              </a:lnSpc>
              <a:spcBef>
                <a:spcPts val="0"/>
              </a:spcBef>
              <a:spcAft>
                <a:spcPts val="0"/>
              </a:spcAft>
            </a:pPr>
            <a:r>
              <a:rPr lang="ko-KR" sz="1250" b="0" dirty="0" err="1">
                <a:solidFill>
                  <a:srgbClr val="262626"/>
                </a:solidFill>
                <a:latin typeface="Malgun Gothic"/>
                <a:ea typeface="Malgun Gothic"/>
                <a:cs typeface="Malgun Gothic"/>
              </a:rPr>
              <a:t>거품·아크가</a:t>
            </a:r>
            <a:r>
              <a:rPr lang="ko-KR" sz="1250" b="0" dirty="0">
                <a:solidFill>
                  <a:srgbClr val="262626"/>
                </a:solidFill>
                <a:latin typeface="Malgun Gothic"/>
                <a:ea typeface="Malgun Gothic"/>
                <a:cs typeface="Malgun Gothic"/>
              </a:rPr>
              <a:t> 적어 </a:t>
            </a:r>
            <a:r>
              <a:rPr lang="ko-KR" sz="1250" b="0" dirty="0" err="1">
                <a:solidFill>
                  <a:srgbClr val="262626"/>
                </a:solidFill>
                <a:latin typeface="Malgun Gothic"/>
                <a:ea typeface="Malgun Gothic"/>
                <a:cs typeface="Malgun Gothic"/>
              </a:rPr>
              <a:t>변압기·차단기</a:t>
            </a:r>
            <a:r>
              <a:rPr lang="ko-KR" sz="1250" b="0" dirty="0">
                <a:solidFill>
                  <a:srgbClr val="262626"/>
                </a:solidFill>
                <a:latin typeface="Malgun Gothic"/>
                <a:ea typeface="Malgun Gothic"/>
                <a:cs typeface="Malgun Gothic"/>
              </a:rPr>
              <a:t> 수명에</a:t>
            </a:r>
            <a:r>
              <a:rPr lang="en-US" altLang="ko-KR" sz="1250" b="0" dirty="0">
                <a:solidFill>
                  <a:srgbClr val="262626"/>
                </a:solidFill>
                <a:latin typeface="Malgun Gothic"/>
                <a:ea typeface="Malgun Gothic"/>
                <a:cs typeface="Malgun Gothic"/>
              </a:rPr>
              <a:t> </a:t>
            </a:r>
            <a:r>
              <a:rPr lang="ko-KR" sz="1250" b="0" dirty="0">
                <a:solidFill>
                  <a:srgbClr val="262626"/>
                </a:solidFill>
                <a:latin typeface="Malgun Gothic"/>
                <a:ea typeface="Malgun Gothic"/>
                <a:cs typeface="Malgun Gothic"/>
              </a:rPr>
              <a:t>유리하며</a:t>
            </a:r>
            <a:endParaRPr lang="en-US" altLang="ko-KR" sz="1250" b="0" dirty="0">
              <a:solidFill>
                <a:srgbClr val="262626"/>
              </a:solidFill>
              <a:latin typeface="Malgun Gothic"/>
              <a:ea typeface="Malgun Gothic"/>
              <a:cs typeface="Malgun Gothic"/>
            </a:endParaRPr>
          </a:p>
          <a:p>
            <a:pPr algn="l" eaLnBrk="0" latinLnBrk="0">
              <a:lnSpc>
                <a:spcPts val="1675"/>
              </a:lnSpc>
              <a:spcBef>
                <a:spcPts val="0"/>
              </a:spcBef>
              <a:spcAft>
                <a:spcPts val="0"/>
              </a:spcAft>
            </a:pPr>
            <a:r>
              <a:rPr lang="ko-KR" sz="1250" b="0" dirty="0">
                <a:solidFill>
                  <a:srgbClr val="262626"/>
                </a:solidFill>
                <a:latin typeface="Malgun Gothic"/>
                <a:ea typeface="Malgun Gothic"/>
                <a:cs typeface="Malgun Gothic"/>
              </a:rPr>
              <a:t>원전 보조증기 신뢰성을 강조</a:t>
            </a:r>
          </a:p>
        </p:txBody>
      </p:sp>
      <p:sp>
        <p:nvSpPr>
          <p:cNvPr id="29" name="TextBox 28"/>
          <p:cNvSpPr txBox="1"/>
          <p:nvPr/>
        </p:nvSpPr>
        <p:spPr>
          <a:xfrm>
            <a:off x="4826000" y="2057400"/>
            <a:ext cx="3937000" cy="3429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dirty="0">
                <a:solidFill>
                  <a:srgbClr val="1F497D"/>
                </a:solidFill>
                <a:latin typeface="Malgun Gothic"/>
                <a:ea typeface="Malgun Gothic"/>
                <a:cs typeface="Malgun Gothic"/>
              </a:rPr>
              <a:t>침지형 </a:t>
            </a:r>
            <a:r>
              <a:rPr lang="ko-KR" sz="1500" b="1" dirty="0" err="1">
                <a:solidFill>
                  <a:srgbClr val="1F497D"/>
                </a:solidFill>
                <a:latin typeface="Malgun Gothic"/>
                <a:ea typeface="Malgun Gothic"/>
                <a:cs typeface="Malgun Gothic"/>
              </a:rPr>
              <a:t>vs</a:t>
            </a:r>
            <a:r>
              <a:rPr lang="ko-KR" sz="1500" b="1" dirty="0">
                <a:solidFill>
                  <a:srgbClr val="1F497D"/>
                </a:solidFill>
                <a:latin typeface="Malgun Gothic"/>
                <a:ea typeface="Malgun Gothic"/>
                <a:cs typeface="Malgun Gothic"/>
              </a:rPr>
              <a:t> 분사형 </a:t>
            </a:r>
            <a:r>
              <a:rPr lang="en-US" altLang="ko-KR" sz="1500" b="1" dirty="0">
                <a:solidFill>
                  <a:srgbClr val="1F497D"/>
                </a:solidFill>
                <a:latin typeface="Malgun Gothic"/>
                <a:ea typeface="Malgun Gothic"/>
                <a:cs typeface="Malgun Gothic"/>
              </a:rPr>
              <a:t>(</a:t>
            </a:r>
            <a:r>
              <a:rPr lang="ko-KR" sz="1500" b="1" dirty="0">
                <a:solidFill>
                  <a:srgbClr val="1F497D"/>
                </a:solidFill>
                <a:latin typeface="Malgun Gothic"/>
                <a:ea typeface="Malgun Gothic"/>
                <a:cs typeface="Malgun Gothic"/>
              </a:rPr>
              <a:t>회사 측 비교</a:t>
            </a:r>
            <a:r>
              <a:rPr lang="en-US" altLang="ko-KR" sz="1500" b="1" dirty="0">
                <a:solidFill>
                  <a:srgbClr val="1F497D"/>
                </a:solidFill>
                <a:latin typeface="Malgun Gothic"/>
                <a:ea typeface="Malgun Gothic"/>
                <a:cs typeface="Malgun Gothic"/>
              </a:rPr>
              <a:t>)</a:t>
            </a:r>
            <a:endParaRPr lang="ko-KR" sz="1500" b="1" dirty="0">
              <a:solidFill>
                <a:srgbClr val="1F497D"/>
              </a:solidFill>
              <a:latin typeface="Malgun Gothic"/>
              <a:ea typeface="Malgun Gothic"/>
              <a:cs typeface="Malgun Gothic"/>
            </a:endParaRPr>
          </a:p>
        </p:txBody>
      </p:sp>
      <p:graphicFrame>
        <p:nvGraphicFramePr>
          <p:cNvPr id="30" name="Table 29"/>
          <p:cNvGraphicFramePr>
            <a:graphicFrameLocks noGrp="1"/>
          </p:cNvGraphicFramePr>
          <p:nvPr/>
        </p:nvGraphicFramePr>
        <p:xfrm>
          <a:off x="4826000" y="2451100"/>
          <a:ext cx="3937000" cy="1854200"/>
        </p:xfrm>
        <a:graphic>
          <a:graphicData uri="http://schemas.openxmlformats.org/drawingml/2006/table">
            <a:tbl>
              <a:tblPr>
                <a:tableStyleId>{5C22544A-7EE6-4342-B048-85BDC9FD1C3A}</a:tableStyleId>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tblGrid>
              <a:tr h="304800">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항목</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침지형</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분사형</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09880">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신뢰성·가용성</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dirty="0">
                          <a:solidFill>
                            <a:srgbClr val="262626"/>
                          </a:solidFill>
                          <a:latin typeface="Malgun Gothic"/>
                          <a:ea typeface="Malgun Gothic"/>
                          <a:cs typeface="Malgun Gothic"/>
                        </a:rPr>
                        <a:t>높음</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a:solidFill>
                            <a:srgbClr val="262626"/>
                          </a:solidFill>
                          <a:latin typeface="Malgun Gothic"/>
                          <a:ea typeface="Malgun Gothic"/>
                          <a:cs typeface="Malgun Gothic"/>
                        </a:rPr>
                        <a:t>낮음~중간</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9880">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정비 용이성</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dirty="0">
                          <a:solidFill>
                            <a:srgbClr val="262626"/>
                          </a:solidFill>
                          <a:latin typeface="Malgun Gothic"/>
                          <a:ea typeface="Malgun Gothic"/>
                          <a:cs typeface="Malgun Gothic"/>
                        </a:rPr>
                        <a:t>높음</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a:solidFill>
                            <a:srgbClr val="262626"/>
                          </a:solidFill>
                          <a:latin typeface="Malgun Gothic"/>
                          <a:ea typeface="Malgun Gothic"/>
                          <a:cs typeface="Malgun Gothic"/>
                        </a:rPr>
                        <a:t>낮음~중간</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9880">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그리드 연계성</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dirty="0">
                          <a:solidFill>
                            <a:srgbClr val="262626"/>
                          </a:solidFill>
                          <a:latin typeface="Malgun Gothic"/>
                          <a:ea typeface="Malgun Gothic"/>
                          <a:cs typeface="Malgun Gothic"/>
                        </a:rPr>
                        <a:t>높음</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dirty="0">
                          <a:solidFill>
                            <a:srgbClr val="262626"/>
                          </a:solidFill>
                          <a:latin typeface="Malgun Gothic"/>
                          <a:ea typeface="Malgun Gothic"/>
                          <a:cs typeface="Malgun Gothic"/>
                        </a:rPr>
                        <a:t>낮음</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9880">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증기 품질</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a:solidFill>
                            <a:srgbClr val="262626"/>
                          </a:solidFill>
                          <a:latin typeface="Malgun Gothic"/>
                          <a:ea typeface="Malgun Gothic"/>
                          <a:cs typeface="Malgun Gothic"/>
                        </a:rPr>
                        <a:t>높음(99.5%+)</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dirty="0">
                          <a:solidFill>
                            <a:srgbClr val="262626"/>
                          </a:solidFill>
                          <a:latin typeface="Malgun Gothic"/>
                          <a:ea typeface="Malgun Gothic"/>
                          <a:cs typeface="Malgun Gothic"/>
                        </a:rPr>
                        <a:t>낮음</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9880">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증기 순도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a:solidFill>
                            <a:srgbClr val="262626"/>
                          </a:solidFill>
                          <a:latin typeface="Malgun Gothic"/>
                          <a:ea typeface="Malgun Gothic"/>
                          <a:cs typeface="Malgun Gothic"/>
                        </a:rPr>
                        <a:t>높음</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dirty="0">
                          <a:solidFill>
                            <a:srgbClr val="262626"/>
                          </a:solidFill>
                          <a:latin typeface="Malgun Gothic"/>
                          <a:ea typeface="Malgun Gothic"/>
                          <a:cs typeface="Malgun Gothic"/>
                        </a:rPr>
                        <a:t>낮음</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146863487"/>
              </p:ext>
            </p:extLst>
          </p:nvPr>
        </p:nvGraphicFramePr>
        <p:xfrm>
          <a:off x="381000" y="4762500"/>
          <a:ext cx="8382000" cy="1587500"/>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20000"/>
                    </a:ext>
                  </a:extLst>
                </a:gridCol>
                <a:gridCol w="2159000">
                  <a:extLst>
                    <a:ext uri="{9D8B030D-6E8A-4147-A177-3AD203B41FA5}">
                      <a16:colId xmlns:a16="http://schemas.microsoft.com/office/drawing/2014/main" val="20001"/>
                    </a:ext>
                  </a:extLst>
                </a:gridCol>
                <a:gridCol w="4318000">
                  <a:extLst>
                    <a:ext uri="{9D8B030D-6E8A-4147-A177-3AD203B41FA5}">
                      <a16:colId xmlns:a16="http://schemas.microsoft.com/office/drawing/2014/main" val="20002"/>
                    </a:ext>
                  </a:extLst>
                </a:gridCol>
              </a:tblGrid>
              <a:tr h="292100">
                <a:tc>
                  <a:txBody>
                    <a:bodyPr wrap="square" lIns="0" rIns="0" tIns="0" bIns="0">
                      <a:noAutofit/>
                    </a:bodyPr>
                    <a:lstStyle/>
                    <a:p>
                      <a:pPr algn="ctr" eaLnBrk="0" latinLnBrk="0">
                        <a:lnSpc>
                          <a:spcPct val="115000"/>
                        </a:lnSpc>
                        <a:spcBef>
                          <a:spcPts val="0"/>
                        </a:spcBef>
                        <a:spcAft>
                          <a:spcPts val="0"/>
                        </a:spcAft>
                        <a:defRPr sz="1000">
                          <a:latin typeface="Malgun Gothic"/>
                        </a:defRPr>
                      </a:pPr>
                      <a:r>
                        <a:rPr lang="ko-KR" sz="1000" b="1">
                          <a:solidFill>
                            <a:srgbClr val="1F497D"/>
                          </a:solidFill>
                          <a:latin typeface="Malgun Gothic"/>
                          <a:ea typeface="Malgun Gothic"/>
                          <a:cs typeface="Malgun Gothic"/>
                        </a:rPr>
                        <a:t>납품·제안 사례</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000">
                          <a:latin typeface="Malgun Gothic"/>
                        </a:defRPr>
                      </a:pPr>
                      <a:r>
                        <a:rPr lang="ko-KR" sz="1000" b="1">
                          <a:solidFill>
                            <a:srgbClr val="1F497D"/>
                          </a:solidFill>
                          <a:latin typeface="Malgun Gothic"/>
                          <a:ea typeface="Malgun Gothic"/>
                          <a:cs typeface="Malgun Gothic"/>
                        </a:rPr>
                        <a:t>용도</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000">
                          <a:latin typeface="Malgun Gothic"/>
                        </a:defRPr>
                      </a:pPr>
                      <a:r>
                        <a:rPr lang="ko-KR" sz="1000" b="1" dirty="0">
                          <a:solidFill>
                            <a:srgbClr val="1F497D"/>
                          </a:solidFill>
                          <a:latin typeface="Malgun Gothic"/>
                          <a:ea typeface="Malgun Gothic"/>
                          <a:cs typeface="Malgun Gothic"/>
                        </a:rPr>
                        <a:t>스펙</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431800">
                <a:tc>
                  <a:txBody>
                    <a:bodyPr wrap="square" lIns="0" rIns="0" tIns="0" bIns="0">
                      <a:noAutofit/>
                    </a:bodyPr>
                    <a:lstStyle/>
                    <a:p>
                      <a:pPr algn="ctr" eaLnBrk="0" latinLnBrk="0">
                        <a:lnSpc>
                          <a:spcPct val="115000"/>
                        </a:lnSpc>
                        <a:spcBef>
                          <a:spcPts val="0"/>
                        </a:spcBef>
                        <a:spcAft>
                          <a:spcPts val="0"/>
                        </a:spcAft>
                        <a:defRPr sz="1000">
                          <a:latin typeface="Malgun Gothic"/>
                        </a:defRPr>
                      </a:pPr>
                      <a:r>
                        <a:rPr lang="ko-KR" sz="1000" b="1" dirty="0" err="1">
                          <a:solidFill>
                            <a:srgbClr val="1F497D"/>
                          </a:solidFill>
                          <a:latin typeface="Malgun Gothic"/>
                          <a:ea typeface="Malgun Gothic"/>
                          <a:cs typeface="Malgun Gothic"/>
                        </a:rPr>
                        <a:t>Olkiluoto</a:t>
                      </a:r>
                      <a:r>
                        <a:rPr lang="ko-KR" sz="1000" b="1" dirty="0">
                          <a:solidFill>
                            <a:srgbClr val="1F497D"/>
                          </a:solidFill>
                          <a:latin typeface="Malgun Gothic"/>
                          <a:ea typeface="Malgun Gothic"/>
                          <a:cs typeface="Malgun Gothic"/>
                        </a:rPr>
                        <a:t> 3 </a:t>
                      </a:r>
                      <a:r>
                        <a:rPr lang="ko-KR" altLang="en-US" sz="1000" b="1" dirty="0">
                          <a:solidFill>
                            <a:srgbClr val="1F497D"/>
                          </a:solidFill>
                          <a:latin typeface="Malgun Gothic"/>
                          <a:ea typeface="Malgun Gothic"/>
                          <a:cs typeface="Malgun Gothic"/>
                        </a:rPr>
                        <a:t>원전</a:t>
                      </a:r>
                      <a:endParaRPr lang="ko-KR" sz="11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000">
                          <a:latin typeface="Malgun Gothic"/>
                        </a:defRPr>
                      </a:pPr>
                      <a:r>
                        <a:rPr lang="ko-KR" sz="1000" b="0">
                          <a:solidFill>
                            <a:srgbClr val="262626"/>
                          </a:solidFill>
                          <a:latin typeface="Malgun Gothic"/>
                          <a:ea typeface="Malgun Gothic"/>
                          <a:cs typeface="Malgun Gothic"/>
                        </a:rPr>
                        <a:t>보조증기(gland steam)</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000">
                          <a:latin typeface="Malgun Gothic"/>
                        </a:defRPr>
                      </a:pPr>
                      <a:r>
                        <a:rPr lang="ko-KR" sz="1000" b="0">
                          <a:solidFill>
                            <a:srgbClr val="262626"/>
                          </a:solidFill>
                          <a:latin typeface="Malgun Gothic"/>
                          <a:ea typeface="Malgun Gothic"/>
                          <a:cs typeface="Malgun Gothic"/>
                        </a:rPr>
                        <a:t>2×15 MW, 10 kV, 12 bar(g), 192°C, 46,000 kg/h</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1800">
                <a:tc>
                  <a:txBody>
                    <a:bodyPr wrap="square" lIns="0" rIns="0" tIns="0" bIns="0">
                      <a:noAutofit/>
                    </a:bodyPr>
                    <a:lstStyle/>
                    <a:p>
                      <a:pPr algn="ctr" eaLnBrk="0" latinLnBrk="0">
                        <a:lnSpc>
                          <a:spcPct val="115000"/>
                        </a:lnSpc>
                        <a:spcBef>
                          <a:spcPts val="0"/>
                        </a:spcBef>
                        <a:spcAft>
                          <a:spcPts val="0"/>
                        </a:spcAft>
                        <a:defRPr sz="1000">
                          <a:latin typeface="Malgun Gothic"/>
                        </a:defRPr>
                      </a:pPr>
                      <a:r>
                        <a:rPr lang="ko-KR" sz="1000" b="1">
                          <a:solidFill>
                            <a:srgbClr val="1F497D"/>
                          </a:solidFill>
                          <a:latin typeface="Malgun Gothic"/>
                          <a:ea typeface="Malgun Gothic"/>
                          <a:cs typeface="Malgun Gothic"/>
                        </a:rPr>
                        <a:t>AstraZeneca</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000">
                          <a:latin typeface="Malgun Gothic"/>
                        </a:defRPr>
                      </a:pPr>
                      <a:r>
                        <a:rPr lang="ko-KR" sz="1000" b="0">
                          <a:solidFill>
                            <a:srgbClr val="262626"/>
                          </a:solidFill>
                          <a:latin typeface="Malgun Gothic"/>
                          <a:ea typeface="Malgun Gothic"/>
                          <a:cs typeface="Malgun Gothic"/>
                        </a:rPr>
                        <a:t>제약공정</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000">
                          <a:latin typeface="Malgun Gothic"/>
                        </a:defRPr>
                      </a:pPr>
                      <a:r>
                        <a:rPr lang="ko-KR" sz="1000" b="0">
                          <a:solidFill>
                            <a:srgbClr val="262626"/>
                          </a:solidFill>
                          <a:latin typeface="Malgun Gothic"/>
                          <a:ea typeface="Malgun Gothic"/>
                          <a:cs typeface="Malgun Gothic"/>
                        </a:rPr>
                        <a:t>25 MW, 11 kV, 32 bar, 설계 240°C, 38,000 kg/h</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1800">
                <a:tc>
                  <a:txBody>
                    <a:bodyPr wrap="square" lIns="0" rIns="0" tIns="0" bIns="0">
                      <a:noAutofit/>
                    </a:bodyPr>
                    <a:lstStyle/>
                    <a:p>
                      <a:pPr algn="ctr" eaLnBrk="0" latinLnBrk="0">
                        <a:lnSpc>
                          <a:spcPct val="115000"/>
                        </a:lnSpc>
                        <a:spcBef>
                          <a:spcPts val="0"/>
                        </a:spcBef>
                        <a:spcAft>
                          <a:spcPts val="0"/>
                        </a:spcAft>
                        <a:defRPr sz="1000">
                          <a:latin typeface="Malgun Gothic"/>
                        </a:defRPr>
                      </a:pPr>
                      <a:r>
                        <a:rPr lang="ko-KR" sz="1000" b="1" dirty="0">
                          <a:solidFill>
                            <a:srgbClr val="1F497D"/>
                          </a:solidFill>
                          <a:latin typeface="Malgun Gothic"/>
                          <a:ea typeface="Malgun Gothic"/>
                          <a:cs typeface="Malgun Gothic"/>
                        </a:rPr>
                        <a:t>참고 제안 예시</a:t>
                      </a:r>
                    </a:p>
                    <a:p>
                      <a:pPr algn="ctr" eaLnBrk="0" latinLnBrk="0">
                        <a:lnSpc>
                          <a:spcPct val="115000"/>
                        </a:lnSpc>
                        <a:spcBef>
                          <a:spcPts val="0"/>
                        </a:spcBef>
                        <a:spcAft>
                          <a:spcPts val="0"/>
                        </a:spcAft>
                        <a:defRPr sz="1000">
                          <a:latin typeface="Malgun Gothic"/>
                        </a:defRPr>
                      </a:pPr>
                      <a:r>
                        <a:rPr lang="ko-KR" altLang="ko-KR" sz="1000" b="1" dirty="0">
                          <a:solidFill>
                            <a:srgbClr val="1F497D"/>
                          </a:solidFill>
                          <a:latin typeface="Malgun Gothic"/>
                          <a:ea typeface="Malgun Gothic"/>
                          <a:cs typeface="Malgun Gothic"/>
                        </a:rPr>
                        <a:t>(</a:t>
                      </a:r>
                      <a:r>
                        <a:rPr lang="ko-KR" sz="1000" b="1" dirty="0">
                          <a:solidFill>
                            <a:srgbClr val="1F497D"/>
                          </a:solidFill>
                          <a:latin typeface="Malgun Gothic"/>
                          <a:ea typeface="Malgun Gothic"/>
                          <a:cs typeface="Malgun Gothic"/>
                        </a:rPr>
                        <a:t>ETSH10Mi</a:t>
                      </a:r>
                      <a:r>
                        <a:rPr lang="ko-KR" altLang="ko-KR" sz="1000" b="1" dirty="0">
                          <a:solidFill>
                            <a:srgbClr val="1F497D"/>
                          </a:solidFill>
                          <a:latin typeface="Malgun Gothic"/>
                          <a:ea typeface="Malgun Gothic"/>
                          <a:cs typeface="Malgun Gothic"/>
                        </a:rPr>
                        <a:t>)</a:t>
                      </a:r>
                      <a:endParaRPr lang="ko-KR" sz="11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000">
                          <a:latin typeface="Malgun Gothic"/>
                        </a:defRPr>
                      </a:pPr>
                      <a:r>
                        <a:rPr lang="ko-KR" sz="1000" b="0" dirty="0">
                          <a:solidFill>
                            <a:srgbClr val="262626"/>
                          </a:solidFill>
                          <a:latin typeface="Malgun Gothic"/>
                          <a:ea typeface="Malgun Gothic"/>
                          <a:cs typeface="Malgun Gothic"/>
                        </a:rPr>
                        <a:t>세탁공장용</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000">
                          <a:latin typeface="Malgun Gothic"/>
                        </a:defRPr>
                      </a:pPr>
                      <a:r>
                        <a:rPr lang="ko-KR" sz="1000" b="0" dirty="0">
                          <a:solidFill>
                            <a:srgbClr val="262626"/>
                          </a:solidFill>
                          <a:latin typeface="Malgun Gothic"/>
                          <a:ea typeface="Malgun Gothic"/>
                          <a:cs typeface="Malgun Gothic"/>
                        </a:rPr>
                        <a:t>9.1 MW, 11 </a:t>
                      </a:r>
                      <a:r>
                        <a:rPr lang="ko-KR" sz="1000" b="0" dirty="0" err="1">
                          <a:solidFill>
                            <a:srgbClr val="262626"/>
                          </a:solidFill>
                          <a:latin typeface="Malgun Gothic"/>
                          <a:ea typeface="Malgun Gothic"/>
                          <a:cs typeface="Malgun Gothic"/>
                        </a:rPr>
                        <a:t>kV</a:t>
                      </a:r>
                      <a:r>
                        <a:rPr lang="ko-KR" sz="1000" b="0" dirty="0">
                          <a:solidFill>
                            <a:srgbClr val="262626"/>
                          </a:solidFill>
                          <a:latin typeface="Malgun Gothic"/>
                          <a:ea typeface="Malgun Gothic"/>
                          <a:cs typeface="Malgun Gothic"/>
                        </a:rPr>
                        <a:t>, 12 </a:t>
                      </a:r>
                      <a:r>
                        <a:rPr lang="ko-KR" sz="1000" b="0" dirty="0" err="1">
                          <a:solidFill>
                            <a:srgbClr val="262626"/>
                          </a:solidFill>
                          <a:latin typeface="Malgun Gothic"/>
                          <a:ea typeface="Malgun Gothic"/>
                          <a:cs typeface="Malgun Gothic"/>
                        </a:rPr>
                        <a:t>bar</a:t>
                      </a:r>
                      <a:r>
                        <a:rPr lang="ko-KR" sz="1000" b="0" dirty="0">
                          <a:solidFill>
                            <a:srgbClr val="262626"/>
                          </a:solidFill>
                          <a:latin typeface="Malgun Gothic"/>
                          <a:ea typeface="Malgun Gothic"/>
                          <a:cs typeface="Malgun Gothic"/>
                        </a:rPr>
                        <a:t>(</a:t>
                      </a:r>
                      <a:r>
                        <a:rPr lang="ko-KR" sz="1000" b="0" dirty="0" err="1">
                          <a:solidFill>
                            <a:srgbClr val="262626"/>
                          </a:solidFill>
                          <a:latin typeface="Malgun Gothic"/>
                          <a:ea typeface="Malgun Gothic"/>
                          <a:cs typeface="Malgun Gothic"/>
                        </a:rPr>
                        <a:t>g</a:t>
                      </a:r>
                      <a:r>
                        <a:rPr lang="ko-KR" sz="1000" b="0" dirty="0">
                          <a:solidFill>
                            <a:srgbClr val="262626"/>
                          </a:solidFill>
                          <a:latin typeface="Malgun Gothic"/>
                          <a:ea typeface="Malgun Gothic"/>
                          <a:cs typeface="Malgun Gothic"/>
                        </a:rPr>
                        <a:t>), </a:t>
                      </a:r>
                      <a:r>
                        <a:rPr lang="ko-KR" sz="1000" b="0" dirty="0" err="1">
                          <a:solidFill>
                            <a:srgbClr val="262626"/>
                          </a:solidFill>
                          <a:latin typeface="Malgun Gothic"/>
                          <a:ea typeface="Malgun Gothic"/>
                          <a:cs typeface="Malgun Gothic"/>
                        </a:rPr>
                        <a:t>순증기량</a:t>
                      </a:r>
                      <a:r>
                        <a:rPr lang="ko-KR" sz="1000" b="0" dirty="0">
                          <a:solidFill>
                            <a:srgbClr val="262626"/>
                          </a:solidFill>
                          <a:latin typeface="Malgun Gothic"/>
                          <a:ea typeface="Malgun Gothic"/>
                          <a:cs typeface="Malgun Gothic"/>
                        </a:rPr>
                        <a:t> 13 </a:t>
                      </a:r>
                      <a:r>
                        <a:rPr lang="ko-KR" sz="1000" b="0" dirty="0" err="1">
                          <a:solidFill>
                            <a:srgbClr val="262626"/>
                          </a:solidFill>
                          <a:latin typeface="Malgun Gothic"/>
                          <a:ea typeface="Malgun Gothic"/>
                          <a:cs typeface="Malgun Gothic"/>
                        </a:rPr>
                        <a:t>t</a:t>
                      </a:r>
                      <a:r>
                        <a:rPr lang="ko-KR" sz="1000" b="0" dirty="0">
                          <a:solidFill>
                            <a:srgbClr val="262626"/>
                          </a:solidFill>
                          <a:latin typeface="Malgun Gothic"/>
                          <a:ea typeface="Malgun Gothic"/>
                          <a:cs typeface="Malgun Gothic"/>
                        </a:rPr>
                        <a:t>/</a:t>
                      </a:r>
                      <a:r>
                        <a:rPr lang="ko-KR" sz="1000" b="0" dirty="0" err="1">
                          <a:solidFill>
                            <a:srgbClr val="262626"/>
                          </a:solidFill>
                          <a:latin typeface="Malgun Gothic"/>
                          <a:ea typeface="Malgun Gothic"/>
                          <a:cs typeface="Malgun Gothic"/>
                        </a:rPr>
                        <a:t>h</a:t>
                      </a:r>
                      <a:endParaRPr lang="ko-KR" sz="1100" b="0" dirty="0">
                        <a:solidFill>
                          <a:srgbClr val="262626"/>
                        </a:solidFill>
                        <a:latin typeface="Malgun Gothic"/>
                        <a:ea typeface="Malgun Gothic"/>
                        <a:cs typeface="Malgun Gothic"/>
                      </a:endParaRPr>
                    </a:p>
                    <a:p>
                      <a:pPr eaLnBrk="0" latinLnBrk="0" algn="l">
                        <a:lnSpc>
                          <a:spcPct val="115000"/>
                        </a:lnSpc>
                        <a:spcBef>
                          <a:spcPts val="0"/>
                        </a:spcBef>
                        <a:spcAft>
                          <a:spcPts val="0"/>
                        </a:spcAft>
                        <a:defRPr sz="1000">
                          <a:latin typeface="Malgun Gothic"/>
                        </a:defRPr>
                      </a:pPr>
                      <a:r>
                        <a:rPr lang="ko-KR" sz="1000" b="0" dirty="0">
                          <a:solidFill>
                            <a:srgbClr val="262626"/>
                          </a:solidFill>
                          <a:latin typeface="Malgun Gothic"/>
                          <a:ea typeface="Malgun Gothic"/>
                          <a:cs typeface="Malgun Gothic"/>
                        </a:rPr>
                        <a:t>Φ2.3×H5.2 </a:t>
                      </a:r>
                      <a:r>
                        <a:rPr lang="ko-KR" sz="1000" b="0" dirty="0" err="1">
                          <a:solidFill>
                            <a:srgbClr val="262626"/>
                          </a:solidFill>
                          <a:latin typeface="Malgun Gothic"/>
                          <a:ea typeface="Malgun Gothic"/>
                          <a:cs typeface="Malgun Gothic"/>
                        </a:rPr>
                        <a:t>m</a:t>
                      </a:r>
                      <a:r>
                        <a:rPr lang="ko-KR" sz="1000" b="0" dirty="0">
                          <a:solidFill>
                            <a:srgbClr val="262626"/>
                          </a:solidFill>
                          <a:latin typeface="Malgun Gothic"/>
                          <a:ea typeface="Malgun Gothic"/>
                          <a:cs typeface="Malgun Gothic"/>
                        </a:rPr>
                        <a:t>, 충수중량 약 14 </a:t>
                      </a:r>
                      <a:r>
                        <a:rPr lang="ko-KR" sz="1000" b="0" dirty="0" err="1">
                          <a:solidFill>
                            <a:srgbClr val="262626"/>
                          </a:solidFill>
                          <a:latin typeface="Malgun Gothic"/>
                          <a:ea typeface="Malgun Gothic"/>
                          <a:cs typeface="Malgun Gothic"/>
                        </a:rPr>
                        <a:t>t</a:t>
                      </a:r>
                      <a:endParaRPr lang="ko-KR" sz="11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33" name="TextBox 32"/>
          <p:cNvSpPr txBox="1"/>
          <p:nvPr/>
        </p:nvSpPr>
        <p:spPr>
          <a:xfrm>
            <a:off x="381000" y="4495800"/>
            <a:ext cx="8382000" cy="254000"/>
          </a:xfrm>
          <a:prstGeom prst="rect">
            <a:avLst/>
          </a:prstGeom>
          <a:noFill/>
          <a:effectLst/>
        </p:spPr>
        <p:txBody>
          <a:bodyPr wrap="none" lIns="0" tIns="0" rIns="0" bIns="0" anchor="t">
            <a:noAutofit/>
          </a:bodyPr>
          <a:lstStyle/>
          <a:p>
            <a:pPr algn="l" eaLnBrk="0" latinLnBrk="0">
              <a:lnSpc>
                <a:spcPts val="1407"/>
              </a:lnSpc>
              <a:spcBef>
                <a:spcPts val="0"/>
              </a:spcBef>
              <a:spcAft>
                <a:spcPts val="0"/>
              </a:spcAft>
            </a:pPr>
            <a:r>
              <a:rPr lang="ko-KR" sz="1050" b="1">
                <a:solidFill>
                  <a:srgbClr val="1F497D"/>
                </a:solidFill>
                <a:latin typeface="Malgun Gothic"/>
                <a:ea typeface="Malgun Gothic"/>
                <a:cs typeface="Malgun Gothic"/>
              </a:rPr>
              <a:t>플랜트: 탈기기 포함 급수탱크 → 급수펌프 → 전극증기보일러 → 순환펌프 → 분리기 → 소음기/보호케이지</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급수탱크와 탈기기</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18</a:t>
            </a:r>
          </a:p>
        </p:txBody>
      </p:sp>
      <p:sp>
        <p:nvSpPr>
          <p:cNvPr id="23"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0_0.jpeg"/>
          <p:cNvPicPr>
            <a:picLocks noChangeAspect="1"/>
          </p:cNvPicPr>
          <p:nvPr/>
        </p:nvPicPr>
        <p:blipFill>
          <a:blip r:embed="rId4"/>
          <a:stretch>
            <a:fillRect/>
          </a:stretch>
        </p:blipFill>
        <p:spPr>
          <a:xfrm>
            <a:off x="431469" y="1066800"/>
            <a:ext cx="4001161" cy="2311400"/>
          </a:xfrm>
          <a:prstGeom prst="rect">
            <a:avLst/>
          </a:prstGeom>
          <a:effectLst/>
        </p:spPr>
      </p:pic>
      <p:sp>
        <p:nvSpPr>
          <p:cNvPr id="12" name="Rectangle 11"/>
          <p:cNvSpPr/>
          <p:nvPr/>
        </p:nvSpPr>
        <p:spPr>
          <a:xfrm>
            <a:off x="4660900" y="1066800"/>
            <a:ext cx="4102100" cy="21082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4660900" y="1066800"/>
            <a:ext cx="30273" cy="21082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4826000" y="1219200"/>
            <a:ext cx="37719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급수탱크</a:t>
            </a:r>
          </a:p>
        </p:txBody>
      </p:sp>
      <p:sp>
        <p:nvSpPr>
          <p:cNvPr id="15" name="TextBox 14"/>
          <p:cNvSpPr txBox="1"/>
          <p:nvPr/>
        </p:nvSpPr>
        <p:spPr>
          <a:xfrm>
            <a:off x="4826000" y="1701800"/>
            <a:ext cx="3771900" cy="12827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보일러 급수를 임시 저장</a:t>
            </a:r>
          </a:p>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응축수와</a:t>
            </a:r>
            <a:r>
              <a:rPr lang="ko-KR" sz="1400" b="0" dirty="0">
                <a:solidFill>
                  <a:srgbClr val="262626"/>
                </a:solidFill>
                <a:latin typeface="Malgun Gothic"/>
                <a:ea typeface="Malgun Gothic"/>
                <a:cs typeface="Malgun Gothic"/>
              </a:rPr>
              <a:t> 보충수가 모인 뒤</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급수펌프를 통해 본체로 공급</a:t>
            </a:r>
          </a:p>
        </p:txBody>
      </p:sp>
      <p:sp>
        <p:nvSpPr>
          <p:cNvPr id="16" name="Rectangle 15"/>
          <p:cNvSpPr/>
          <p:nvPr/>
        </p:nvSpPr>
        <p:spPr>
          <a:xfrm>
            <a:off x="4660900" y="3378200"/>
            <a:ext cx="4102100" cy="2108200"/>
          </a:xfrm>
          <a:prstGeom prst="rect">
            <a:avLst/>
          </a:prstGeom>
          <a:solidFill>
            <a:srgbClr val="FFFFFF"/>
          </a:solidFill>
          <a:ln w="7620">
            <a:solidFill>
              <a:srgbClr val="DEE3E8"/>
            </a:solidFill>
          </a:ln>
          <a:effectLst/>
        </p:spPr>
        <p:txBody>
          <a:bodyPr rtlCol="0" anchor="ctr"/>
          <a:lstStyle/>
          <a:p>
            <a:pPr algn="ctr"/>
            <a:endParaRPr/>
          </a:p>
        </p:txBody>
      </p:sp>
      <p:sp>
        <p:nvSpPr>
          <p:cNvPr id="17" name="Rectangle 16"/>
          <p:cNvSpPr/>
          <p:nvPr/>
        </p:nvSpPr>
        <p:spPr>
          <a:xfrm>
            <a:off x="4660900" y="3378200"/>
            <a:ext cx="30273" cy="21082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4826000" y="3530600"/>
            <a:ext cx="37719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err="1">
                <a:solidFill>
                  <a:srgbClr val="1F497D"/>
                </a:solidFill>
                <a:latin typeface="Malgun Gothic"/>
                <a:ea typeface="Malgun Gothic"/>
                <a:cs typeface="Malgun Gothic"/>
              </a:rPr>
              <a:t>탈기기</a:t>
            </a:r>
            <a:endParaRPr lang="ko-KR" sz="1700" b="1" dirty="0">
              <a:solidFill>
                <a:srgbClr val="1F497D"/>
              </a:solidFill>
              <a:latin typeface="Malgun Gothic"/>
              <a:ea typeface="Malgun Gothic"/>
              <a:cs typeface="Malgun Gothic"/>
            </a:endParaRPr>
          </a:p>
        </p:txBody>
      </p:sp>
      <p:sp>
        <p:nvSpPr>
          <p:cNvPr id="19" name="TextBox 18"/>
          <p:cNvSpPr txBox="1"/>
          <p:nvPr/>
        </p:nvSpPr>
        <p:spPr>
          <a:xfrm>
            <a:off x="4826000" y="4013200"/>
            <a:ext cx="3771900" cy="12827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급수의 </a:t>
            </a:r>
            <a:r>
              <a:rPr lang="ko-KR" sz="1400" b="0" dirty="0" err="1">
                <a:solidFill>
                  <a:srgbClr val="262626"/>
                </a:solidFill>
                <a:latin typeface="Malgun Gothic"/>
                <a:ea typeface="Malgun Gothic"/>
                <a:cs typeface="Malgun Gothic"/>
              </a:rPr>
              <a:t>용존산소</a:t>
            </a:r>
            <a:r>
              <a:rPr lang="ko-KR" sz="1400" b="0" dirty="0">
                <a:solidFill>
                  <a:srgbClr val="262626"/>
                </a:solidFill>
                <a:latin typeface="Malgun Gothic"/>
                <a:ea typeface="Malgun Gothic"/>
                <a:cs typeface="Malgun Gothic"/>
              </a:rPr>
              <a:t>(</a:t>
            </a:r>
            <a:r>
              <a:rPr lang="ko-KR" sz="1400" b="0" dirty="0" err="1">
                <a:solidFill>
                  <a:srgbClr val="262626"/>
                </a:solidFill>
                <a:latin typeface="Malgun Gothic"/>
                <a:ea typeface="Malgun Gothic"/>
                <a:cs typeface="Malgun Gothic"/>
              </a:rPr>
              <a:t>O</a:t>
            </a:r>
            <a:r>
              <a:rPr lang="ko-KR" sz="1400" b="0" dirty="0">
                <a:solidFill>
                  <a:srgbClr val="262626"/>
                </a:solidFill>
                <a:latin typeface="Malgun Gothic"/>
                <a:ea typeface="Malgun Gothic"/>
                <a:cs typeface="Malgun Gothic"/>
              </a:rPr>
              <a:t>₂)와</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이산화탄소(CO₂)</a:t>
            </a:r>
            <a:r>
              <a:rPr lang="ko-KR" sz="1400" b="0" dirty="0" err="1">
                <a:solidFill>
                  <a:srgbClr val="262626"/>
                </a:solidFill>
                <a:latin typeface="Malgun Gothic"/>
                <a:ea typeface="Malgun Gothic"/>
                <a:cs typeface="Malgun Gothic"/>
              </a:rPr>
              <a:t>를</a:t>
            </a:r>
            <a:r>
              <a:rPr lang="ko-KR" sz="1400" b="0" dirty="0">
                <a:solidFill>
                  <a:srgbClr val="262626"/>
                </a:solidFill>
                <a:latin typeface="Malgun Gothic"/>
                <a:ea typeface="Malgun Gothic"/>
                <a:cs typeface="Malgun Gothic"/>
              </a:rPr>
              <a:t> 제거하여</a:t>
            </a:r>
          </a:p>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보일러·배관의</a:t>
            </a:r>
            <a:r>
              <a:rPr 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산화부식</a:t>
            </a:r>
            <a:r>
              <a:rPr lang="ko-KR" sz="1400" b="0" dirty="0">
                <a:solidFill>
                  <a:srgbClr val="262626"/>
                </a:solidFill>
                <a:latin typeface="Malgun Gothic"/>
                <a:ea typeface="Malgun Gothic"/>
                <a:cs typeface="Malgun Gothic"/>
              </a:rPr>
              <a:t> 방지</a:t>
            </a:r>
          </a:p>
        </p:txBody>
      </p:sp>
      <p:sp>
        <p:nvSpPr>
          <p:cNvPr id="20" name="TextBox 19"/>
          <p:cNvSpPr txBox="1"/>
          <p:nvPr/>
        </p:nvSpPr>
        <p:spPr>
          <a:xfrm>
            <a:off x="381000" y="37338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통합 구성과 탈기 방식</a:t>
            </a:r>
          </a:p>
        </p:txBody>
      </p:sp>
      <p:sp>
        <p:nvSpPr>
          <p:cNvPr id="21" name="TextBox 20"/>
          <p:cNvSpPr txBox="1"/>
          <p:nvPr/>
        </p:nvSpPr>
        <p:spPr>
          <a:xfrm>
            <a:off x="381000" y="4241800"/>
            <a:ext cx="4102100" cy="16510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두 설비는 </a:t>
            </a:r>
            <a:r>
              <a:rPr lang="ko-KR" sz="1400" b="0" dirty="0" err="1">
                <a:solidFill>
                  <a:srgbClr val="262626"/>
                </a:solidFill>
                <a:latin typeface="Malgun Gothic"/>
                <a:ea typeface="Malgun Gothic"/>
                <a:cs typeface="Malgun Gothic"/>
              </a:rPr>
              <a:t>탈기기</a:t>
            </a:r>
            <a:r>
              <a:rPr lang="ko-KR" sz="1400" b="0" dirty="0">
                <a:solidFill>
                  <a:srgbClr val="262626"/>
                </a:solidFill>
                <a:latin typeface="Malgun Gothic"/>
                <a:ea typeface="Malgun Gothic"/>
                <a:cs typeface="Malgun Gothic"/>
              </a:rPr>
              <a:t> 부착 급수탱크 형태로 결합</a:t>
            </a:r>
          </a:p>
          <a:p>
            <a:pPr algn="l" eaLnBrk="0" latinLnBrk="0">
              <a:lnSpc>
                <a:spcPct val="115000"/>
              </a:lnSpc>
              <a:spcBef>
                <a:spcPts val="0"/>
              </a:spcBef>
              <a:spcAft>
                <a:spcPts val="0"/>
              </a:spcAft>
              <a:defRPr sz="1400">
                <a:latin typeface="Malgun Gothic"/>
              </a:defRPr>
            </a:pPr>
            <a:endParaRPr lang="en-US" altLang="ko-KR" sz="14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보통 탱크 상부의 타워에 증기를 공급해</a:t>
            </a:r>
          </a:p>
          <a:p>
            <a:pPr algn="l"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물을 가열하고 분리된 기체를 외부로 배출</a:t>
            </a:r>
          </a:p>
        </p:txBody>
      </p:sp>
      <p:sp>
        <p:nvSpPr>
          <p:cNvPr id="22" name="TextBox 21"/>
          <p:cNvSpPr txBox="1"/>
          <p:nvPr/>
        </p:nvSpPr>
        <p:spPr>
          <a:xfrm>
            <a:off x="1270000" y="6565900"/>
            <a:ext cx="6731000" cy="203200"/>
          </a:xfrm>
          <a:prstGeom prst="rect">
            <a:avLst/>
          </a:prstGeom>
          <a:noFill/>
        </p:spPr>
        <p:txBody>
          <a:bodyPr wrap="square" lIns="0" tIns="0" rIns="0" bIns="0" anchor="t">
            <a:noAutofit/>
          </a:bodyPr>
          <a:lstStyle/>
          <a:p>
            <a:pPr algn="l" eaLnBrk="0" latinLnBrk="0">
              <a:lnSpc>
                <a:spcPct val="115000"/>
              </a:lnSpc>
              <a:spcBef>
                <a:spcPts val="0"/>
              </a:spcBef>
              <a:spcAft>
                <a:spcPts val="0"/>
              </a:spcAft>
              <a:defRPr sz="1000">
                <a:latin typeface="Malgun Gothic"/>
              </a:defRPr>
            </a:pPr>
            <a:r>
              <a:rPr lang="ko-KR" sz="1000" b="0" i="1" u="none">
                <a:solidFill>
                  <a:srgbClr val="707B87"/>
                </a:solidFill>
                <a:latin typeface="Malgun Gothic"/>
                <a:ea typeface="Malgun Gothic"/>
                <a:cs typeface="Malgun Gothic"/>
                <a:hlinkClick r:id="rId5"/>
              </a:rPr>
              <a:t>출처: https://www.youtube.com/watch?v=bzaoIhKtXHw (Industrial Electric Boiler 3D Animation)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급수펌프 · 역할과 운전 방식</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19</a:t>
            </a:r>
          </a:p>
        </p:txBody>
      </p:sp>
      <p:sp>
        <p:nvSpPr>
          <p:cNvPr id="19"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1_0.jpeg"/>
          <p:cNvPicPr>
            <a:picLocks noChangeAspect="1"/>
          </p:cNvPicPr>
          <p:nvPr/>
        </p:nvPicPr>
        <p:blipFill>
          <a:blip r:embed="rId4"/>
          <a:stretch>
            <a:fillRect/>
          </a:stretch>
        </p:blipFill>
        <p:spPr>
          <a:xfrm>
            <a:off x="381000" y="1083288"/>
            <a:ext cx="4102100" cy="2278422"/>
          </a:xfrm>
          <a:prstGeom prst="rect">
            <a:avLst/>
          </a:prstGeom>
          <a:effectLst/>
        </p:spPr>
      </p:pic>
      <p:sp>
        <p:nvSpPr>
          <p:cNvPr id="12" name="TextBox 11"/>
          <p:cNvSpPr txBox="1"/>
          <p:nvPr/>
        </p:nvSpPr>
        <p:spPr>
          <a:xfrm>
            <a:off x="4660900" y="1066800"/>
            <a:ext cx="4102100" cy="3683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b="1" dirty="0" err="1" sz="1800">
                <a:solidFill>
                  <a:srgbClr val="1F497D"/>
                </a:solidFill>
                <a:latin typeface="Malgun Gothic"/>
                <a:ea typeface="Malgun Gothic"/>
                <a:cs typeface="Malgun Gothic"/>
              </a:rPr>
              <a:t>토출압력</a:t>
            </a:r>
            <a:r>
              <a:rPr lang="ko-KR" b="1" dirty="0" sz="1800">
                <a:solidFill>
                  <a:srgbClr val="1F497D"/>
                </a:solidFill>
                <a:latin typeface="Malgun Gothic"/>
                <a:ea typeface="Malgun Gothic"/>
                <a:cs typeface="Malgun Gothic"/>
              </a:rPr>
              <a:t> &gt; 보일러 내부압력</a:t>
            </a:r>
          </a:p>
        </p:txBody>
      </p:sp>
      <p:sp>
        <p:nvSpPr>
          <p:cNvPr id="13" name="TextBox 12"/>
          <p:cNvSpPr txBox="1"/>
          <p:nvPr/>
        </p:nvSpPr>
        <p:spPr>
          <a:xfrm>
            <a:off x="4660900" y="1562100"/>
            <a:ext cx="4102100" cy="18161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급수탱크·탈기기의</a:t>
            </a:r>
            <a:r>
              <a:rPr lang="ko-KR" sz="1400" b="0" dirty="0">
                <a:solidFill>
                  <a:srgbClr val="262626"/>
                </a:solidFill>
                <a:latin typeface="Malgun Gothic"/>
                <a:ea typeface="Malgun Gothic"/>
                <a:cs typeface="Malgun Gothic"/>
              </a:rPr>
              <a:t> 물을 </a:t>
            </a:r>
            <a:r>
              <a:rPr lang="ko-KR" sz="1400" b="0" dirty="0" err="1">
                <a:solidFill>
                  <a:srgbClr val="262626"/>
                </a:solidFill>
                <a:latin typeface="Malgun Gothic"/>
                <a:ea typeface="Malgun Gothic"/>
                <a:cs typeface="Malgun Gothic"/>
              </a:rPr>
              <a:t>고온·고압</a:t>
            </a:r>
            <a:r>
              <a:rPr lang="ko-KR" sz="1400" b="0" dirty="0">
                <a:solidFill>
                  <a:srgbClr val="262626"/>
                </a:solidFill>
                <a:latin typeface="Malgun Gothic"/>
                <a:ea typeface="Malgun Gothic"/>
                <a:cs typeface="Malgun Gothic"/>
              </a:rPr>
              <a:t> 보일러로 공급</a:t>
            </a: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증발한 양을 보충하여 수위와 안전을 유지하고,</a:t>
            </a:r>
          </a:p>
          <a:p>
            <a:pPr algn="l"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 </a:t>
            </a:r>
            <a:r>
              <a:rPr lang="ko-KR" sz="1400" b="0" dirty="0">
                <a:solidFill>
                  <a:srgbClr val="262626"/>
                </a:solidFill>
                <a:latin typeface="Malgun Gothic"/>
                <a:ea typeface="Malgun Gothic"/>
                <a:cs typeface="Malgun Gothic"/>
              </a:rPr>
              <a:t>배압을 극복해 </a:t>
            </a:r>
            <a:r>
              <a:rPr lang="ko-KR" sz="1400" b="0" dirty="0" err="1">
                <a:solidFill>
                  <a:srgbClr val="262626"/>
                </a:solidFill>
                <a:latin typeface="Malgun Gothic"/>
                <a:ea typeface="Malgun Gothic"/>
                <a:cs typeface="Malgun Gothic"/>
              </a:rPr>
              <a:t>공가열</a:t>
            </a:r>
            <a:r>
              <a:rPr lang="ko-KR" sz="1400" b="0" dirty="0">
                <a:solidFill>
                  <a:srgbClr val="262626"/>
                </a:solidFill>
                <a:latin typeface="Malgun Gothic"/>
                <a:ea typeface="Malgun Gothic"/>
                <a:cs typeface="Malgun Gothic"/>
              </a:rPr>
              <a:t>(</a:t>
            </a:r>
            <a:r>
              <a:rPr lang="ko-KR" sz="1400" b="0" dirty="0" err="1">
                <a:solidFill>
                  <a:srgbClr val="262626"/>
                </a:solidFill>
                <a:latin typeface="Malgun Gothic"/>
                <a:ea typeface="Malgun Gothic"/>
                <a:cs typeface="Malgun Gothic"/>
              </a:rPr>
              <a:t>Dry</a:t>
            </a:r>
            <a:r>
              <a:rPr 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Firing</a:t>
            </a:r>
            <a:r>
              <a:rPr lang="ko-KR" sz="1400" b="0" dirty="0">
                <a:solidFill>
                  <a:srgbClr val="262626"/>
                </a:solidFill>
                <a:latin typeface="Malgun Gothic"/>
                <a:ea typeface="Malgun Gothic"/>
                <a:cs typeface="Malgun Gothic"/>
              </a:rPr>
              <a:t>)·</a:t>
            </a:r>
            <a:r>
              <a:rPr lang="ko-KR" sz="1400" b="0" dirty="0" err="1">
                <a:solidFill>
                  <a:srgbClr val="262626"/>
                </a:solidFill>
                <a:latin typeface="Malgun Gothic"/>
                <a:ea typeface="Malgun Gothic"/>
                <a:cs typeface="Malgun Gothic"/>
              </a:rPr>
              <a:t>과열·파손을</a:t>
            </a:r>
            <a:r>
              <a:rPr lang="ko-KR" sz="1400" b="0" dirty="0">
                <a:solidFill>
                  <a:srgbClr val="262626"/>
                </a:solidFill>
                <a:latin typeface="Malgun Gothic"/>
                <a:ea typeface="Malgun Gothic"/>
                <a:cs typeface="Malgun Gothic"/>
              </a:rPr>
              <a:t> 방지</a:t>
            </a: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경우에 따라 </a:t>
            </a:r>
            <a:r>
              <a:rPr lang="ko-KR" sz="1400" b="0" dirty="0" err="1">
                <a:solidFill>
                  <a:srgbClr val="262626"/>
                </a:solidFill>
                <a:latin typeface="Malgun Gothic"/>
                <a:ea typeface="Malgun Gothic"/>
                <a:cs typeface="Malgun Gothic"/>
              </a:rPr>
              <a:t>수십~수백</a:t>
            </a:r>
            <a:r>
              <a:rPr 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bar</a:t>
            </a:r>
            <a:r>
              <a:rPr lang="ko-KR" sz="1400" b="0" dirty="0">
                <a:solidFill>
                  <a:srgbClr val="262626"/>
                </a:solidFill>
                <a:latin typeface="Malgun Gothic"/>
                <a:ea typeface="Malgun Gothic"/>
                <a:cs typeface="Malgun Gothic"/>
              </a:rPr>
              <a:t> 이상의 압력 형성</a:t>
            </a:r>
          </a:p>
        </p:txBody>
      </p:sp>
      <p:graphicFrame>
        <p:nvGraphicFramePr>
          <p:cNvPr id="14" name="Table 13"/>
          <p:cNvGraphicFramePr>
            <a:graphicFrameLocks noGrp="1"/>
          </p:cNvGraphicFramePr>
          <p:nvPr>
            <p:extLst>
              <p:ext uri="{D42A27DB-BD31-4B8C-83A1-F6EECF244321}">
                <p14:modId xmlns:p14="http://schemas.microsoft.com/office/powerpoint/2010/main" val="1259213877"/>
              </p:ext>
            </p:extLst>
          </p:nvPr>
        </p:nvGraphicFramePr>
        <p:xfrm>
          <a:off x="381000" y="3606800"/>
          <a:ext cx="8382000" cy="1651000"/>
        </p:xfrm>
        <a:graphic>
          <a:graphicData uri="http://schemas.openxmlformats.org/drawingml/2006/table">
            <a:tbl>
              <a:tblPr>
                <a:tableStyleId>{5C22544A-7EE6-4342-B048-85BDC9FD1C3A}</a:tableStyleId>
              </a:tblPr>
              <a:tblGrid>
                <a:gridCol w="1778000">
                  <a:extLst>
                    <a:ext uri="{9D8B030D-6E8A-4147-A177-3AD203B41FA5}">
                      <a16:colId xmlns:a16="http://schemas.microsoft.com/office/drawing/2014/main" val="20000"/>
                    </a:ext>
                  </a:extLst>
                </a:gridCol>
                <a:gridCol w="6604000">
                  <a:extLst>
                    <a:ext uri="{9D8B030D-6E8A-4147-A177-3AD203B41FA5}">
                      <a16:colId xmlns:a16="http://schemas.microsoft.com/office/drawing/2014/main" val="20001"/>
                    </a:ext>
                  </a:extLst>
                </a:gridCol>
              </a:tblGrid>
              <a:tr h="330200">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펌프 종류</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특성·적용</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30200">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다단 원심펌프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여러 </a:t>
                      </a:r>
                      <a:r>
                        <a:rPr lang="ko-KR" sz="1250" b="0" dirty="0" err="1">
                          <a:solidFill>
                            <a:srgbClr val="262626"/>
                          </a:solidFill>
                          <a:latin typeface="Malgun Gothic"/>
                          <a:ea typeface="Malgun Gothic"/>
                          <a:cs typeface="Malgun Gothic"/>
                        </a:rPr>
                        <a:t>임펠러를</a:t>
                      </a:r>
                      <a:r>
                        <a:rPr lang="ko-KR" sz="1250" b="0" dirty="0">
                          <a:solidFill>
                            <a:srgbClr val="262626"/>
                          </a:solidFill>
                          <a:latin typeface="Malgun Gothic"/>
                          <a:ea typeface="Malgun Gothic"/>
                          <a:cs typeface="Malgun Gothic"/>
                        </a:rPr>
                        <a:t> 직렬 연결 → 단계적으로 </a:t>
                      </a:r>
                      <a:r>
                        <a:rPr lang="ko-KR" sz="1250" b="0" dirty="0" err="1">
                          <a:solidFill>
                            <a:srgbClr val="262626"/>
                          </a:solidFill>
                          <a:latin typeface="Malgun Gothic"/>
                          <a:ea typeface="Malgun Gothic"/>
                          <a:cs typeface="Malgun Gothic"/>
                        </a:rPr>
                        <a:t>승압</a:t>
                      </a:r>
                      <a:r>
                        <a:rPr lang="ko-KR" altLang="ko-KR" sz="1250" b="0" dirty="0">
                          <a:solidFill>
                            <a:srgbClr val="262626"/>
                          </a:solidFill>
                          <a:latin typeface="Malgun Gothic"/>
                          <a:ea typeface="Malgun Gothic"/>
                          <a:cs typeface="Malgun Gothic"/>
                        </a:rPr>
                        <a:t> /</a:t>
                      </a:r>
                      <a:r>
                        <a:rPr lang="ko-KR" sz="1250" b="0" dirty="0">
                          <a:solidFill>
                            <a:srgbClr val="262626"/>
                          </a:solidFill>
                          <a:latin typeface="Malgun Gothic"/>
                          <a:ea typeface="Malgun Gothic"/>
                          <a:cs typeface="Malgun Gothic"/>
                        </a:rPr>
                        <a:t> 산업용에서 주로 사용</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수평형</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err="1">
                          <a:solidFill>
                            <a:srgbClr val="262626"/>
                          </a:solidFill>
                          <a:latin typeface="Malgun Gothic"/>
                          <a:ea typeface="Malgun Gothic"/>
                          <a:cs typeface="Malgun Gothic"/>
                        </a:rPr>
                        <a:t>대용량·고온·고압</a:t>
                      </a:r>
                      <a:r>
                        <a:rPr lang="ko-KR" sz="1250" b="0" dirty="0">
                          <a:solidFill>
                            <a:srgbClr val="262626"/>
                          </a:solidFill>
                          <a:latin typeface="Malgun Gothic"/>
                          <a:ea typeface="Malgun Gothic"/>
                          <a:cs typeface="Malgun Gothic"/>
                        </a:rPr>
                        <a:t>, 유지보수 용이 / 설치면적이 큼</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수직형</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좁은 설치면적에 유리 / </a:t>
                      </a:r>
                      <a:r>
                        <a:rPr lang="ko-KR" sz="1250" b="0" dirty="0" err="1">
                          <a:solidFill>
                            <a:srgbClr val="262626"/>
                          </a:solidFill>
                          <a:latin typeface="Malgun Gothic"/>
                          <a:ea typeface="Malgun Gothic"/>
                          <a:cs typeface="Malgun Gothic"/>
                        </a:rPr>
                        <a:t>소형~중형</a:t>
                      </a:r>
                      <a:r>
                        <a:rPr lang="ko-KR" sz="1250" b="0" dirty="0">
                          <a:solidFill>
                            <a:srgbClr val="262626"/>
                          </a:solidFill>
                          <a:latin typeface="Malgun Gothic"/>
                          <a:ea typeface="Malgun Gothic"/>
                          <a:cs typeface="Malgun Gothic"/>
                        </a:rPr>
                        <a:t> 패키지</a:t>
                      </a:r>
                      <a:r>
                        <a:rPr lang="ko-KR" altLang="en-US" sz="1250" b="0" dirty="0">
                          <a:solidFill>
                            <a:srgbClr val="262626"/>
                          </a:solidFill>
                          <a:latin typeface="Malgun Gothic"/>
                          <a:ea typeface="Malgun Gothic"/>
                          <a:cs typeface="Malgun Gothic"/>
                        </a:rPr>
                        <a:t>에</a:t>
                      </a:r>
                      <a:r>
                        <a:rPr lang="ko-KR" altLang="ko-KR" sz="1250" b="0" dirty="0">
                          <a:solidFill>
                            <a:srgbClr val="262626"/>
                          </a:solidFill>
                          <a:latin typeface="Malgun Gothic"/>
                          <a:ea typeface="Malgun Gothic"/>
                          <a:cs typeface="Malgun Gothic"/>
                        </a:rPr>
                        <a:t> </a:t>
                      </a:r>
                      <a:r>
                        <a:rPr lang="ko-KR" altLang="en-US" sz="1250" b="0" dirty="0">
                          <a:solidFill>
                            <a:srgbClr val="262626"/>
                          </a:solidFill>
                          <a:latin typeface="Malgun Gothic"/>
                          <a:ea typeface="Malgun Gothic"/>
                          <a:cs typeface="Malgun Gothic"/>
                        </a:rPr>
                        <a:t>자주 쓰임</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용적식·왕복동</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err="1">
                          <a:solidFill>
                            <a:srgbClr val="262626"/>
                          </a:solidFill>
                          <a:latin typeface="Malgun Gothic"/>
                          <a:ea typeface="Malgun Gothic"/>
                          <a:cs typeface="Malgun Gothic"/>
                        </a:rPr>
                        <a:t>피스톤·플런저로</a:t>
                      </a:r>
                      <a:r>
                        <a:rPr lang="ko-KR" sz="1250" b="0" dirty="0">
                          <a:solidFill>
                            <a:srgbClr val="262626"/>
                          </a:solidFill>
                          <a:latin typeface="Malgun Gothic"/>
                          <a:ea typeface="Malgun Gothic"/>
                          <a:cs typeface="Malgun Gothic"/>
                        </a:rPr>
                        <a:t> </a:t>
                      </a:r>
                      <a:r>
                        <a:rPr lang="ko-KR" sz="1250" b="0" dirty="0" err="1">
                          <a:solidFill>
                            <a:srgbClr val="262626"/>
                          </a:solidFill>
                          <a:latin typeface="Malgun Gothic"/>
                          <a:ea typeface="Malgun Gothic"/>
                          <a:cs typeface="Malgun Gothic"/>
                        </a:rPr>
                        <a:t>토출</a:t>
                      </a:r>
                      <a:r>
                        <a:rPr lang="ko-KR" sz="1250" b="0" dirty="0">
                          <a:solidFill>
                            <a:srgbClr val="262626"/>
                          </a:solidFill>
                          <a:latin typeface="Malgun Gothic"/>
                          <a:ea typeface="Malgun Gothic"/>
                          <a:cs typeface="Malgun Gothic"/>
                        </a:rPr>
                        <a:t> / </a:t>
                      </a:r>
                      <a:r>
                        <a:rPr lang="ko-KR" sz="1250" b="0" dirty="0" err="1">
                          <a:solidFill>
                            <a:srgbClr val="262626"/>
                          </a:solidFill>
                          <a:latin typeface="Malgun Gothic"/>
                          <a:ea typeface="Malgun Gothic"/>
                          <a:cs typeface="Malgun Gothic"/>
                        </a:rPr>
                        <a:t>소유량·초고압·정밀</a:t>
                      </a:r>
                      <a:r>
                        <a:rPr lang="ko-KR" sz="1250" b="0" dirty="0">
                          <a:solidFill>
                            <a:srgbClr val="262626"/>
                          </a:solidFill>
                          <a:latin typeface="Malgun Gothic"/>
                          <a:ea typeface="Malgun Gothic"/>
                          <a:cs typeface="Malgun Gothic"/>
                        </a:rPr>
                        <a:t> 유량 특수공정</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381000" y="54356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On/Off · 단순 수위 제어</a:t>
            </a:r>
          </a:p>
        </p:txBody>
      </p:sp>
      <p:sp>
        <p:nvSpPr>
          <p:cNvPr id="16" name="TextBox 15"/>
          <p:cNvSpPr txBox="1"/>
          <p:nvPr/>
        </p:nvSpPr>
        <p:spPr>
          <a:xfrm>
            <a:off x="381000" y="5880100"/>
            <a:ext cx="4102100" cy="4572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350">
                <a:latin typeface="Malgun Gothic"/>
              </a:defRPr>
            </a:pPr>
            <a:r>
              <a:rPr lang="ko-KR" alt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플로트에</a:t>
            </a:r>
            <a:r>
              <a:rPr lang="ko-KR" sz="1350" b="0" dirty="0">
                <a:solidFill>
                  <a:srgbClr val="262626"/>
                </a:solidFill>
                <a:latin typeface="Malgun Gothic"/>
                <a:ea typeface="Malgun Gothic"/>
                <a:cs typeface="Malgun Gothic"/>
              </a:rPr>
              <a:t> 따라 </a:t>
            </a:r>
            <a:r>
              <a:rPr lang="ko-KR" sz="1350" b="0" dirty="0" err="1">
                <a:solidFill>
                  <a:srgbClr val="262626"/>
                </a:solidFill>
                <a:latin typeface="Malgun Gothic"/>
                <a:ea typeface="Malgun Gothic"/>
                <a:cs typeface="Malgun Gothic"/>
              </a:rPr>
              <a:t>기동·정지</a:t>
            </a:r>
            <a:r>
              <a:rPr lang="ko-KR" sz="1350" b="0" dirty="0">
                <a:solidFill>
                  <a:srgbClr val="262626"/>
                </a:solidFill>
                <a:latin typeface="Malgun Gothic"/>
                <a:ea typeface="Malgun Gothic"/>
                <a:cs typeface="Malgun Gothic"/>
              </a:rPr>
              <a:t> </a:t>
            </a:r>
            <a:endParaRPr lang="en-US" altLang="ko-KR" sz="12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350">
                <a:latin typeface="Malgun Gothic"/>
              </a:defRPr>
            </a:pPr>
            <a:r>
              <a:rPr lang="ko-KR" alt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단순·저렴하나</a:t>
            </a:r>
            <a:r>
              <a:rPr lang="ko-KR"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찬물 유입의 열충격과 잦은 기동이 부담</a:t>
            </a:r>
          </a:p>
        </p:txBody>
      </p:sp>
      <p:sp>
        <p:nvSpPr>
          <p:cNvPr id="17" name="TextBox 16"/>
          <p:cNvSpPr txBox="1"/>
          <p:nvPr/>
        </p:nvSpPr>
        <p:spPr>
          <a:xfrm>
            <a:off x="4660900" y="54356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err="1">
                <a:solidFill>
                  <a:srgbClr val="1F497D"/>
                </a:solidFill>
                <a:latin typeface="Malgun Gothic"/>
                <a:ea typeface="Malgun Gothic"/>
                <a:cs typeface="Malgun Gothic"/>
              </a:rPr>
              <a:t>비례·변속</a:t>
            </a:r>
            <a:r>
              <a:rPr lang="ko-KR" sz="1800" b="1" dirty="0">
                <a:solidFill>
                  <a:srgbClr val="1F497D"/>
                </a:solidFill>
                <a:latin typeface="Malgun Gothic"/>
                <a:ea typeface="Malgun Gothic"/>
                <a:cs typeface="Malgun Gothic"/>
              </a:rPr>
              <a:t> 제어</a:t>
            </a:r>
            <a:r>
              <a:rPr lang="ko-KR" altLang="ko-KR" sz="1800" b="1" dirty="0">
                <a:solidFill>
                  <a:srgbClr val="1F497D"/>
                </a:solidFill>
                <a:latin typeface="Malgun Gothic"/>
                <a:ea typeface="Malgun Gothic"/>
                <a:cs typeface="Malgun Gothic"/>
              </a:rPr>
              <a:t>(</a:t>
            </a:r>
            <a:r>
              <a:rPr lang="ko-KR" sz="1800" b="1" dirty="0">
                <a:solidFill>
                  <a:srgbClr val="1F497D"/>
                </a:solidFill>
                <a:latin typeface="Malgun Gothic"/>
                <a:ea typeface="Malgun Gothic"/>
                <a:cs typeface="Malgun Gothic"/>
              </a:rPr>
              <a:t>VFD</a:t>
            </a:r>
            <a:r>
              <a:rPr lang="ko-KR" altLang="ko-KR" sz="1800" b="1" dirty="0">
                <a:solidFill>
                  <a:srgbClr val="1F497D"/>
                </a:solidFill>
                <a:latin typeface="Malgun Gothic"/>
                <a:ea typeface="Malgun Gothic"/>
                <a:cs typeface="Malgun Gothic"/>
              </a:rPr>
              <a:t>)</a:t>
            </a:r>
            <a:endParaRPr lang="ko-KR" sz="1500" b="1" dirty="0">
              <a:solidFill>
                <a:srgbClr val="1F497D"/>
              </a:solidFill>
              <a:latin typeface="Malgun Gothic"/>
              <a:ea typeface="Malgun Gothic"/>
              <a:cs typeface="Malgun Gothic"/>
            </a:endParaRPr>
          </a:p>
        </p:txBody>
      </p:sp>
      <p:sp>
        <p:nvSpPr>
          <p:cNvPr id="18" name="TextBox 17"/>
          <p:cNvSpPr txBox="1"/>
          <p:nvPr/>
        </p:nvSpPr>
        <p:spPr>
          <a:xfrm>
            <a:off x="4660900" y="5880100"/>
            <a:ext cx="4102100" cy="4572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증기 </a:t>
            </a:r>
            <a:r>
              <a:rPr lang="ko-KR" sz="1400" b="0" dirty="0" err="1">
                <a:solidFill>
                  <a:srgbClr val="262626"/>
                </a:solidFill>
                <a:latin typeface="Malgun Gothic"/>
                <a:ea typeface="Malgun Gothic"/>
                <a:cs typeface="Malgun Gothic"/>
              </a:rPr>
              <a:t>배출량·수위를</a:t>
            </a:r>
            <a:r>
              <a:rPr lang="ko-KR" sz="1400" b="0" dirty="0">
                <a:solidFill>
                  <a:srgbClr val="262626"/>
                </a:solidFill>
                <a:latin typeface="Malgun Gothic"/>
                <a:ea typeface="Malgun Gothic"/>
                <a:cs typeface="Malgun Gothic"/>
              </a:rPr>
              <a:t> 감지해 </a:t>
            </a:r>
            <a:r>
              <a:rPr lang="ko-KR" sz="1400" b="0" dirty="0" err="1">
                <a:solidFill>
                  <a:srgbClr val="262626"/>
                </a:solidFill>
                <a:latin typeface="Malgun Gothic"/>
                <a:ea typeface="Malgun Gothic"/>
                <a:cs typeface="Malgun Gothic"/>
              </a:rPr>
              <a:t>회전수</a:t>
            </a:r>
            <a:r>
              <a:rPr lang="ko-KR" sz="1400" b="0" dirty="0">
                <a:solidFill>
                  <a:srgbClr val="262626"/>
                </a:solidFill>
                <a:latin typeface="Malgun Gothic"/>
                <a:ea typeface="Malgun Gothic"/>
                <a:cs typeface="Malgun Gothic"/>
              </a:rPr>
              <a:t> 조절</a:t>
            </a: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연속·완만한</a:t>
            </a:r>
            <a:r>
              <a:rPr lang="ko-KR" sz="1400" b="0" dirty="0">
                <a:solidFill>
                  <a:srgbClr val="262626"/>
                </a:solidFill>
                <a:latin typeface="Malgun Gothic"/>
                <a:ea typeface="Malgun Gothic"/>
                <a:cs typeface="Malgun Gothic"/>
              </a:rPr>
              <a:t> 급수로 </a:t>
            </a:r>
            <a:r>
              <a:rPr lang="ko-KR" sz="1400" b="0" dirty="0" err="1">
                <a:solidFill>
                  <a:srgbClr val="262626"/>
                </a:solidFill>
                <a:latin typeface="Malgun Gothic"/>
                <a:ea typeface="Malgun Gothic"/>
                <a:cs typeface="Malgun Gothic"/>
              </a:rPr>
              <a:t>열효율·수명</a:t>
            </a:r>
            <a:r>
              <a:rPr lang="ko-KR" sz="1400" b="0" dirty="0">
                <a:solidFill>
                  <a:srgbClr val="262626"/>
                </a:solidFill>
                <a:latin typeface="Malgun Gothic"/>
                <a:ea typeface="Malgun Gothic"/>
                <a:cs typeface="Malgun Gothic"/>
              </a:rPr>
              <a:t> 개선.</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전기보일러 · 설비 외관</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20</a:t>
            </a:r>
          </a:p>
        </p:txBody>
      </p:sp>
      <p:sp>
        <p:nvSpPr>
          <p:cNvPr id="12" name="Image area"/>
          <p:cNvSpPr/>
          <p:nvPr/>
        </p:nvSpPr>
        <p:spPr>
          <a:xfrm>
            <a:off x="1092200" y="1066800"/>
            <a:ext cx="6959600" cy="3810000"/>
          </a:xfrm>
          <a:prstGeom prst="rect">
            <a:avLst/>
          </a:prstGeom>
          <a:solidFill>
            <a:srgbClr val="F5F6F8"/>
          </a:solidFill>
          <a:ln>
            <a:noFill/>
          </a:ln>
        </p:spPr>
        <p:txBody>
          <a:bodyPr rtlCol="0" anchor="ctr"/>
          <a:lstStyle/>
          <a:p>
            <a:pPr algn="ctr"/>
          </a:p>
        </p:txBody>
      </p:sp>
      <p:pic>
        <p:nvPicPr>
          <p:cNvPr id="11" name="Picture 10" descr="p22_0.jpeg"/>
          <p:cNvPicPr>
            <a:picLocks noChangeAspect="1"/>
          </p:cNvPicPr>
          <p:nvPr/>
        </p:nvPicPr>
        <p:blipFill>
          <a:blip r:embed="rId4"/>
          <a:stretch>
            <a:fillRect/>
          </a:stretch>
        </p:blipFill>
        <p:spPr>
          <a:xfrm>
            <a:off x="1119187" y="1066800"/>
            <a:ext cx="6905624" cy="3810000"/>
          </a:xfrm>
          <a:prstGeom prst="rect">
            <a:avLst/>
          </a:prstGeom>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순환펌프 · 계통 내부의 열 전달</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a:solidFill>
                  <a:srgbClr val="707B87"/>
                </a:solidFill>
                <a:latin typeface="Malgun Gothic"/>
                <a:ea typeface="Malgun Gothic"/>
                <a:cs typeface="Malgun Gothic"/>
              </a:rPr>
              <a:t>21</a:t>
            </a:r>
          </a:p>
        </p:txBody>
      </p:sp>
      <p:sp>
        <p:nvSpPr>
          <p:cNvPr id="15"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3_0.jpeg"/>
          <p:cNvPicPr>
            <a:picLocks noChangeAspect="1"/>
          </p:cNvPicPr>
          <p:nvPr/>
        </p:nvPicPr>
        <p:blipFill>
          <a:blip r:embed="rId4"/>
          <a:stretch>
            <a:fillRect/>
          </a:stretch>
        </p:blipFill>
        <p:spPr>
          <a:xfrm>
            <a:off x="381000" y="1093870"/>
            <a:ext cx="4102100" cy="2257259"/>
          </a:xfrm>
          <a:prstGeom prst="rect">
            <a:avLst/>
          </a:prstGeom>
          <a:effectLst/>
        </p:spPr>
      </p:pic>
      <p:sp>
        <p:nvSpPr>
          <p:cNvPr id="12" name="TextBox 11"/>
          <p:cNvSpPr txBox="1"/>
          <p:nvPr/>
        </p:nvSpPr>
        <p:spPr>
          <a:xfrm>
            <a:off x="4660900" y="1066800"/>
            <a:ext cx="4102100" cy="3683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기존 계통의 물을 계속 순환</a:t>
            </a:r>
          </a:p>
        </p:txBody>
      </p:sp>
      <p:sp>
        <p:nvSpPr>
          <p:cNvPr id="13" name="TextBox 12"/>
          <p:cNvSpPr txBox="1"/>
          <p:nvPr/>
        </p:nvSpPr>
        <p:spPr>
          <a:xfrm>
            <a:off x="4660900" y="1562100"/>
            <a:ext cx="4102100" cy="1816100"/>
          </a:xfrm>
          <a:prstGeom prst="rect">
            <a:avLst/>
          </a:prstGeom>
          <a:noFill/>
          <a:effectLst/>
        </p:spPr>
        <p:txBody>
          <a:bodyPr wrap="square" lIns="0" tIns="0" rIns="0" bIns="0" anchor="t">
            <a:noAutofit/>
          </a:bodyPr>
          <a:lstStyle/>
          <a:p>
            <a:pPr algn="just"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보일러·지역난방·HVAC</a:t>
            </a:r>
            <a:r>
              <a:rPr lang="ko-KR" sz="1400" b="0" dirty="0">
                <a:solidFill>
                  <a:srgbClr val="262626"/>
                </a:solidFill>
                <a:latin typeface="Malgun Gothic"/>
                <a:ea typeface="Malgun Gothic"/>
                <a:cs typeface="Malgun Gothic"/>
              </a:rPr>
              <a:t> 배관의 물이나</a:t>
            </a:r>
            <a:endParaRPr lang="en-US" altLang="ko-KR" sz="1450" dirty="0">
              <a:solidFill>
                <a:srgbClr val="262626"/>
              </a:solidFill>
              <a:latin typeface="Malgun Gothic"/>
              <a:ea typeface="Malgun Gothic"/>
              <a:cs typeface="Malgun Gothic"/>
            </a:endParaRPr>
          </a:p>
          <a:p>
            <a:pPr algn="just"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 </a:t>
            </a:r>
            <a:r>
              <a:rPr lang="ko-KR" sz="1400" b="0" dirty="0">
                <a:solidFill>
                  <a:srgbClr val="262626"/>
                </a:solidFill>
                <a:latin typeface="Malgun Gothic"/>
                <a:ea typeface="Malgun Gothic"/>
                <a:cs typeface="Malgun Gothic"/>
              </a:rPr>
              <a:t>열매체유를 강제로 순환시켜 필요한</a:t>
            </a:r>
          </a:p>
          <a:p>
            <a:pPr algn="just"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곳으로 열을 전달</a:t>
            </a:r>
          </a:p>
          <a:p>
            <a:pPr algn="just" eaLnBrk="0" latinLnBrk="0">
              <a:lnSpc>
                <a:spcPct val="115000"/>
              </a:lnSpc>
              <a:spcBef>
                <a:spcPts val="0"/>
              </a:spcBef>
              <a:spcAft>
                <a:spcPts val="0"/>
              </a:spcAft>
              <a:defRPr sz="1400">
                <a:latin typeface="Malgun Gothic"/>
              </a:defRPr>
            </a:pPr>
            <a:endParaRPr lang="ko-KR" sz="1450" b="0" dirty="0">
              <a:solidFill>
                <a:srgbClr val="262626"/>
              </a:solidFill>
              <a:latin typeface="Malgun Gothic"/>
              <a:ea typeface="Malgun Gothic"/>
              <a:cs typeface="Malgun Gothic"/>
            </a:endParaRPr>
          </a:p>
          <a:p>
            <a:pPr algn="just" eaLnBrk="0" latinLnBrk="0">
              <a:lnSpc>
                <a:spcPct val="115000"/>
              </a:lnSpc>
              <a:spcBef>
                <a:spcPts val="0"/>
              </a:spcBef>
              <a:spcAft>
                <a:spcPts val="0"/>
              </a:spcAft>
              <a:defRPr sz="1400">
                <a:latin typeface="Malgun Gothic"/>
              </a:defRPr>
            </a:pPr>
            <a:r>
              <a:rPr lang="ko-KR" altLang="ko-KR" sz="1400" dirty="0">
                <a:latin typeface="Malgun Gothic"/>
                <a:ea typeface="Malgun Gothic"/>
                <a:cs typeface="Malgun Gothic"/>
              </a:rPr>
              <a:t>-</a:t>
            </a:r>
            <a:r>
              <a:rPr lang="ko-KR" altLang="ko-KR" sz="1400" dirty="0">
                <a:solidFill>
                  <a:schemeClr val="bg1"/>
                </a:solidFill>
                <a:latin typeface="Malgun Gothic"/>
                <a:ea typeface="Malgun Gothic"/>
                <a:cs typeface="Malgun Gothic"/>
              </a:rPr>
              <a:t> </a:t>
            </a:r>
            <a:r>
              <a:rPr lang="ko-KR" sz="1400" b="0" dirty="0">
                <a:solidFill>
                  <a:srgbClr val="262626"/>
                </a:solidFill>
                <a:latin typeface="Malgun Gothic"/>
                <a:ea typeface="Malgun Gothic"/>
                <a:cs typeface="Malgun Gothic"/>
              </a:rPr>
              <a:t>급수펌프는 외부의 새 물을 공급하고,</a:t>
            </a:r>
          </a:p>
          <a:p>
            <a:pPr algn="just"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순환펌프는 이미 찬 물을 계속 순환.</a:t>
            </a:r>
          </a:p>
        </p:txBody>
      </p:sp>
      <p:graphicFrame>
        <p:nvGraphicFramePr>
          <p:cNvPr id="14" name="Table 13"/>
          <p:cNvGraphicFramePr>
            <a:graphicFrameLocks noGrp="1"/>
          </p:cNvGraphicFramePr>
          <p:nvPr/>
        </p:nvGraphicFramePr>
        <p:xfrm>
          <a:off x="381000" y="3733800"/>
          <a:ext cx="8382000" cy="2489200"/>
        </p:xfrm>
        <a:graphic>
          <a:graphicData uri="http://schemas.openxmlformats.org/drawingml/2006/table">
            <a:tbl>
              <a:tblPr>
                <a:tableStyleId>{5C22544A-7EE6-4342-B048-85BDC9FD1C3A}</a:tableStyleId>
              </a:tblPr>
              <a:tblGrid>
                <a:gridCol w="1270000">
                  <a:extLst>
                    <a:ext uri="{9D8B030D-6E8A-4147-A177-3AD203B41FA5}">
                      <a16:colId xmlns:a16="http://schemas.microsoft.com/office/drawing/2014/main" val="20000"/>
                    </a:ext>
                  </a:extLst>
                </a:gridCol>
                <a:gridCol w="3556000">
                  <a:extLst>
                    <a:ext uri="{9D8B030D-6E8A-4147-A177-3AD203B41FA5}">
                      <a16:colId xmlns:a16="http://schemas.microsoft.com/office/drawing/2014/main" val="20001"/>
                    </a:ext>
                  </a:extLst>
                </a:gridCol>
                <a:gridCol w="3556000">
                  <a:extLst>
                    <a:ext uri="{9D8B030D-6E8A-4147-A177-3AD203B41FA5}">
                      <a16:colId xmlns:a16="http://schemas.microsoft.com/office/drawing/2014/main" val="20002"/>
                    </a:ext>
                  </a:extLst>
                </a:gridCol>
              </a:tblGrid>
              <a:tr h="3556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구분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dirty="0">
                          <a:solidFill>
                            <a:srgbClr val="1F497D"/>
                          </a:solidFill>
                          <a:latin typeface="Malgun Gothic"/>
                          <a:ea typeface="Malgun Gothic"/>
                          <a:cs typeface="Malgun Gothic"/>
                        </a:rPr>
                        <a:t>급수</a:t>
                      </a:r>
                      <a:r>
                        <a:rPr lang="ko-KR" altLang="ko-KR" sz="1300" b="1" dirty="0">
                          <a:solidFill>
                            <a:srgbClr val="1F497D"/>
                          </a:solidFill>
                          <a:latin typeface="Malgun Gothic"/>
                          <a:ea typeface="Malgun Gothic"/>
                          <a:cs typeface="Malgun Gothic"/>
                        </a:rPr>
                        <a:t> </a:t>
                      </a:r>
                      <a:r>
                        <a:rPr lang="ko-KR" sz="1300" b="1" dirty="0">
                          <a:solidFill>
                            <a:srgbClr val="1F497D"/>
                          </a:solidFill>
                          <a:latin typeface="Malgun Gothic"/>
                          <a:ea typeface="Malgun Gothic"/>
                          <a:cs typeface="Malgun Gothic"/>
                        </a:rPr>
                        <a:t>펌프</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dirty="0">
                          <a:solidFill>
                            <a:srgbClr val="1F497D"/>
                          </a:solidFill>
                          <a:latin typeface="Malgun Gothic"/>
                          <a:ea typeface="Malgun Gothic"/>
                          <a:cs typeface="Malgun Gothic"/>
                        </a:rPr>
                        <a:t>순환</a:t>
                      </a:r>
                      <a:r>
                        <a:rPr lang="ko-KR" altLang="ko-KR" sz="1300" b="1" dirty="0">
                          <a:solidFill>
                            <a:srgbClr val="1F497D"/>
                          </a:solidFill>
                          <a:latin typeface="Malgun Gothic"/>
                          <a:ea typeface="Malgun Gothic"/>
                          <a:cs typeface="Malgun Gothic"/>
                        </a:rPr>
                        <a:t> </a:t>
                      </a:r>
                      <a:r>
                        <a:rPr lang="ko-KR" sz="1300" b="1" dirty="0">
                          <a:solidFill>
                            <a:srgbClr val="1F497D"/>
                          </a:solidFill>
                          <a:latin typeface="Malgun Gothic"/>
                          <a:ea typeface="Malgun Gothic"/>
                          <a:cs typeface="Malgun Gothic"/>
                        </a:rPr>
                        <a:t>펌프</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7112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주요 역할</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a:solidFill>
                            <a:srgbClr val="262626"/>
                          </a:solidFill>
                          <a:latin typeface="Malgun Gothic"/>
                          <a:ea typeface="Malgun Gothic"/>
                          <a:cs typeface="Malgun Gothic"/>
                        </a:rPr>
                        <a:t>외부의 물을 고압 보일러 내부로 주입</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a:solidFill>
                            <a:srgbClr val="262626"/>
                          </a:solidFill>
                          <a:latin typeface="Malgun Gothic"/>
                          <a:ea typeface="Malgun Gothic"/>
                          <a:cs typeface="Malgun Gothic"/>
                        </a:rPr>
                        <a:t>이미 가열된 물을 난방·배관으로 순환</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12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요구 압력</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a:solidFill>
                            <a:srgbClr val="262626"/>
                          </a:solidFill>
                          <a:latin typeface="Malgun Gothic"/>
                          <a:ea typeface="Malgun Gothic"/>
                          <a:cs typeface="Malgun Gothic"/>
                        </a:rPr>
                        <a:t>매우 높음 · 보일러 내부압력 극복</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a:solidFill>
                            <a:srgbClr val="262626"/>
                          </a:solidFill>
                          <a:latin typeface="Malgun Gothic"/>
                          <a:ea typeface="Malgun Gothic"/>
                          <a:cs typeface="Malgun Gothic"/>
                        </a:rPr>
                        <a:t>비교적 낮음 · 배관 마찰저항 극복</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12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운전 방식</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a:solidFill>
                            <a:srgbClr val="262626"/>
                          </a:solidFill>
                          <a:latin typeface="Malgun Gothic"/>
                          <a:ea typeface="Malgun Gothic"/>
                          <a:cs typeface="Malgun Gothic"/>
                        </a:rPr>
                        <a:t>수위에 따라 간헐</a:t>
                      </a:r>
                      <a:r>
                        <a:rPr lang="ko-KR" altLang="en-US" sz="1300" b="0" dirty="0">
                          <a:solidFill>
                            <a:srgbClr val="262626"/>
                          </a:solidFill>
                          <a:latin typeface="Malgun Gothic"/>
                          <a:ea typeface="Malgun Gothic"/>
                          <a:cs typeface="Malgun Gothic"/>
                        </a:rPr>
                        <a:t>적</a:t>
                      </a:r>
                      <a:r>
                        <a:rPr lang="ko-KR" sz="1300" b="0" dirty="0">
                          <a:solidFill>
                            <a:srgbClr val="262626"/>
                          </a:solidFill>
                          <a:latin typeface="Malgun Gothic"/>
                          <a:ea typeface="Malgun Gothic"/>
                          <a:cs typeface="Malgun Gothic"/>
                        </a:rPr>
                        <a:t> 또는 비례 운전</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a:solidFill>
                            <a:srgbClr val="262626"/>
                          </a:solidFill>
                          <a:latin typeface="Malgun Gothic"/>
                          <a:ea typeface="Malgun Gothic"/>
                          <a:cs typeface="Malgun Gothic"/>
                        </a:rPr>
                        <a:t>온도 유지를 위해 대개 연속 운전</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err="1">
                <a:solidFill>
                  <a:srgbClr val="1F497D"/>
                </a:solidFill>
                <a:latin typeface="Malgun Gothic"/>
                <a:ea typeface="Malgun Gothic"/>
                <a:cs typeface="Malgun Gothic"/>
              </a:rPr>
              <a:t>도징</a:t>
            </a:r>
            <a:r>
              <a:rPr lang="ko-KR" sz="2500" b="1" dirty="0">
                <a:solidFill>
                  <a:srgbClr val="1F497D"/>
                </a:solidFill>
                <a:latin typeface="Malgun Gothic"/>
                <a:ea typeface="Malgun Gothic"/>
                <a:cs typeface="Malgun Gothic"/>
              </a:rPr>
              <a:t> 스테이션 </a:t>
            </a:r>
            <a:r>
              <a:rPr lang="ko-KR" altLang="ko-KR" sz="2500" b="1" dirty="0">
                <a:solidFill>
                  <a:srgbClr val="1F497D"/>
                </a:solidFill>
                <a:latin typeface="Malgun Gothic"/>
                <a:ea typeface="Malgun Gothic"/>
                <a:cs typeface="Malgun Gothic"/>
              </a:rPr>
              <a:t>(</a:t>
            </a:r>
            <a:r>
              <a:rPr lang="ko-KR" sz="2500" b="1" dirty="0">
                <a:solidFill>
                  <a:srgbClr val="1F497D"/>
                </a:solidFill>
                <a:latin typeface="Malgun Gothic"/>
                <a:ea typeface="Malgun Gothic"/>
                <a:cs typeface="Malgun Gothic"/>
              </a:rPr>
              <a:t>정밀 약품 주입</a:t>
            </a:r>
            <a:r>
              <a:rPr lang="ko-KR" altLang="ko-KR" sz="2500" b="1" dirty="0">
                <a:solidFill>
                  <a:srgbClr val="1F497D"/>
                </a:solidFill>
                <a:latin typeface="Malgun Gothic"/>
                <a:ea typeface="Malgun Gothic"/>
                <a:cs typeface="Malgun Gothic"/>
              </a:rPr>
              <a:t>)</a:t>
            </a:r>
            <a:endParaRPr lang="ko-KR" sz="2500" b="1" dirty="0">
              <a:solidFill>
                <a:srgbClr val="1F497D"/>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22</a:t>
            </a:r>
          </a:p>
        </p:txBody>
      </p:sp>
      <p:sp>
        <p:nvSpPr>
          <p:cNvPr id="19"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4_0.jpeg"/>
          <p:cNvPicPr>
            <a:picLocks noChangeAspect="1"/>
          </p:cNvPicPr>
          <p:nvPr/>
        </p:nvPicPr>
        <p:blipFill>
          <a:blip r:embed="rId4"/>
          <a:stretch>
            <a:fillRect/>
          </a:stretch>
        </p:blipFill>
        <p:spPr>
          <a:xfrm>
            <a:off x="381000" y="1091565"/>
            <a:ext cx="4102100" cy="2261868"/>
          </a:xfrm>
          <a:prstGeom prst="rect">
            <a:avLst/>
          </a:prstGeom>
          <a:effectLst/>
        </p:spPr>
      </p:pic>
      <p:sp>
        <p:nvSpPr>
          <p:cNvPr id="14" name="TextBox 13"/>
          <p:cNvSpPr txBox="1"/>
          <p:nvPr/>
        </p:nvSpPr>
        <p:spPr>
          <a:xfrm>
            <a:off x="4660900" y="1066800"/>
            <a:ext cx="4102100" cy="3683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altLang="en-US" b="1" dirty="0" sz="1800">
                <a:solidFill>
                  <a:srgbClr val="1F497D"/>
                </a:solidFill>
                <a:latin typeface="Malgun Gothic"/>
                <a:ea typeface="Malgun Gothic"/>
                <a:cs typeface="Malgun Gothic"/>
              </a:rPr>
              <a:t>주요 특징</a:t>
            </a:r>
            <a:endParaRPr lang="ko-KR" b="1" dirty="0">
              <a:solidFill>
                <a:srgbClr val="1F497D"/>
              </a:solidFill>
              <a:latin typeface="Malgun Gothic"/>
              <a:ea typeface="Malgun Gothic"/>
              <a:cs typeface="Malgun Gothic"/>
            </a:endParaRPr>
          </a:p>
        </p:txBody>
      </p:sp>
      <p:sp>
        <p:nvSpPr>
          <p:cNvPr id="15" name="TextBox 14"/>
          <p:cNvSpPr txBox="1"/>
          <p:nvPr/>
        </p:nvSpPr>
        <p:spPr>
          <a:xfrm>
            <a:off x="4660900" y="1562100"/>
            <a:ext cx="4102100" cy="18161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화학약품·첨가제를</a:t>
            </a:r>
            <a:r>
              <a:rPr lang="ko-KR" sz="1400" b="0" dirty="0">
                <a:solidFill>
                  <a:srgbClr val="262626"/>
                </a:solidFill>
                <a:latin typeface="Malgun Gothic"/>
                <a:ea typeface="Malgun Gothic"/>
                <a:cs typeface="Malgun Gothic"/>
              </a:rPr>
              <a:t> 농도와 비율에 맞춰</a:t>
            </a:r>
          </a:p>
          <a:p>
            <a:pPr algn="l"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정확하고 지속적으로 공급하는 설비</a:t>
            </a: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계량</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펌프 + 저장탱크 + 컨트롤러 + 센서</a:t>
            </a: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유량·pH·농도</a:t>
            </a:r>
            <a:r>
              <a:rPr lang="ko-KR" sz="1400" b="0" dirty="0">
                <a:solidFill>
                  <a:srgbClr val="262626"/>
                </a:solidFill>
                <a:latin typeface="Malgun Gothic"/>
                <a:ea typeface="Malgun Gothic"/>
                <a:cs typeface="Malgun Gothic"/>
              </a:rPr>
              <a:t> 감지로 투입량 자동 조절.</a:t>
            </a:r>
          </a:p>
        </p:txBody>
      </p:sp>
      <p:sp>
        <p:nvSpPr>
          <p:cNvPr id="16" name="TextBox 15"/>
          <p:cNvSpPr txBox="1"/>
          <p:nvPr/>
        </p:nvSpPr>
        <p:spPr>
          <a:xfrm>
            <a:off x="381000" y="3733800"/>
            <a:ext cx="83820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주요 사용 분야</a:t>
            </a:r>
          </a:p>
        </p:txBody>
      </p:sp>
      <p:graphicFrame>
        <p:nvGraphicFramePr>
          <p:cNvPr id="17" name="Table 16"/>
          <p:cNvGraphicFramePr>
            <a:graphicFrameLocks noGrp="1"/>
          </p:cNvGraphicFramePr>
          <p:nvPr>
            <p:extLst>
              <p:ext uri="{D42A27DB-BD31-4B8C-83A1-F6EECF244321}">
                <p14:modId xmlns:p14="http://schemas.microsoft.com/office/powerpoint/2010/main" val="3823892141"/>
              </p:ext>
            </p:extLst>
          </p:nvPr>
        </p:nvGraphicFramePr>
        <p:xfrm>
          <a:off x="381000" y="4241800"/>
          <a:ext cx="8382000" cy="1828800"/>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3556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분야</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주입 대상·용도</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683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수처리</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err="1">
                          <a:solidFill>
                            <a:srgbClr val="262626"/>
                          </a:solidFill>
                          <a:latin typeface="Malgun Gothic"/>
                          <a:ea typeface="Malgun Gothic"/>
                          <a:cs typeface="Malgun Gothic"/>
                        </a:rPr>
                        <a:t>염소·응집제·pH</a:t>
                      </a:r>
                      <a:r>
                        <a:rPr lang="ko-KR" sz="1300" b="0" dirty="0">
                          <a:solidFill>
                            <a:srgbClr val="262626"/>
                          </a:solidFill>
                          <a:latin typeface="Malgun Gothic"/>
                          <a:ea typeface="Malgun Gothic"/>
                          <a:cs typeface="Malgun Gothic"/>
                        </a:rPr>
                        <a:t> </a:t>
                      </a:r>
                      <a:r>
                        <a:rPr lang="ko-KR" sz="1300" b="0" dirty="0" err="1">
                          <a:solidFill>
                            <a:srgbClr val="262626"/>
                          </a:solidFill>
                          <a:latin typeface="Malgun Gothic"/>
                          <a:ea typeface="Malgun Gothic"/>
                          <a:cs typeface="Malgun Gothic"/>
                        </a:rPr>
                        <a:t>조절제</a:t>
                      </a:r>
                      <a:endParaRPr lang="ko-KR" sz="13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83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식음료·제약</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a:solidFill>
                            <a:srgbClr val="262626"/>
                          </a:solidFill>
                          <a:latin typeface="Malgun Gothic"/>
                          <a:ea typeface="Malgun Gothic"/>
                          <a:cs typeface="Malgun Gothic"/>
                        </a:rPr>
                        <a:t>특정 성분을 정확한 비율로 배합</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83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농업</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err="1">
                          <a:solidFill>
                            <a:srgbClr val="262626"/>
                          </a:solidFill>
                          <a:latin typeface="Malgun Gothic"/>
                          <a:ea typeface="Malgun Gothic"/>
                          <a:cs typeface="Malgun Gothic"/>
                        </a:rPr>
                        <a:t>비료·농약을</a:t>
                      </a:r>
                      <a:r>
                        <a:rPr lang="ko-KR" sz="1300" b="0" dirty="0">
                          <a:solidFill>
                            <a:srgbClr val="262626"/>
                          </a:solidFill>
                          <a:latin typeface="Malgun Gothic"/>
                          <a:ea typeface="Malgun Gothic"/>
                          <a:cs typeface="Malgun Gothic"/>
                        </a:rPr>
                        <a:t> 관수 계통에 정밀 혼합</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83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수영장 / 산업공정</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err="1">
                          <a:solidFill>
                            <a:srgbClr val="262626"/>
                          </a:solidFill>
                          <a:latin typeface="Malgun Gothic"/>
                          <a:ea typeface="Malgun Gothic"/>
                          <a:cs typeface="Malgun Gothic"/>
                        </a:rPr>
                        <a:t>염소·소독제</a:t>
                      </a:r>
                      <a:r>
                        <a:rPr lang="ko-KR" sz="1300" b="0" dirty="0">
                          <a:solidFill>
                            <a:srgbClr val="262626"/>
                          </a:solidFill>
                          <a:latin typeface="Malgun Gothic"/>
                          <a:ea typeface="Malgun Gothic"/>
                          <a:cs typeface="Malgun Gothic"/>
                        </a:rPr>
                        <a:t> / </a:t>
                      </a:r>
                      <a:r>
                        <a:rPr lang="ko-KR" sz="1300" b="0" dirty="0" err="1">
                          <a:solidFill>
                            <a:srgbClr val="262626"/>
                          </a:solidFill>
                          <a:latin typeface="Malgun Gothic"/>
                          <a:ea typeface="Malgun Gothic"/>
                          <a:cs typeface="Malgun Gothic"/>
                        </a:rPr>
                        <a:t>세척액·첨가제·방부제</a:t>
                      </a:r>
                      <a:r>
                        <a:rPr lang="ko-KR" sz="1300" b="0" dirty="0">
                          <a:solidFill>
                            <a:srgbClr val="262626"/>
                          </a:solidFill>
                          <a:latin typeface="Malgun Gothic"/>
                          <a:ea typeface="Malgun Gothic"/>
                          <a:cs typeface="Malgun Gothic"/>
                        </a:rPr>
                        <a:t> 자동 주입</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381000" y="6146800"/>
            <a:ext cx="8382000" cy="2159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1" dirty="0">
                <a:solidFill>
                  <a:srgbClr val="1F497D"/>
                </a:solidFill>
                <a:latin typeface="Malgun Gothic"/>
                <a:ea typeface="Malgun Gothic"/>
                <a:cs typeface="Malgun Gothic"/>
              </a:rPr>
              <a:t>핵심 목적: 수동 계량보다 정확하고 일관된 지속 공급으로 품질 </a:t>
            </a:r>
            <a:r>
              <a:rPr lang="ko-KR" sz="1400" b="1" dirty="0" err="1">
                <a:solidFill>
                  <a:srgbClr val="1F497D"/>
                </a:solidFill>
                <a:latin typeface="Malgun Gothic"/>
                <a:ea typeface="Malgun Gothic"/>
                <a:cs typeface="Malgun Gothic"/>
              </a:rPr>
              <a:t>관리·효율</a:t>
            </a:r>
            <a:r>
              <a:rPr lang="ko-KR" sz="1400" b="1" dirty="0">
                <a:solidFill>
                  <a:srgbClr val="1F497D"/>
                </a:solidFill>
                <a:latin typeface="Malgun Gothic"/>
                <a:ea typeface="Malgun Gothic"/>
                <a:cs typeface="Malgun Gothic"/>
              </a:rPr>
              <a:t> 향상</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플래시탱크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23</a:t>
            </a:r>
          </a:p>
        </p:txBody>
      </p:sp>
      <p:sp>
        <p:nvSpPr>
          <p:cNvPr id="29"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5_0.jpeg"/>
          <p:cNvPicPr>
            <a:picLocks noChangeAspect="1"/>
          </p:cNvPicPr>
          <p:nvPr/>
        </p:nvPicPr>
        <p:blipFill>
          <a:blip r:embed="rId4"/>
          <a:stretch>
            <a:fillRect/>
          </a:stretch>
        </p:blipFill>
        <p:spPr>
          <a:xfrm>
            <a:off x="381000" y="1096946"/>
            <a:ext cx="4102100" cy="2251106"/>
          </a:xfrm>
          <a:prstGeom prst="rect">
            <a:avLst/>
          </a:prstGeom>
          <a:effectLst/>
        </p:spPr>
      </p:pic>
      <p:sp>
        <p:nvSpPr>
          <p:cNvPr id="12" name="TextBox 11"/>
          <p:cNvSpPr txBox="1"/>
          <p:nvPr/>
        </p:nvSpPr>
        <p:spPr>
          <a:xfrm>
            <a:off x="4660900" y="1066800"/>
            <a:ext cx="4102100" cy="3683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altLang="en-US" sz="1800" b="1" dirty="0">
                <a:solidFill>
                  <a:srgbClr val="1F497D"/>
                </a:solidFill>
                <a:latin typeface="Malgun Gothic"/>
                <a:ea typeface="Malgun Gothic"/>
                <a:cs typeface="Malgun Gothic"/>
              </a:rPr>
              <a:t>용도</a:t>
            </a:r>
            <a:endParaRPr lang="ko-KR" sz="1800" b="1" dirty="0">
              <a:solidFill>
                <a:srgbClr val="1F497D"/>
              </a:solidFill>
              <a:latin typeface="Malgun Gothic"/>
              <a:ea typeface="Malgun Gothic"/>
              <a:cs typeface="Malgun Gothic"/>
            </a:endParaRPr>
          </a:p>
        </p:txBody>
      </p:sp>
      <p:sp>
        <p:nvSpPr>
          <p:cNvPr id="13" name="TextBox 12"/>
          <p:cNvSpPr txBox="1"/>
          <p:nvPr/>
        </p:nvSpPr>
        <p:spPr>
          <a:xfrm>
            <a:off x="4660900" y="1562100"/>
            <a:ext cx="4102100" cy="18161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감압 후 해당 압력의 포화온도보다</a:t>
            </a:r>
          </a:p>
          <a:p>
            <a:pPr algn="l"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온도가 높아 일부가 즉시 증발</a:t>
            </a:r>
          </a:p>
          <a:p>
            <a:pPr algn="l" eaLnBrk="0" latinLnBrk="0">
              <a:lnSpc>
                <a:spcPct val="115000"/>
              </a:lnSpc>
              <a:spcBef>
                <a:spcPts val="0"/>
              </a:spcBef>
              <a:spcAft>
                <a:spcPts val="0"/>
              </a:spcAft>
              <a:defRPr sz="1400">
                <a:latin typeface="Malgun Gothic"/>
              </a:defRPr>
            </a:pPr>
            <a:endParaRPr lang="ko-KR" sz="150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탱크에서 증기는 위쪽으로,</a:t>
            </a:r>
          </a:p>
          <a:p>
            <a:pPr algn="l"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a:t>
            </a:r>
            <a:r>
              <a:rPr lang="ko-KR"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응축수는</a:t>
            </a:r>
            <a:r>
              <a:rPr lang="ko-KR" sz="1400" b="0" dirty="0">
                <a:solidFill>
                  <a:srgbClr val="262626"/>
                </a:solidFill>
                <a:latin typeface="Malgun Gothic"/>
                <a:ea typeface="Malgun Gothic"/>
                <a:cs typeface="Malgun Gothic"/>
              </a:rPr>
              <a:t> 아래쪽으로 </a:t>
            </a:r>
            <a:r>
              <a:rPr lang="ko-KR" sz="1400" b="0" dirty="0" err="1">
                <a:solidFill>
                  <a:srgbClr val="262626"/>
                </a:solidFill>
                <a:latin typeface="Malgun Gothic"/>
                <a:ea typeface="Malgun Gothic"/>
                <a:cs typeface="Malgun Gothic"/>
              </a:rPr>
              <a:t>분리·배출</a:t>
            </a:r>
            <a:endParaRPr lang="ko-KR" sz="1500" b="0" dirty="0">
              <a:solidFill>
                <a:srgbClr val="262626"/>
              </a:solidFill>
              <a:latin typeface="Malgun Gothic"/>
              <a:ea typeface="Malgun Gothic"/>
              <a:cs typeface="Malgun Gothic"/>
            </a:endParaRPr>
          </a:p>
        </p:txBody>
      </p:sp>
      <p:sp>
        <p:nvSpPr>
          <p:cNvPr id="14" name="Rectangle 13"/>
          <p:cNvSpPr/>
          <p:nvPr/>
        </p:nvSpPr>
        <p:spPr>
          <a:xfrm>
            <a:off x="381000" y="3619500"/>
            <a:ext cx="2633133" cy="9398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5" name="TextBox 14"/>
          <p:cNvSpPr txBox="1"/>
          <p:nvPr/>
        </p:nvSpPr>
        <p:spPr>
          <a:xfrm>
            <a:off x="482600" y="37211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감압</a:t>
            </a:r>
          </a:p>
        </p:txBody>
      </p:sp>
      <p:sp>
        <p:nvSpPr>
          <p:cNvPr id="16" name="TextBox 15"/>
          <p:cNvSpPr txBox="1"/>
          <p:nvPr/>
        </p:nvSpPr>
        <p:spPr>
          <a:xfrm>
            <a:off x="482600" y="4191000"/>
            <a:ext cx="2429933" cy="2794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고압 응축수 유입</a:t>
            </a:r>
          </a:p>
        </p:txBody>
      </p:sp>
      <p:sp>
        <p:nvSpPr>
          <p:cNvPr id="17" name="TextBox 16"/>
          <p:cNvSpPr txBox="1"/>
          <p:nvPr/>
        </p:nvSpPr>
        <p:spPr>
          <a:xfrm>
            <a:off x="3014133" y="38862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18" name="Rectangle 17"/>
          <p:cNvSpPr/>
          <p:nvPr/>
        </p:nvSpPr>
        <p:spPr>
          <a:xfrm>
            <a:off x="3255433" y="3619500"/>
            <a:ext cx="2633133" cy="9398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9" name="TextBox 18"/>
          <p:cNvSpPr txBox="1"/>
          <p:nvPr/>
        </p:nvSpPr>
        <p:spPr>
          <a:xfrm>
            <a:off x="3357033" y="37211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플래시 증발</a:t>
            </a:r>
          </a:p>
        </p:txBody>
      </p:sp>
      <p:sp>
        <p:nvSpPr>
          <p:cNvPr id="20" name="TextBox 19"/>
          <p:cNvSpPr txBox="1"/>
          <p:nvPr/>
        </p:nvSpPr>
        <p:spPr>
          <a:xfrm>
            <a:off x="3357033" y="4191000"/>
            <a:ext cx="2429933" cy="2794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일부 액체가 증기로</a:t>
            </a:r>
          </a:p>
        </p:txBody>
      </p:sp>
      <p:sp>
        <p:nvSpPr>
          <p:cNvPr id="21" name="TextBox 20"/>
          <p:cNvSpPr txBox="1"/>
          <p:nvPr/>
        </p:nvSpPr>
        <p:spPr>
          <a:xfrm>
            <a:off x="5888566" y="38862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2" name="Rectangle 21"/>
          <p:cNvSpPr/>
          <p:nvPr/>
        </p:nvSpPr>
        <p:spPr>
          <a:xfrm>
            <a:off x="6129866" y="3619500"/>
            <a:ext cx="2633133" cy="9398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3" name="TextBox 22"/>
          <p:cNvSpPr txBox="1"/>
          <p:nvPr/>
        </p:nvSpPr>
        <p:spPr>
          <a:xfrm>
            <a:off x="6231466" y="37211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상분리·회수</a:t>
            </a:r>
          </a:p>
        </p:txBody>
      </p:sp>
      <p:sp>
        <p:nvSpPr>
          <p:cNvPr id="24" name="TextBox 23"/>
          <p:cNvSpPr txBox="1"/>
          <p:nvPr/>
        </p:nvSpPr>
        <p:spPr>
          <a:xfrm>
            <a:off x="6231466" y="4191000"/>
            <a:ext cx="2429933" cy="2794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증기 / 응축수 분리</a:t>
            </a:r>
          </a:p>
        </p:txBody>
      </p:sp>
      <p:sp>
        <p:nvSpPr>
          <p:cNvPr id="25" name="TextBox 24"/>
          <p:cNvSpPr txBox="1"/>
          <p:nvPr/>
        </p:nvSpPr>
        <p:spPr>
          <a:xfrm>
            <a:off x="381000" y="48514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주요 사용처</a:t>
            </a:r>
          </a:p>
        </p:txBody>
      </p:sp>
      <p:sp>
        <p:nvSpPr>
          <p:cNvPr id="26" name="TextBox 25"/>
          <p:cNvSpPr txBox="1"/>
          <p:nvPr/>
        </p:nvSpPr>
        <p:spPr>
          <a:xfrm>
            <a:off x="381000" y="5346700"/>
            <a:ext cx="4102100" cy="9906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스팀·보일러</a:t>
            </a:r>
            <a:r>
              <a:rPr lang="ko-KR" sz="1400" b="0" dirty="0">
                <a:solidFill>
                  <a:srgbClr val="262626"/>
                </a:solidFill>
                <a:latin typeface="Malgun Gothic"/>
                <a:ea typeface="Malgun Gothic"/>
                <a:cs typeface="Malgun Gothic"/>
              </a:rPr>
              <a:t>: 저압 증기 회수</a:t>
            </a:r>
          </a:p>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냉동·냉각</a:t>
            </a:r>
            <a:r>
              <a:rPr lang="ko-KR"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시스템</a:t>
            </a:r>
            <a:r>
              <a:rPr lang="ko-KR" sz="1400" b="0" dirty="0">
                <a:solidFill>
                  <a:srgbClr val="262626"/>
                </a:solidFill>
                <a:latin typeface="Malgun Gothic"/>
                <a:ea typeface="Malgun Gothic"/>
                <a:cs typeface="Malgun Gothic"/>
              </a:rPr>
              <a:t>: 냉매의 감압 </a:t>
            </a:r>
            <a:r>
              <a:rPr lang="ko-KR" sz="1400" b="0" dirty="0" err="1">
                <a:solidFill>
                  <a:srgbClr val="262626"/>
                </a:solidFill>
                <a:latin typeface="Malgun Gothic"/>
                <a:ea typeface="Malgun Gothic"/>
                <a:cs typeface="Malgun Gothic"/>
              </a:rPr>
              <a:t>상분리</a:t>
            </a:r>
            <a:endParaRPr lang="ko-KR" sz="13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석유화학 </a:t>
            </a:r>
            <a:r>
              <a:rPr lang="ko-KR" altLang="en-US" sz="1400" dirty="0">
                <a:solidFill>
                  <a:srgbClr val="262626"/>
                </a:solidFill>
                <a:latin typeface="Malgun Gothic"/>
                <a:ea typeface="Malgun Gothic"/>
                <a:cs typeface="Malgun Gothic"/>
              </a:rPr>
              <a:t>공정</a:t>
            </a:r>
            <a:r>
              <a:rPr lang="ko-KR" sz="1400" b="0" dirty="0">
                <a:solidFill>
                  <a:srgbClr val="262626"/>
                </a:solidFill>
                <a:latin typeface="Malgun Gothic"/>
                <a:ea typeface="Malgun Gothic"/>
                <a:cs typeface="Malgun Gothic"/>
              </a:rPr>
              <a:t> · 지열</a:t>
            </a:r>
            <a:r>
              <a:rPr lang="ko-KR"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발전소</a:t>
            </a:r>
            <a:r>
              <a:rPr lang="ko-KR"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감압 시 발생하는 증기 사용</a:t>
            </a:r>
            <a:endParaRPr lang="ko-KR" sz="1350" b="0" dirty="0">
              <a:solidFill>
                <a:srgbClr val="262626"/>
              </a:solidFill>
              <a:latin typeface="Malgun Gothic"/>
              <a:ea typeface="Malgun Gothic"/>
              <a:cs typeface="Malgun Gothic"/>
            </a:endParaRPr>
          </a:p>
        </p:txBody>
      </p:sp>
      <p:sp>
        <p:nvSpPr>
          <p:cNvPr id="27" name="TextBox 26"/>
          <p:cNvSpPr txBox="1"/>
          <p:nvPr/>
        </p:nvSpPr>
        <p:spPr>
          <a:xfrm>
            <a:off x="4660900" y="48514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핵심 목적</a:t>
            </a:r>
          </a:p>
        </p:txBody>
      </p:sp>
      <p:sp>
        <p:nvSpPr>
          <p:cNvPr id="28" name="TextBox 27"/>
          <p:cNvSpPr txBox="1"/>
          <p:nvPr/>
        </p:nvSpPr>
        <p:spPr>
          <a:xfrm>
            <a:off x="4660900" y="5346700"/>
            <a:ext cx="4102100" cy="9906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고압 응축수의 열에너지 재사용</a:t>
            </a:r>
          </a:p>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증기·액체를</a:t>
            </a:r>
            <a:r>
              <a:rPr lang="ko-KR" sz="1400" b="0" dirty="0">
                <a:solidFill>
                  <a:srgbClr val="262626"/>
                </a:solidFill>
                <a:latin typeface="Malgun Gothic"/>
                <a:ea typeface="Malgun Gothic"/>
                <a:cs typeface="Malgun Gothic"/>
              </a:rPr>
              <a:t> 분리하여 각각 활용</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급격한 </a:t>
            </a:r>
            <a:r>
              <a:rPr lang="ko-KR" sz="1400" b="0" dirty="0" err="1">
                <a:solidFill>
                  <a:srgbClr val="262626"/>
                </a:solidFill>
                <a:latin typeface="Malgun Gothic"/>
                <a:ea typeface="Malgun Gothic"/>
                <a:cs typeface="Malgun Gothic"/>
              </a:rPr>
              <a:t>압력변화·워터해머</a:t>
            </a:r>
            <a:r>
              <a:rPr lang="ko-KR" sz="1400" b="0" dirty="0">
                <a:solidFill>
                  <a:srgbClr val="262626"/>
                </a:solidFill>
                <a:latin typeface="Malgun Gothic"/>
                <a:ea typeface="Malgun Gothic"/>
                <a:cs typeface="Malgun Gothic"/>
              </a:rPr>
              <a:t> 문제 방지</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급수의 용존산소 관리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24</a:t>
            </a:r>
          </a:p>
        </p:txBody>
      </p:sp>
      <p:sp>
        <p:nvSpPr>
          <p:cNvPr id="16"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6_0.jpeg"/>
          <p:cNvPicPr>
            <a:picLocks noChangeAspect="1"/>
          </p:cNvPicPr>
          <p:nvPr/>
        </p:nvPicPr>
        <p:blipFill>
          <a:blip r:embed="rId4"/>
          <a:stretch>
            <a:fillRect/>
          </a:stretch>
        </p:blipFill>
        <p:spPr>
          <a:xfrm>
            <a:off x="381000" y="1081962"/>
            <a:ext cx="4102100" cy="2281075"/>
          </a:xfrm>
          <a:prstGeom prst="rect">
            <a:avLst/>
          </a:prstGeom>
          <a:effectLst/>
        </p:spPr>
      </p:pic>
      <p:sp>
        <p:nvSpPr>
          <p:cNvPr id="12" name="TextBox 11"/>
          <p:cNvSpPr txBox="1"/>
          <p:nvPr/>
        </p:nvSpPr>
        <p:spPr>
          <a:xfrm>
            <a:off x="4660900" y="1066800"/>
            <a:ext cx="4102100" cy="3683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기계적 탈기 + 화학적 산소 제거</a:t>
            </a:r>
          </a:p>
        </p:txBody>
      </p:sp>
      <p:sp>
        <p:nvSpPr>
          <p:cNvPr id="13" name="TextBox 12"/>
          <p:cNvSpPr txBox="1"/>
          <p:nvPr/>
        </p:nvSpPr>
        <p:spPr>
          <a:xfrm>
            <a:off x="4660900" y="1562100"/>
            <a:ext cx="4102100" cy="18161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1단계: </a:t>
            </a:r>
            <a:r>
              <a:rPr lang="ko-KR" sz="1400" b="0" dirty="0" err="1">
                <a:solidFill>
                  <a:srgbClr val="262626"/>
                </a:solidFill>
                <a:latin typeface="Malgun Gothic"/>
                <a:ea typeface="Malgun Gothic"/>
                <a:cs typeface="Malgun Gothic"/>
              </a:rPr>
              <a:t>스프레이·트레이형</a:t>
            </a:r>
            <a:r>
              <a:rPr lang="ko-KR" sz="1400" b="0" dirty="0">
                <a:solidFill>
                  <a:srgbClr val="262626"/>
                </a:solidFill>
                <a:latin typeface="Malgun Gothic"/>
                <a:ea typeface="Malgun Gothic"/>
                <a:cs typeface="Malgun Gothic"/>
              </a:rPr>
              <a:t> 탈기기로 1차 제거</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증기 가열로 </a:t>
            </a:r>
            <a:r>
              <a:rPr lang="ko-KR" sz="1400" b="0" dirty="0" err="1">
                <a:solidFill>
                  <a:srgbClr val="262626"/>
                </a:solidFill>
                <a:latin typeface="Malgun Gothic"/>
                <a:ea typeface="Malgun Gothic"/>
                <a:cs typeface="Malgun Gothic"/>
              </a:rPr>
              <a:t>용존가스</a:t>
            </a:r>
            <a:r>
              <a:rPr lang="ko-KR" sz="1400" b="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방출</a:t>
            </a:r>
            <a:endParaRPr lang="ko-KR" sz="132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도달 수준: 7~10 </a:t>
            </a:r>
            <a:r>
              <a:rPr lang="ko-KR" sz="1400" b="0" dirty="0" err="1">
                <a:solidFill>
                  <a:srgbClr val="262626"/>
                </a:solidFill>
                <a:latin typeface="Malgun Gothic"/>
                <a:ea typeface="Malgun Gothic"/>
                <a:cs typeface="Malgun Gothic"/>
              </a:rPr>
              <a:t>ppb</a:t>
            </a:r>
            <a:r>
              <a:rPr lang="ko-KR" sz="1400" b="0" dirty="0">
                <a:solidFill>
                  <a:srgbClr val="262626"/>
                </a:solidFill>
                <a:latin typeface="Malgun Gothic"/>
                <a:ea typeface="Malgun Gothic"/>
                <a:cs typeface="Malgun Gothic"/>
              </a:rPr>
              <a:t> (설계에 따라 </a:t>
            </a:r>
            <a:r>
              <a:rPr lang="ko-KR" altLang="en-US" sz="1400" dirty="0">
                <a:solidFill>
                  <a:srgbClr val="262626"/>
                </a:solidFill>
                <a:latin typeface="Malgun Gothic"/>
                <a:ea typeface="Malgun Gothic"/>
                <a:cs typeface="Malgun Gothic"/>
              </a:rPr>
              <a:t>상이</a:t>
            </a:r>
            <a:r>
              <a:rPr lang="ko-KR" altLang="ko-KR" sz="1400" dirty="0">
                <a:solidFill>
                  <a:srgbClr val="262626"/>
                </a:solidFill>
                <a:latin typeface="Malgun Gothic"/>
                <a:ea typeface="Malgun Gothic"/>
                <a:cs typeface="Malgun Gothic"/>
              </a:rPr>
              <a:t>)</a:t>
            </a:r>
          </a:p>
          <a:p>
            <a:pPr algn="l" eaLnBrk="0" latinLnBrk="0">
              <a:lnSpc>
                <a:spcPct val="115000"/>
              </a:lnSpc>
              <a:spcBef>
                <a:spcPts val="0"/>
              </a:spcBef>
              <a:spcAft>
                <a:spcPts val="0"/>
              </a:spcAft>
              <a:defRPr sz="1400">
                <a:latin typeface="Malgun Gothic"/>
              </a:defRPr>
            </a:pPr>
            <a:endParaRPr lang="ko-KR" sz="132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2단계: 잔류산소는 </a:t>
            </a:r>
            <a:r>
              <a:rPr lang="ko-KR" sz="1400" b="0" dirty="0" err="1">
                <a:solidFill>
                  <a:srgbClr val="262626"/>
                </a:solidFill>
                <a:latin typeface="Malgun Gothic"/>
                <a:ea typeface="Malgun Gothic"/>
                <a:cs typeface="Malgun Gothic"/>
              </a:rPr>
              <a:t>도징</a:t>
            </a:r>
            <a:r>
              <a:rPr lang="ko-KR" sz="1400" b="0" dirty="0">
                <a:solidFill>
                  <a:srgbClr val="262626"/>
                </a:solidFill>
                <a:latin typeface="Malgun Gothic"/>
                <a:ea typeface="Malgun Gothic"/>
                <a:cs typeface="Malgun Gothic"/>
              </a:rPr>
              <a:t> 스테이션</a:t>
            </a:r>
            <a:r>
              <a:rPr lang="ko-KR" altLang="en-US" sz="1400" b="0" dirty="0">
                <a:solidFill>
                  <a:srgbClr val="262626"/>
                </a:solidFill>
                <a:latin typeface="Malgun Gothic"/>
                <a:ea typeface="Malgun Gothic"/>
                <a:cs typeface="Malgun Gothic"/>
              </a:rPr>
              <a:t>을 통해</a:t>
            </a:r>
            <a:r>
              <a:rPr lang="ko-KR" sz="1400" b="0" dirty="0">
                <a:solidFill>
                  <a:srgbClr val="262626"/>
                </a:solidFill>
                <a:latin typeface="Malgun Gothic"/>
                <a:ea typeface="Malgun Gothic"/>
                <a:cs typeface="Malgun Gothic"/>
              </a:rPr>
              <a:t> 미량 약품 주입</a:t>
            </a:r>
            <a:r>
              <a:rPr lang="ko-KR" altLang="en-US" sz="1400" b="0" dirty="0">
                <a:solidFill>
                  <a:srgbClr val="262626"/>
                </a:solidFill>
                <a:latin typeface="Malgun Gothic"/>
                <a:ea typeface="Malgun Gothic"/>
                <a:cs typeface="Malgun Gothic"/>
              </a:rPr>
              <a:t>해 제거</a:t>
            </a:r>
            <a:endParaRPr lang="ko-KR" sz="1320" b="0" dirty="0">
              <a:solidFill>
                <a:srgbClr val="262626"/>
              </a:solidFill>
              <a:latin typeface="Malgun Gothic"/>
              <a:ea typeface="Malgun Gothic"/>
              <a:cs typeface="Malgun Gothic"/>
            </a:endParaRPr>
          </a:p>
        </p:txBody>
      </p:sp>
      <p:graphicFrame>
        <p:nvGraphicFramePr>
          <p:cNvPr id="14" name="Table 13"/>
          <p:cNvGraphicFramePr>
            <a:graphicFrameLocks noGrp="1"/>
          </p:cNvGraphicFramePr>
          <p:nvPr>
            <p:extLst>
              <p:ext uri="{D42A27DB-BD31-4B8C-83A1-F6EECF244321}">
                <p14:modId xmlns:p14="http://schemas.microsoft.com/office/powerpoint/2010/main" val="818586267"/>
              </p:ext>
            </p:extLst>
          </p:nvPr>
        </p:nvGraphicFramePr>
        <p:xfrm>
          <a:off x="381000" y="3581400"/>
          <a:ext cx="8382000" cy="1943100"/>
        </p:xfrm>
        <a:graphic>
          <a:graphicData uri="http://schemas.openxmlformats.org/drawingml/2006/table">
            <a:tbl>
              <a:tblPr>
                <a:tableStyleId>{5C22544A-7EE6-4342-B048-85BDC9FD1C3A}</a:tableStyleId>
              </a:tblPr>
              <a:tblGrid>
                <a:gridCol w="3886200">
                  <a:extLst>
                    <a:ext uri="{9D8B030D-6E8A-4147-A177-3AD203B41FA5}">
                      <a16:colId xmlns:a16="http://schemas.microsoft.com/office/drawing/2014/main" val="20000"/>
                    </a:ext>
                  </a:extLst>
                </a:gridCol>
                <a:gridCol w="4495800">
                  <a:extLst>
                    <a:ext uri="{9D8B030D-6E8A-4147-A177-3AD203B41FA5}">
                      <a16:colId xmlns:a16="http://schemas.microsoft.com/office/drawing/2014/main" val="20001"/>
                    </a:ext>
                  </a:extLst>
                </a:gridCol>
              </a:tblGrid>
              <a:tr h="32385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a:solidFill>
                            <a:srgbClr val="1F497D"/>
                          </a:solidFill>
                          <a:latin typeface="Malgun Gothic"/>
                          <a:ea typeface="Malgun Gothic"/>
                          <a:cs typeface="Malgun Gothic"/>
                        </a:rPr>
                        <a:t>산소 </a:t>
                      </a:r>
                      <a:r>
                        <a:rPr lang="ko-KR" sz="1200" b="1" dirty="0" err="1">
                          <a:solidFill>
                            <a:srgbClr val="1F497D"/>
                          </a:solidFill>
                          <a:latin typeface="Malgun Gothic"/>
                          <a:ea typeface="Malgun Gothic"/>
                          <a:cs typeface="Malgun Gothic"/>
                        </a:rPr>
                        <a:t>제거제</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a:solidFill>
                            <a:srgbClr val="1F497D"/>
                          </a:solidFill>
                          <a:latin typeface="Malgun Gothic"/>
                          <a:ea typeface="Malgun Gothic"/>
                          <a:cs typeface="Malgun Gothic"/>
                        </a:rPr>
                        <a:t>특징</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2385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err="1">
                          <a:solidFill>
                            <a:srgbClr val="1F497D"/>
                          </a:solidFill>
                          <a:latin typeface="Malgun Gothic"/>
                          <a:ea typeface="Malgun Gothic"/>
                          <a:cs typeface="Malgun Gothic"/>
                        </a:rPr>
                        <a:t>아황산나트륨</a:t>
                      </a:r>
                      <a:r>
                        <a:rPr lang="ko-KR" sz="1200" b="1" dirty="0">
                          <a:solidFill>
                            <a:srgbClr val="1F497D"/>
                          </a:solidFill>
                          <a:latin typeface="Malgun Gothic"/>
                          <a:ea typeface="Malgun Gothic"/>
                          <a:cs typeface="Malgun Gothic"/>
                        </a:rPr>
                        <a:t> </a:t>
                      </a:r>
                      <a:r>
                        <a:rPr lang="ko-KR" altLang="ko-KR" sz="1200" b="1" dirty="0">
                          <a:solidFill>
                            <a:srgbClr val="1F497D"/>
                          </a:solidFill>
                          <a:latin typeface="Malgun Gothic"/>
                          <a:ea typeface="Malgun Gothic"/>
                          <a:cs typeface="Malgun Gothic"/>
                        </a:rPr>
                        <a:t>(</a:t>
                      </a:r>
                      <a:r>
                        <a:rPr lang="ko-KR" sz="1200" b="1" dirty="0" err="1">
                          <a:solidFill>
                            <a:srgbClr val="1F497D"/>
                          </a:solidFill>
                          <a:latin typeface="Malgun Gothic"/>
                          <a:ea typeface="Malgun Gothic"/>
                          <a:cs typeface="Malgun Gothic"/>
                        </a:rPr>
                        <a:t>Sodium</a:t>
                      </a:r>
                      <a:r>
                        <a:rPr lang="ko-KR" sz="1200" b="1" dirty="0">
                          <a:solidFill>
                            <a:srgbClr val="1F497D"/>
                          </a:solidFill>
                          <a:latin typeface="Malgun Gothic"/>
                          <a:ea typeface="Malgun Gothic"/>
                          <a:cs typeface="Malgun Gothic"/>
                        </a:rPr>
                        <a:t> </a:t>
                      </a:r>
                      <a:r>
                        <a:rPr lang="ko-KR" sz="1200" b="1" dirty="0" err="1">
                          <a:solidFill>
                            <a:srgbClr val="1F497D"/>
                          </a:solidFill>
                          <a:latin typeface="Malgun Gothic"/>
                          <a:ea typeface="Malgun Gothic"/>
                          <a:cs typeface="Malgun Gothic"/>
                        </a:rPr>
                        <a:t>Sulfite</a:t>
                      </a:r>
                      <a:r>
                        <a:rPr lang="ko-KR" altLang="ko-KR" sz="1200" b="1" dirty="0">
                          <a:solidFill>
                            <a:srgbClr val="1F497D"/>
                          </a:solidFill>
                          <a:latin typeface="Malgun Gothic"/>
                          <a:ea typeface="Malgun Gothic"/>
                          <a:cs typeface="Malgun Gothic"/>
                        </a:rPr>
                        <a:t>)</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저압 보일러에 일반적</a:t>
                      </a:r>
                      <a:r>
                        <a:rPr lang="ko-KR" altLang="en-US" sz="1200" b="0" dirty="0">
                          <a:solidFill>
                            <a:srgbClr val="262626"/>
                          </a:solidFill>
                          <a:latin typeface="Malgun Gothic"/>
                          <a:ea typeface="Malgun Gothic"/>
                          <a:cs typeface="Malgun Gothic"/>
                        </a:rPr>
                        <a:t>이지만</a:t>
                      </a:r>
                      <a:r>
                        <a:rPr lang="ko-KR" altLang="ko-KR" sz="1200" b="0" dirty="0">
                          <a:solidFill>
                            <a:srgbClr val="262626"/>
                          </a:solidFill>
                          <a:latin typeface="Malgun Gothic"/>
                          <a:ea typeface="Malgun Gothic"/>
                          <a:cs typeface="Malgun Gothic"/>
                        </a:rPr>
                        <a:t>,</a:t>
                      </a:r>
                      <a:r>
                        <a:rPr lang="ko-KR" altLang="en-US" sz="1200" b="0" dirty="0">
                          <a:solidFill>
                            <a:srgbClr val="262626"/>
                          </a:solidFill>
                          <a:latin typeface="Malgun Gothic"/>
                          <a:ea typeface="Malgun Gothic"/>
                          <a:cs typeface="Malgun Gothic"/>
                        </a:rPr>
                        <a:t> </a:t>
                      </a:r>
                      <a:r>
                        <a:rPr lang="ko-KR" sz="1200" b="0" dirty="0">
                          <a:solidFill>
                            <a:srgbClr val="262626"/>
                          </a:solidFill>
                          <a:latin typeface="Malgun Gothic"/>
                          <a:ea typeface="Malgun Gothic"/>
                          <a:cs typeface="Malgun Gothic"/>
                        </a:rPr>
                        <a:t>TDS</a:t>
                      </a:r>
                      <a:r>
                        <a:rPr lang="ko-KR" altLang="ko-KR" sz="1200" b="0" dirty="0">
                          <a:solidFill>
                            <a:srgbClr val="262626"/>
                          </a:solidFill>
                          <a:latin typeface="Malgun Gothic"/>
                          <a:ea typeface="Malgun Gothic"/>
                          <a:cs typeface="Malgun Gothic"/>
                        </a:rPr>
                        <a:t>(</a:t>
                      </a:r>
                      <a:r>
                        <a:rPr lang="ko-KR" altLang="en-US" sz="1200" b="0" dirty="0">
                          <a:solidFill>
                            <a:srgbClr val="262626"/>
                          </a:solidFill>
                          <a:latin typeface="Malgun Gothic"/>
                          <a:ea typeface="Malgun Gothic"/>
                          <a:cs typeface="Malgun Gothic"/>
                        </a:rPr>
                        <a:t>물에 녹아 있는 </a:t>
                      </a:r>
                      <a:r>
                        <a:rPr lang="ko-KR" altLang="en-US" sz="1200" b="0" dirty="0" err="1">
                          <a:solidFill>
                            <a:srgbClr val="262626"/>
                          </a:solidFill>
                          <a:latin typeface="Malgun Gothic"/>
                          <a:ea typeface="Malgun Gothic"/>
                          <a:cs typeface="Malgun Gothic"/>
                        </a:rPr>
                        <a:t>염류</a:t>
                      </a:r>
                      <a:r>
                        <a:rPr lang="ko-KR" altLang="ko-KR" sz="1200" b="0" dirty="0">
                          <a:solidFill>
                            <a:srgbClr val="262626"/>
                          </a:solidFill>
                          <a:latin typeface="Malgun Gothic"/>
                          <a:ea typeface="Malgun Gothic"/>
                          <a:cs typeface="Malgun Gothic"/>
                        </a:rPr>
                        <a:t>)</a:t>
                      </a:r>
                      <a:r>
                        <a:rPr lang="ko-KR" sz="1200" b="0" dirty="0">
                          <a:solidFill>
                            <a:srgbClr val="262626"/>
                          </a:solidFill>
                          <a:latin typeface="Malgun Gothic"/>
                          <a:ea typeface="Malgun Gothic"/>
                          <a:cs typeface="Malgun Gothic"/>
                        </a:rPr>
                        <a:t> 증가</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85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err="1">
                          <a:solidFill>
                            <a:srgbClr val="1F497D"/>
                          </a:solidFill>
                          <a:latin typeface="Malgun Gothic"/>
                          <a:ea typeface="Malgun Gothic"/>
                          <a:cs typeface="Malgun Gothic"/>
                        </a:rPr>
                        <a:t>하이드라진</a:t>
                      </a:r>
                      <a:r>
                        <a:rPr lang="ko-KR" sz="1200" b="1" dirty="0">
                          <a:solidFill>
                            <a:srgbClr val="1F497D"/>
                          </a:solidFill>
                          <a:latin typeface="Malgun Gothic"/>
                          <a:ea typeface="Malgun Gothic"/>
                          <a:cs typeface="Malgun Gothic"/>
                        </a:rPr>
                        <a:t> </a:t>
                      </a:r>
                      <a:r>
                        <a:rPr lang="ko-KR" altLang="ko-KR" sz="1200" b="1" dirty="0">
                          <a:solidFill>
                            <a:srgbClr val="1F497D"/>
                          </a:solidFill>
                          <a:latin typeface="Malgun Gothic"/>
                          <a:ea typeface="Malgun Gothic"/>
                          <a:cs typeface="Malgun Gothic"/>
                        </a:rPr>
                        <a:t>(</a:t>
                      </a:r>
                      <a:r>
                        <a:rPr lang="ko-KR" sz="1200" b="1" dirty="0" err="1">
                          <a:solidFill>
                            <a:srgbClr val="1F497D"/>
                          </a:solidFill>
                          <a:latin typeface="Malgun Gothic"/>
                          <a:ea typeface="Malgun Gothic"/>
                          <a:cs typeface="Malgun Gothic"/>
                        </a:rPr>
                        <a:t>Hydrazine</a:t>
                      </a:r>
                      <a:r>
                        <a:rPr lang="ko-KR" altLang="ko-KR" sz="1200" b="1" dirty="0">
                          <a:solidFill>
                            <a:srgbClr val="1F497D"/>
                          </a:solidFill>
                          <a:latin typeface="Malgun Gothic"/>
                          <a:ea typeface="Malgun Gothic"/>
                          <a:cs typeface="Malgun Gothic"/>
                        </a:rPr>
                        <a:t>)</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효과적이나 발암 우려로 사용 감소</a:t>
                      </a:r>
                      <a:r>
                        <a:rPr lang="ko-KR" altLang="ko-KR" sz="1200" b="0" dirty="0">
                          <a:solidFill>
                            <a:srgbClr val="262626"/>
                          </a:solidFill>
                          <a:latin typeface="Malgun Gothic"/>
                          <a:ea typeface="Malgun Gothic"/>
                          <a:cs typeface="Malgun Gothic"/>
                        </a:rPr>
                        <a:t> </a:t>
                      </a:r>
                      <a:r>
                        <a:rPr lang="ko-KR" altLang="en-US" sz="1200" b="0" dirty="0">
                          <a:solidFill>
                            <a:srgbClr val="262626"/>
                          </a:solidFill>
                          <a:latin typeface="Malgun Gothic"/>
                          <a:ea typeface="Malgun Gothic"/>
                          <a:cs typeface="Malgun Gothic"/>
                        </a:rPr>
                        <a:t>추세</a:t>
                      </a:r>
                      <a:endParaRPr lang="ko-KR" sz="12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85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err="1">
                          <a:solidFill>
                            <a:srgbClr val="1F497D"/>
                          </a:solidFill>
                          <a:latin typeface="Malgun Gothic"/>
                          <a:ea typeface="Malgun Gothic"/>
                          <a:cs typeface="Malgun Gothic"/>
                        </a:rPr>
                        <a:t>카보하이드라진</a:t>
                      </a:r>
                      <a:r>
                        <a:rPr lang="ko-KR" sz="1200" b="1" dirty="0">
                          <a:solidFill>
                            <a:srgbClr val="1F497D"/>
                          </a:solidFill>
                          <a:latin typeface="Malgun Gothic"/>
                          <a:ea typeface="Malgun Gothic"/>
                          <a:cs typeface="Malgun Gothic"/>
                        </a:rPr>
                        <a:t> </a:t>
                      </a:r>
                      <a:r>
                        <a:rPr lang="ko-KR" altLang="ko-KR" sz="1200" b="1" dirty="0">
                          <a:solidFill>
                            <a:srgbClr val="1F497D"/>
                          </a:solidFill>
                          <a:latin typeface="Malgun Gothic"/>
                          <a:ea typeface="Malgun Gothic"/>
                          <a:cs typeface="Malgun Gothic"/>
                        </a:rPr>
                        <a:t>(</a:t>
                      </a:r>
                      <a:r>
                        <a:rPr lang="ko-KR" sz="1200" b="1" dirty="0" err="1">
                          <a:solidFill>
                            <a:srgbClr val="1F497D"/>
                          </a:solidFill>
                          <a:latin typeface="Malgun Gothic"/>
                          <a:ea typeface="Malgun Gothic"/>
                          <a:cs typeface="Malgun Gothic"/>
                        </a:rPr>
                        <a:t>Carbohydrazide</a:t>
                      </a:r>
                      <a:r>
                        <a:rPr lang="ko-KR" altLang="ko-KR" sz="1200" b="1" dirty="0">
                          <a:solidFill>
                            <a:srgbClr val="1F497D"/>
                          </a:solidFill>
                          <a:latin typeface="Malgun Gothic"/>
                          <a:ea typeface="Malgun Gothic"/>
                          <a:cs typeface="Malgun Gothic"/>
                        </a:rPr>
                        <a:t>)</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err="1">
                          <a:solidFill>
                            <a:srgbClr val="262626"/>
                          </a:solidFill>
                          <a:latin typeface="Malgun Gothic"/>
                          <a:ea typeface="Malgun Gothic"/>
                          <a:cs typeface="Malgun Gothic"/>
                        </a:rPr>
                        <a:t>하이드라진</a:t>
                      </a:r>
                      <a:r>
                        <a:rPr lang="ko-KR" sz="1200" b="0" dirty="0">
                          <a:solidFill>
                            <a:srgbClr val="262626"/>
                          </a:solidFill>
                          <a:latin typeface="Malgun Gothic"/>
                          <a:ea typeface="Malgun Gothic"/>
                          <a:cs typeface="Malgun Gothic"/>
                        </a:rPr>
                        <a:t> 대체</a:t>
                      </a:r>
                      <a:r>
                        <a:rPr lang="ko-KR" altLang="ko-KR" sz="1200" b="0" dirty="0">
                          <a:solidFill>
                            <a:srgbClr val="262626"/>
                          </a:solidFill>
                          <a:latin typeface="Malgun Gothic"/>
                          <a:ea typeface="Malgun Gothic"/>
                          <a:cs typeface="Malgun Gothic"/>
                        </a:rPr>
                        <a:t>,</a:t>
                      </a:r>
                      <a:r>
                        <a:rPr lang="ko-KR" sz="1200" b="0" dirty="0">
                          <a:solidFill>
                            <a:srgbClr val="262626"/>
                          </a:solidFill>
                          <a:latin typeface="Malgun Gothic"/>
                          <a:ea typeface="Malgun Gothic"/>
                          <a:cs typeface="Malgun Gothic"/>
                        </a:rPr>
                        <a:t> 부산물 적음</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85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a:solidFill>
                            <a:srgbClr val="1F497D"/>
                          </a:solidFill>
                          <a:latin typeface="Malgun Gothic"/>
                          <a:ea typeface="Malgun Gothic"/>
                          <a:cs typeface="Malgun Gothic"/>
                        </a:rPr>
                        <a:t>DEHA </a:t>
                      </a:r>
                      <a:r>
                        <a:rPr lang="ko-KR" altLang="ko-KR" sz="1200" b="1" dirty="0">
                          <a:solidFill>
                            <a:srgbClr val="1F497D"/>
                          </a:solidFill>
                          <a:latin typeface="Malgun Gothic"/>
                          <a:ea typeface="Malgun Gothic"/>
                          <a:cs typeface="Malgun Gothic"/>
                        </a:rPr>
                        <a:t>(</a:t>
                      </a:r>
                      <a:r>
                        <a:rPr lang="ko-KR" sz="1200" b="1" dirty="0" err="1">
                          <a:solidFill>
                            <a:srgbClr val="1F497D"/>
                          </a:solidFill>
                          <a:latin typeface="Malgun Gothic"/>
                          <a:ea typeface="Malgun Gothic"/>
                          <a:cs typeface="Malgun Gothic"/>
                        </a:rPr>
                        <a:t>Diethylhydroxylamine</a:t>
                      </a:r>
                      <a:r>
                        <a:rPr lang="ko-KR" altLang="ko-KR" sz="1200" b="1" dirty="0">
                          <a:solidFill>
                            <a:srgbClr val="1F497D"/>
                          </a:solidFill>
                          <a:latin typeface="Malgun Gothic"/>
                          <a:ea typeface="Malgun Gothic"/>
                          <a:cs typeface="Malgun Gothic"/>
                        </a:rPr>
                        <a:t>)</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휘발성</a:t>
                      </a:r>
                      <a:r>
                        <a:rPr lang="ko-KR" altLang="en-US" sz="1200" b="0" dirty="0">
                          <a:solidFill>
                            <a:srgbClr val="262626"/>
                          </a:solidFill>
                          <a:latin typeface="Malgun Gothic"/>
                          <a:ea typeface="Malgun Gothic"/>
                          <a:cs typeface="Malgun Gothic"/>
                        </a:rPr>
                        <a:t>이 있어</a:t>
                      </a:r>
                      <a:r>
                        <a:rPr lang="ko-KR" sz="1200" b="0" dirty="0">
                          <a:solidFill>
                            <a:srgbClr val="262626"/>
                          </a:solidFill>
                          <a:latin typeface="Malgun Gothic"/>
                          <a:ea typeface="Malgun Gothic"/>
                          <a:cs typeface="Malgun Gothic"/>
                        </a:rPr>
                        <a:t> 배관 전체 보호 가능</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385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err="1">
                          <a:solidFill>
                            <a:srgbClr val="1F497D"/>
                          </a:solidFill>
                          <a:latin typeface="Malgun Gothic"/>
                          <a:ea typeface="Malgun Gothic"/>
                          <a:cs typeface="Malgun Gothic"/>
                        </a:rPr>
                        <a:t>에리소르빈산</a:t>
                      </a:r>
                      <a:r>
                        <a:rPr lang="ko-KR" sz="1200" b="1" dirty="0">
                          <a:solidFill>
                            <a:srgbClr val="1F497D"/>
                          </a:solidFill>
                          <a:latin typeface="Malgun Gothic"/>
                          <a:ea typeface="Malgun Gothic"/>
                          <a:cs typeface="Malgun Gothic"/>
                        </a:rPr>
                        <a:t> </a:t>
                      </a:r>
                      <a:r>
                        <a:rPr lang="ko-KR" altLang="ko-KR" sz="1200" b="1" dirty="0">
                          <a:solidFill>
                            <a:srgbClr val="1F497D"/>
                          </a:solidFill>
                          <a:latin typeface="Malgun Gothic"/>
                          <a:ea typeface="Malgun Gothic"/>
                          <a:cs typeface="Malgun Gothic"/>
                        </a:rPr>
                        <a:t>(</a:t>
                      </a:r>
                      <a:r>
                        <a:rPr lang="ko-KR" sz="1200" b="1" dirty="0" err="1">
                          <a:solidFill>
                            <a:srgbClr val="1F497D"/>
                          </a:solidFill>
                          <a:latin typeface="Malgun Gothic"/>
                          <a:ea typeface="Malgun Gothic"/>
                          <a:cs typeface="Malgun Gothic"/>
                        </a:rPr>
                        <a:t>Erythorbic</a:t>
                      </a:r>
                      <a:r>
                        <a:rPr lang="ko-KR" sz="1200" b="1" dirty="0">
                          <a:solidFill>
                            <a:srgbClr val="1F497D"/>
                          </a:solidFill>
                          <a:latin typeface="Malgun Gothic"/>
                          <a:ea typeface="Malgun Gothic"/>
                          <a:cs typeface="Malgun Gothic"/>
                        </a:rPr>
                        <a:t> </a:t>
                      </a:r>
                      <a:r>
                        <a:rPr lang="ko-KR" sz="1200" b="1" dirty="0" err="1">
                          <a:solidFill>
                            <a:srgbClr val="1F497D"/>
                          </a:solidFill>
                          <a:latin typeface="Malgun Gothic"/>
                          <a:ea typeface="Malgun Gothic"/>
                          <a:cs typeface="Malgun Gothic"/>
                        </a:rPr>
                        <a:t>acid</a:t>
                      </a:r>
                      <a:r>
                        <a:rPr lang="ko-KR" altLang="ko-KR" sz="1200" b="1" dirty="0">
                          <a:solidFill>
                            <a:srgbClr val="1F497D"/>
                          </a:solidFill>
                          <a:latin typeface="Malgun Gothic"/>
                          <a:ea typeface="Malgun Gothic"/>
                          <a:cs typeface="Malgun Gothic"/>
                        </a:rPr>
                        <a:t>)</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err="1">
                          <a:solidFill>
                            <a:srgbClr val="262626"/>
                          </a:solidFill>
                          <a:latin typeface="Malgun Gothic"/>
                          <a:ea typeface="Malgun Gothic"/>
                          <a:cs typeface="Malgun Gothic"/>
                        </a:rPr>
                        <a:t>식품·제약</a:t>
                      </a:r>
                      <a:r>
                        <a:rPr lang="ko-KR" sz="1200" b="0" dirty="0">
                          <a:solidFill>
                            <a:srgbClr val="262626"/>
                          </a:solidFill>
                          <a:latin typeface="Malgun Gothic"/>
                          <a:ea typeface="Malgun Gothic"/>
                          <a:cs typeface="Malgun Gothic"/>
                        </a:rPr>
                        <a:t> 등 </a:t>
                      </a:r>
                      <a:r>
                        <a:rPr lang="ko-KR" sz="1200" b="0" dirty="0" err="1">
                          <a:solidFill>
                            <a:srgbClr val="262626"/>
                          </a:solidFill>
                          <a:latin typeface="Malgun Gothic"/>
                          <a:ea typeface="Malgun Gothic"/>
                          <a:cs typeface="Malgun Gothic"/>
                        </a:rPr>
                        <a:t>비독성</a:t>
                      </a:r>
                      <a:r>
                        <a:rPr lang="ko-KR" sz="1200" b="0" dirty="0">
                          <a:solidFill>
                            <a:srgbClr val="262626"/>
                          </a:solidFill>
                          <a:latin typeface="Malgun Gothic"/>
                          <a:ea typeface="Malgun Gothic"/>
                          <a:cs typeface="Malgun Gothic"/>
                        </a:rPr>
                        <a:t> 요구 시 사용</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381000" y="5638800"/>
            <a:ext cx="8382000" cy="762000"/>
          </a:xfrm>
          <a:prstGeom prst="rect">
            <a:avLst/>
          </a:prstGeom>
          <a:noFill/>
          <a:effectLst/>
        </p:spPr>
        <p:txBody>
          <a:bodyPr wrap="square" lIns="0" tIns="0" rIns="0" bIns="0" anchor="t">
            <a:noAutofit/>
          </a:bodyPr>
          <a:lstStyle/>
          <a:p>
            <a:pPr>
              <a:lnSpc>
                <a:spcPct val="115000"/>
              </a:lnSpc>
              <a:spcBef>
                <a:spcPts val="0"/>
              </a:spcBef>
              <a:spcAft>
                <a:spcPts val="0"/>
              </a:spcAft>
              <a:defRPr sz="1300">
                <a:latin typeface="Malgun Gothic"/>
              </a:defRPr>
            </a:pPr>
            <a:r>
              <a:rPr sz="1300" lang="ko-KR">
                <a:latin typeface="Malgun Gothic"/>
                <a:ea typeface="Malgun Gothic"/>
                <a:cs typeface="Malgun Gothic"/>
              </a:rPr>
              <a:t>• 용존산소(DO)를 ppb 단위로 실시간 측정하고 도징펌프 투입량 자동 조절</a:t>
            </a:r>
          </a:p>
          <a:p>
            <a:pPr>
              <a:lnSpc>
                <a:spcPct val="115000"/>
              </a:lnSpc>
              <a:spcBef>
                <a:spcPts val="0"/>
              </a:spcBef>
              <a:spcAft>
                <a:spcPts val="0"/>
              </a:spcAft>
              <a:defRPr sz="1300">
                <a:latin typeface="Malgun Gothic"/>
              </a:defRPr>
            </a:pPr>
            <a:r>
              <a:rPr sz="1300" lang="ko-KR">
                <a:latin typeface="Malgun Gothic"/>
                <a:ea typeface="Malgun Gothic"/>
                <a:cs typeface="Malgun Gothic"/>
              </a:rPr>
              <a:t>• 부하·운전조건에 따른 탈기 성능 변화와 압력·배관 재질별 허용기준 확인</a:t>
            </a:r>
          </a:p>
          <a:p>
            <a:pPr>
              <a:lnSpc>
                <a:spcPct val="115000"/>
              </a:lnSpc>
              <a:spcBef>
                <a:spcPts val="0"/>
              </a:spcBef>
              <a:spcAft>
                <a:spcPts val="0"/>
              </a:spcAft>
              <a:defRPr sz="1300">
                <a:latin typeface="Malgun Gothic"/>
              </a:defRPr>
            </a:pPr>
            <a:r>
              <a:rPr sz="1300" lang="ko-KR">
                <a:latin typeface="Malgun Gothic"/>
                <a:ea typeface="Malgun Gothic"/>
                <a:cs typeface="Malgun Gothic"/>
              </a:rPr>
              <a:t>• 약품 과다 투입 시 슬러지·부식 위험이 있으므로 정량 투입 관리</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급수펌프 이중화와 자동 절체</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25</a:t>
            </a:r>
          </a:p>
        </p:txBody>
      </p:sp>
      <p:sp>
        <p:nvSpPr>
          <p:cNvPr id="16"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7_1.jpeg"/>
          <p:cNvPicPr>
            <a:picLocks noChangeAspect="1"/>
          </p:cNvPicPr>
          <p:nvPr/>
        </p:nvPicPr>
        <p:blipFill>
          <a:blip r:embed="rId4"/>
          <a:stretch>
            <a:fillRect/>
          </a:stretch>
        </p:blipFill>
        <p:spPr>
          <a:xfrm>
            <a:off x="381000" y="1083280"/>
            <a:ext cx="4102100" cy="2278439"/>
          </a:xfrm>
          <a:prstGeom prst="rect">
            <a:avLst/>
          </a:prstGeom>
          <a:effectLst/>
        </p:spPr>
      </p:pic>
      <p:sp>
        <p:nvSpPr>
          <p:cNvPr id="12" name="TextBox 11"/>
          <p:cNvSpPr txBox="1"/>
          <p:nvPr/>
        </p:nvSpPr>
        <p:spPr>
          <a:xfrm>
            <a:off x="4660900" y="1066800"/>
            <a:ext cx="4102100" cy="3683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기본 구성</a:t>
            </a:r>
          </a:p>
        </p:txBody>
      </p:sp>
      <p:sp>
        <p:nvSpPr>
          <p:cNvPr id="13" name="TextBox 12"/>
          <p:cNvSpPr txBox="1"/>
          <p:nvPr/>
        </p:nvSpPr>
        <p:spPr>
          <a:xfrm>
            <a:off x="4660900" y="1562100"/>
            <a:ext cx="4102100" cy="18161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1 </a:t>
            </a:r>
            <a:r>
              <a:rPr lang="ko-KR" sz="1400" b="0" dirty="0" err="1">
                <a:solidFill>
                  <a:srgbClr val="262626"/>
                </a:solidFill>
                <a:latin typeface="Malgun Gothic"/>
                <a:ea typeface="Malgun Gothic"/>
                <a:cs typeface="Malgun Gothic"/>
              </a:rPr>
              <a:t>Duty</a:t>
            </a:r>
            <a:r>
              <a:rPr lang="ko-KR" sz="1400" b="0" dirty="0">
                <a:solidFill>
                  <a:srgbClr val="262626"/>
                </a:solidFill>
                <a:latin typeface="Malgun Gothic"/>
                <a:ea typeface="Malgun Gothic"/>
                <a:cs typeface="Malgun Gothic"/>
              </a:rPr>
              <a:t> + 1 </a:t>
            </a:r>
            <a:r>
              <a:rPr lang="ko-KR" sz="1400" b="0" dirty="0" err="1">
                <a:solidFill>
                  <a:srgbClr val="262626"/>
                </a:solidFill>
                <a:latin typeface="Malgun Gothic"/>
                <a:ea typeface="Malgun Gothic"/>
                <a:cs typeface="Malgun Gothic"/>
              </a:rPr>
              <a:t>Standby</a:t>
            </a:r>
            <a:r>
              <a:rPr lang="ko-KR" sz="1400" b="0" dirty="0">
                <a:solidFill>
                  <a:srgbClr val="262626"/>
                </a:solidFill>
                <a:latin typeface="Malgun Gothic"/>
                <a:ea typeface="Malgun Gothic"/>
                <a:cs typeface="Malgun Gothic"/>
              </a:rPr>
              <a:t> · 2×100%</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평상시 1대 운전, 1대 대기</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유지보수 중에도 운전 지속</a:t>
            </a:r>
          </a:p>
          <a:p>
            <a:pPr algn="l" eaLnBrk="0" latinLnBrk="0">
              <a:lnSpc>
                <a:spcPct val="115000"/>
              </a:lnSpc>
              <a:spcBef>
                <a:spcPts val="0"/>
              </a:spcBef>
              <a:spcAft>
                <a:spcPts val="0"/>
              </a:spcAft>
              <a:defRPr sz="1400">
                <a:latin typeface="Malgun Gothic"/>
              </a:defRPr>
            </a:pPr>
            <a:endParaRPr lang="ko-KR" sz="140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2×50% 또는 3×50%</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부하 분산. 고장 시 부분용량 유지</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대용량 시스템에서 유리</a:t>
            </a:r>
          </a:p>
        </p:txBody>
      </p:sp>
      <p:sp>
        <p:nvSpPr>
          <p:cNvPr id="14" name="TextBox 13"/>
          <p:cNvSpPr txBox="1"/>
          <p:nvPr/>
        </p:nvSpPr>
        <p:spPr>
          <a:xfrm>
            <a:off x="381000" y="3581400"/>
            <a:ext cx="83820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대기펌프 자동 기동 조건</a:t>
            </a:r>
          </a:p>
        </p:txBody>
      </p:sp>
      <p:graphicFrame>
        <p:nvGraphicFramePr>
          <p:cNvPr id="15" name="Table 14"/>
          <p:cNvGraphicFramePr>
            <a:graphicFrameLocks noGrp="1"/>
          </p:cNvGraphicFramePr>
          <p:nvPr>
            <p:extLst>
              <p:ext uri="{D42A27DB-BD31-4B8C-83A1-F6EECF244321}">
                <p14:modId xmlns:p14="http://schemas.microsoft.com/office/powerpoint/2010/main" val="2769840485"/>
              </p:ext>
            </p:extLst>
          </p:nvPr>
        </p:nvGraphicFramePr>
        <p:xfrm>
          <a:off x="381000" y="4102100"/>
          <a:ext cx="8382000" cy="2235200"/>
        </p:xfrm>
        <a:graphic>
          <a:graphicData uri="http://schemas.openxmlformats.org/drawingml/2006/table">
            <a:tbl>
              <a:tblPr>
                <a:tableStyleId>{5C22544A-7EE6-4342-B048-85BDC9FD1C3A}</a:tableStyleId>
              </a:tblPr>
              <a:tblGrid>
                <a:gridCol w="2222500">
                  <a:extLst>
                    <a:ext uri="{9D8B030D-6E8A-4147-A177-3AD203B41FA5}">
                      <a16:colId xmlns:a16="http://schemas.microsoft.com/office/drawing/2014/main" val="20000"/>
                    </a:ext>
                  </a:extLst>
                </a:gridCol>
                <a:gridCol w="6159500">
                  <a:extLst>
                    <a:ext uri="{9D8B030D-6E8A-4147-A177-3AD203B41FA5}">
                      <a16:colId xmlns:a16="http://schemas.microsoft.com/office/drawing/2014/main" val="20001"/>
                    </a:ext>
                  </a:extLst>
                </a:gridCol>
              </a:tblGrid>
              <a:tr h="3556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altLang="en-US" sz="1350" b="1" dirty="0">
                          <a:solidFill>
                            <a:srgbClr val="1F497D"/>
                          </a:solidFill>
                          <a:latin typeface="Malgun Gothic"/>
                          <a:ea typeface="Malgun Gothic"/>
                          <a:cs typeface="Malgun Gothic"/>
                        </a:rPr>
                        <a:t>조건</a:t>
                      </a:r>
                      <a:endParaRPr lang="ko-KR" sz="135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설명</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4699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압력 저하</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a:solidFill>
                            <a:srgbClr val="262626"/>
                          </a:solidFill>
                          <a:latin typeface="Malgun Gothic"/>
                          <a:ea typeface="Malgun Gothic"/>
                          <a:cs typeface="Malgun Gothic"/>
                        </a:rPr>
                        <a:t>운전 중 토출압력이 설정치 이하로 하락</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99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펌프 트립·고장 신호</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a:solidFill>
                            <a:srgbClr val="262626"/>
                          </a:solidFill>
                          <a:latin typeface="Malgun Gothic"/>
                          <a:ea typeface="Malgun Gothic"/>
                          <a:cs typeface="Malgun Gothic"/>
                        </a:rPr>
                        <a:t>모터 과부하·진동·베어링 온도 이상</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99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드럼 레벨 저하</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a:solidFill>
                            <a:srgbClr val="262626"/>
                          </a:solidFill>
                          <a:latin typeface="Malgun Gothic"/>
                          <a:ea typeface="Malgun Gothic"/>
                          <a:cs typeface="Malgun Gothic"/>
                        </a:rPr>
                        <a:t>보일러 드럼 수위 하락 → 급수량 부족 판단</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99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정기 순환 절체</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균등 마모를 위해 주기적으로 </a:t>
                      </a:r>
                      <a:r>
                        <a:rPr lang="ko-KR" sz="1350" b="0" dirty="0" err="1">
                          <a:solidFill>
                            <a:srgbClr val="262626"/>
                          </a:solidFill>
                          <a:latin typeface="Malgun Gothic"/>
                          <a:ea typeface="Malgun Gothic"/>
                          <a:cs typeface="Malgun Gothic"/>
                        </a:rPr>
                        <a:t>Duty</a:t>
                      </a:r>
                      <a:r>
                        <a:rPr 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Standby</a:t>
                      </a:r>
                      <a:r>
                        <a:rPr lang="ko-KR" sz="1350" b="0" dirty="0">
                          <a:solidFill>
                            <a:srgbClr val="262626"/>
                          </a:solidFill>
                          <a:latin typeface="Malgun Gothic"/>
                          <a:ea typeface="Malgun Gothic"/>
                          <a:cs typeface="Malgun Gothic"/>
                        </a:rPr>
                        <a:t> 교대 </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증기보일러 회로 구성</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26</a:t>
            </a:r>
          </a:p>
        </p:txBody>
      </p:sp>
      <p:sp>
        <p:nvSpPr>
          <p:cNvPr id="21" name="Image area"/>
          <p:cNvSpPr/>
          <p:nvPr/>
        </p:nvSpPr>
        <p:spPr>
          <a:xfrm>
            <a:off x="381000" y="1066800"/>
            <a:ext cx="5143500" cy="2895600"/>
          </a:xfrm>
          <a:prstGeom prst="rect">
            <a:avLst/>
          </a:prstGeom>
          <a:solidFill>
            <a:srgbClr val="F5F6F8"/>
          </a:solidFill>
          <a:ln>
            <a:noFill/>
          </a:ln>
        </p:spPr>
        <p:txBody>
          <a:bodyPr rtlCol="0" anchor="ctr"/>
          <a:lstStyle/>
          <a:p>
            <a:pPr algn="ctr"/>
          </a:p>
        </p:txBody>
      </p:sp>
      <p:pic>
        <p:nvPicPr>
          <p:cNvPr id="11" name="Picture 10" descr="p28_0.jpeg"/>
          <p:cNvPicPr>
            <a:picLocks noChangeAspect="1"/>
          </p:cNvPicPr>
          <p:nvPr/>
        </p:nvPicPr>
        <p:blipFill>
          <a:blip r:embed="rId4"/>
          <a:stretch>
            <a:fillRect/>
          </a:stretch>
        </p:blipFill>
        <p:spPr>
          <a:xfrm>
            <a:off x="381000" y="1090246"/>
            <a:ext cx="5143500" cy="2848707"/>
          </a:xfrm>
          <a:prstGeom prst="rect">
            <a:avLst/>
          </a:prstGeom>
          <a:effectLst/>
        </p:spPr>
      </p:pic>
      <p:sp>
        <p:nvSpPr>
          <p:cNvPr id="12" name="Rectangle 11"/>
          <p:cNvSpPr/>
          <p:nvPr/>
        </p:nvSpPr>
        <p:spPr>
          <a:xfrm>
            <a:off x="5753100" y="1066800"/>
            <a:ext cx="3009900" cy="13335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5753100" y="1066800"/>
            <a:ext cx="26402" cy="13335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5905500" y="1206500"/>
            <a:ext cx="2705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보일러 순환펌프 회로</a:t>
            </a:r>
          </a:p>
        </p:txBody>
      </p:sp>
      <p:sp>
        <p:nvSpPr>
          <p:cNvPr id="15" name="TextBox 14"/>
          <p:cNvSpPr txBox="1"/>
          <p:nvPr/>
        </p:nvSpPr>
        <p:spPr>
          <a:xfrm>
            <a:off x="5905500" y="1676400"/>
            <a:ext cx="2705100" cy="6477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물의 순환을 담당하는</a:t>
            </a:r>
          </a:p>
          <a:p>
            <a:pPr algn="l"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펌프 계통</a:t>
            </a:r>
          </a:p>
        </p:txBody>
      </p:sp>
      <p:sp>
        <p:nvSpPr>
          <p:cNvPr id="16" name="TextBox 15"/>
          <p:cNvSpPr txBox="1"/>
          <p:nvPr/>
        </p:nvSpPr>
        <p:spPr>
          <a:xfrm>
            <a:off x="5753100" y="2400300"/>
            <a:ext cx="3009900" cy="2286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1" dirty="0">
                <a:solidFill>
                  <a:srgbClr val="65758A"/>
                </a:solidFill>
                <a:latin typeface="Malgun Gothic"/>
                <a:ea typeface="Malgun Gothic"/>
                <a:cs typeface="Malgun Gothic"/>
              </a:rPr>
              <a:t>+</a:t>
            </a:r>
          </a:p>
        </p:txBody>
      </p:sp>
      <p:sp>
        <p:nvSpPr>
          <p:cNvPr id="17" name="Rectangle 16"/>
          <p:cNvSpPr/>
          <p:nvPr/>
        </p:nvSpPr>
        <p:spPr>
          <a:xfrm>
            <a:off x="5753100" y="2628900"/>
            <a:ext cx="3009900" cy="1333500"/>
          </a:xfrm>
          <a:prstGeom prst="rect">
            <a:avLst/>
          </a:prstGeom>
          <a:solidFill>
            <a:srgbClr val="FFFFFF"/>
          </a:solidFill>
          <a:ln w="7620">
            <a:solidFill>
              <a:srgbClr val="DEE3E8"/>
            </a:solidFill>
          </a:ln>
          <a:effectLst/>
        </p:spPr>
        <p:txBody>
          <a:bodyPr rtlCol="0" anchor="ctr"/>
          <a:lstStyle/>
          <a:p>
            <a:pPr algn="ctr"/>
            <a:endParaRPr/>
          </a:p>
        </p:txBody>
      </p:sp>
      <p:sp>
        <p:nvSpPr>
          <p:cNvPr id="18" name="Rectangle 17"/>
          <p:cNvSpPr/>
          <p:nvPr/>
        </p:nvSpPr>
        <p:spPr>
          <a:xfrm>
            <a:off x="5753100" y="2628900"/>
            <a:ext cx="26402" cy="1333500"/>
          </a:xfrm>
          <a:prstGeom prst="rect">
            <a:avLst/>
          </a:prstGeom>
          <a:solidFill>
            <a:srgbClr val="65758A"/>
          </a:solidFill>
          <a:ln>
            <a:noFill/>
          </a:ln>
          <a:effectLst/>
        </p:spPr>
        <p:txBody>
          <a:bodyPr rtlCol="0" anchor="ctr"/>
          <a:lstStyle/>
          <a:p>
            <a:pPr algn="ctr"/>
            <a:endParaRPr/>
          </a:p>
        </p:txBody>
      </p:sp>
      <p:sp>
        <p:nvSpPr>
          <p:cNvPr id="19" name="TextBox 18"/>
          <p:cNvSpPr txBox="1"/>
          <p:nvPr/>
        </p:nvSpPr>
        <p:spPr>
          <a:xfrm>
            <a:off x="5905500" y="2781300"/>
            <a:ext cx="2705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증기배관 제어밸브</a:t>
            </a:r>
          </a:p>
        </p:txBody>
      </p:sp>
      <p:sp>
        <p:nvSpPr>
          <p:cNvPr id="20" name="TextBox 19"/>
          <p:cNvSpPr txBox="1"/>
          <p:nvPr/>
        </p:nvSpPr>
        <p:spPr>
          <a:xfrm>
            <a:off x="5905500" y="3251200"/>
            <a:ext cx="2705100" cy="622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증기배관에 설치된</a:t>
            </a:r>
          </a:p>
          <a:p>
            <a:pPr algn="l"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제어밸브</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보일러 내부 구조와 순환 경로</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27</a:t>
            </a:r>
          </a:p>
        </p:txBody>
      </p:sp>
      <p:sp>
        <p:nvSpPr>
          <p:cNvPr id="27"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9_0.jpeg"/>
          <p:cNvPicPr>
            <a:picLocks noChangeAspect="1"/>
          </p:cNvPicPr>
          <p:nvPr/>
        </p:nvPicPr>
        <p:blipFill>
          <a:blip r:embed="rId4"/>
          <a:stretch>
            <a:fillRect/>
          </a:stretch>
        </p:blipFill>
        <p:spPr>
          <a:xfrm>
            <a:off x="381000" y="1068656"/>
            <a:ext cx="4102100" cy="2307687"/>
          </a:xfrm>
          <a:prstGeom prst="rect">
            <a:avLst/>
          </a:prstGeom>
          <a:effectLst/>
        </p:spPr>
      </p:pic>
      <p:sp>
        <p:nvSpPr>
          <p:cNvPr id="28" name="Image area"/>
          <p:cNvSpPr/>
          <p:nvPr/>
        </p:nvSpPr>
        <p:spPr>
          <a:xfrm>
            <a:off x="4660900" y="1066800"/>
            <a:ext cx="4102100" cy="2311400"/>
          </a:xfrm>
          <a:prstGeom prst="rect">
            <a:avLst/>
          </a:prstGeom>
          <a:solidFill>
            <a:srgbClr val="F5F6F8"/>
          </a:solidFill>
          <a:ln>
            <a:noFill/>
          </a:ln>
        </p:spPr>
        <p:txBody>
          <a:bodyPr rtlCol="0" anchor="ctr"/>
          <a:lstStyle/>
          <a:p>
            <a:pPr algn="ctr"/>
          </a:p>
        </p:txBody>
      </p:sp>
      <p:pic>
        <p:nvPicPr>
          <p:cNvPr id="12" name="Picture 11" descr="p29_1.jpeg"/>
          <p:cNvPicPr>
            <a:picLocks noChangeAspect="1"/>
          </p:cNvPicPr>
          <p:nvPr/>
        </p:nvPicPr>
        <p:blipFill>
          <a:blip r:embed="rId5"/>
          <a:stretch>
            <a:fillRect/>
          </a:stretch>
        </p:blipFill>
        <p:spPr>
          <a:xfrm>
            <a:off x="4660900" y="1068656"/>
            <a:ext cx="4102100" cy="2307687"/>
          </a:xfrm>
          <a:prstGeom prst="rect">
            <a:avLst/>
          </a:prstGeom>
          <a:effectLst/>
        </p:spPr>
      </p:pic>
      <p:sp>
        <p:nvSpPr>
          <p:cNvPr id="15" name="TextBox 14"/>
          <p:cNvSpPr txBox="1"/>
          <p:nvPr/>
        </p:nvSpPr>
        <p:spPr>
          <a:xfrm>
            <a:off x="381000" y="3733800"/>
            <a:ext cx="83820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물의 순환</a:t>
            </a:r>
          </a:p>
        </p:txBody>
      </p:sp>
      <p:sp>
        <p:nvSpPr>
          <p:cNvPr id="16" name="Rectangle 15"/>
          <p:cNvSpPr/>
          <p:nvPr/>
        </p:nvSpPr>
        <p:spPr>
          <a:xfrm>
            <a:off x="381000" y="4292600"/>
            <a:ext cx="2633133" cy="11684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7" name="TextBox 16"/>
          <p:cNvSpPr txBox="1"/>
          <p:nvPr/>
        </p:nvSpPr>
        <p:spPr>
          <a:xfrm>
            <a:off x="482600" y="44323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외실</a:t>
            </a:r>
          </a:p>
        </p:txBody>
      </p:sp>
      <p:sp>
        <p:nvSpPr>
          <p:cNvPr id="18" name="TextBox 17"/>
          <p:cNvSpPr txBox="1"/>
          <p:nvPr/>
        </p:nvSpPr>
        <p:spPr>
          <a:xfrm>
            <a:off x="482600" y="4953000"/>
            <a:ext cx="2429933" cy="3302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물 공급</a:t>
            </a:r>
          </a:p>
        </p:txBody>
      </p:sp>
      <p:sp>
        <p:nvSpPr>
          <p:cNvPr id="19" name="TextBox 18"/>
          <p:cNvSpPr txBox="1"/>
          <p:nvPr/>
        </p:nvSpPr>
        <p:spPr>
          <a:xfrm>
            <a:off x="3014133" y="46355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0" name="Rectangle 19"/>
          <p:cNvSpPr/>
          <p:nvPr/>
        </p:nvSpPr>
        <p:spPr>
          <a:xfrm>
            <a:off x="3255433" y="4292600"/>
            <a:ext cx="2633133" cy="11684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1" name="TextBox 20"/>
          <p:cNvSpPr txBox="1"/>
          <p:nvPr/>
        </p:nvSpPr>
        <p:spPr>
          <a:xfrm>
            <a:off x="3357033" y="44323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분배배관</a:t>
            </a:r>
          </a:p>
        </p:txBody>
      </p:sp>
      <p:sp>
        <p:nvSpPr>
          <p:cNvPr id="22" name="TextBox 21"/>
          <p:cNvSpPr txBox="1"/>
          <p:nvPr/>
        </p:nvSpPr>
        <p:spPr>
          <a:xfrm>
            <a:off x="3357033" y="4953000"/>
            <a:ext cx="2429933" cy="3302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이송</a:t>
            </a:r>
          </a:p>
        </p:txBody>
      </p:sp>
      <p:sp>
        <p:nvSpPr>
          <p:cNvPr id="23" name="TextBox 22"/>
          <p:cNvSpPr txBox="1"/>
          <p:nvPr/>
        </p:nvSpPr>
        <p:spPr>
          <a:xfrm>
            <a:off x="5888566" y="46355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4" name="Rectangle 23"/>
          <p:cNvSpPr/>
          <p:nvPr/>
        </p:nvSpPr>
        <p:spPr>
          <a:xfrm>
            <a:off x="6129866" y="4292600"/>
            <a:ext cx="2633133" cy="11684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5" name="TextBox 24"/>
          <p:cNvSpPr txBox="1"/>
          <p:nvPr/>
        </p:nvSpPr>
        <p:spPr>
          <a:xfrm>
            <a:off x="6231466" y="44323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내실</a:t>
            </a:r>
          </a:p>
        </p:txBody>
      </p:sp>
      <p:sp>
        <p:nvSpPr>
          <p:cNvPr id="26" name="TextBox 25"/>
          <p:cNvSpPr txBox="1"/>
          <p:nvPr/>
        </p:nvSpPr>
        <p:spPr>
          <a:xfrm>
            <a:off x="6231466" y="4953000"/>
            <a:ext cx="2429933" cy="330200"/>
          </a:xfrm>
          <a:prstGeom prst="rect">
            <a:avLst/>
          </a:prstGeom>
          <a:noFill/>
          <a:ln>
            <a:solidFill>
              <a:schemeClr val="bg1"/>
            </a:solidFill>
          </a:ln>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전극 주변</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케이지형 전극과 순환 접촉 구조</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28</a:t>
            </a:r>
          </a:p>
        </p:txBody>
      </p:sp>
      <p:sp>
        <p:nvSpPr>
          <p:cNvPr id="24" name="Image area"/>
          <p:cNvSpPr/>
          <p:nvPr/>
        </p:nvSpPr>
        <p:spPr>
          <a:xfrm>
            <a:off x="381000" y="1066800"/>
            <a:ext cx="3136900" cy="1765300"/>
          </a:xfrm>
          <a:prstGeom prst="rect">
            <a:avLst/>
          </a:prstGeom>
          <a:solidFill>
            <a:srgbClr val="F5F6F8"/>
          </a:solidFill>
          <a:ln>
            <a:noFill/>
          </a:ln>
        </p:spPr>
        <p:txBody>
          <a:bodyPr rtlCol="0" anchor="ctr"/>
          <a:lstStyle/>
          <a:p>
            <a:pPr algn="ctr"/>
          </a:p>
        </p:txBody>
      </p:sp>
      <p:pic>
        <p:nvPicPr>
          <p:cNvPr id="11" name="Picture 10" descr="p29_0.jpeg"/>
          <p:cNvPicPr>
            <a:picLocks noChangeAspect="1"/>
          </p:cNvPicPr>
          <p:nvPr/>
        </p:nvPicPr>
        <p:blipFill>
          <a:blip r:embed="rId4"/>
          <a:stretch>
            <a:fillRect/>
          </a:stretch>
        </p:blipFill>
        <p:spPr>
          <a:xfrm>
            <a:off x="381000" y="1092219"/>
            <a:ext cx="3136900" cy="1714461"/>
          </a:xfrm>
          <a:prstGeom prst="rect">
            <a:avLst/>
          </a:prstGeom>
          <a:effectLst/>
        </p:spPr>
      </p:pic>
      <p:sp>
        <p:nvSpPr>
          <p:cNvPr id="25" name="Image area"/>
          <p:cNvSpPr/>
          <p:nvPr/>
        </p:nvSpPr>
        <p:spPr>
          <a:xfrm>
            <a:off x="381000" y="2933700"/>
            <a:ext cx="3136900" cy="1765300"/>
          </a:xfrm>
          <a:prstGeom prst="rect">
            <a:avLst/>
          </a:prstGeom>
          <a:solidFill>
            <a:srgbClr val="F5F6F8"/>
          </a:solidFill>
          <a:ln>
            <a:noFill/>
          </a:ln>
        </p:spPr>
        <p:txBody>
          <a:bodyPr rtlCol="0" anchor="ctr"/>
          <a:lstStyle/>
          <a:p>
            <a:pPr algn="ctr"/>
          </a:p>
        </p:txBody>
      </p:sp>
      <p:pic>
        <p:nvPicPr>
          <p:cNvPr id="12" name="Picture 11" descr="p29_1.jpeg"/>
          <p:cNvPicPr>
            <a:picLocks noChangeAspect="1"/>
          </p:cNvPicPr>
          <p:nvPr/>
        </p:nvPicPr>
        <p:blipFill>
          <a:blip r:embed="rId5"/>
          <a:stretch>
            <a:fillRect/>
          </a:stretch>
        </p:blipFill>
        <p:spPr>
          <a:xfrm>
            <a:off x="381000" y="2933999"/>
            <a:ext cx="3136900" cy="1764702"/>
          </a:xfrm>
          <a:prstGeom prst="rect">
            <a:avLst/>
          </a:prstGeom>
          <a:effectLst/>
        </p:spPr>
      </p:pic>
      <p:sp>
        <p:nvSpPr>
          <p:cNvPr id="14" name="TextBox 13"/>
          <p:cNvSpPr txBox="1"/>
          <p:nvPr/>
        </p:nvSpPr>
        <p:spPr>
          <a:xfrm>
            <a:off x="3810000" y="1066800"/>
            <a:ext cx="49530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구조와 설계 목적</a:t>
            </a:r>
          </a:p>
        </p:txBody>
      </p:sp>
      <p:sp>
        <p:nvSpPr>
          <p:cNvPr id="15" name="Rectangle 14"/>
          <p:cNvSpPr/>
          <p:nvPr/>
        </p:nvSpPr>
        <p:spPr>
          <a:xfrm>
            <a:off x="3810000" y="1651000"/>
            <a:ext cx="38100" cy="38100"/>
          </a:xfrm>
          <a:prstGeom prst="rect">
            <a:avLst/>
          </a:prstGeom>
          <a:solidFill>
            <a:srgbClr val="65758A"/>
          </a:solidFill>
          <a:ln>
            <a:noFill/>
          </a:ln>
          <a:effectLst/>
        </p:spPr>
        <p:txBody>
          <a:bodyPr rtlCol="0" anchor="ctr"/>
          <a:lstStyle/>
          <a:p>
            <a:pPr algn="ctr"/>
            <a:endParaRPr/>
          </a:p>
        </p:txBody>
      </p:sp>
      <p:sp>
        <p:nvSpPr>
          <p:cNvPr id="16" name="TextBox 15"/>
          <p:cNvSpPr txBox="1"/>
          <p:nvPr/>
        </p:nvSpPr>
        <p:spPr>
          <a:xfrm>
            <a:off x="4000500" y="1562100"/>
            <a:ext cx="4762500" cy="622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접촉 제어: 고정 침수 대신 펌프 유량·분사량으로 전극과</a:t>
            </a:r>
          </a:p>
          <a:p>
            <a:pPr algn="l"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물의 유효 접촉량·저항을 빠르게 조절</a:t>
            </a:r>
          </a:p>
        </p:txBody>
      </p:sp>
      <p:sp>
        <p:nvSpPr>
          <p:cNvPr id="17" name="Rectangle 16"/>
          <p:cNvSpPr/>
          <p:nvPr/>
        </p:nvSpPr>
        <p:spPr>
          <a:xfrm>
            <a:off x="3810000" y="2438400"/>
            <a:ext cx="38100" cy="381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4000500" y="2349500"/>
            <a:ext cx="4762500" cy="622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마모 분산: 흐르는 물이 전극을 스치며 국부 </a:t>
            </a:r>
            <a:r>
              <a:rPr lang="ko-KR" sz="1400" b="0" dirty="0" err="1">
                <a:solidFill>
                  <a:srgbClr val="262626"/>
                </a:solidFill>
                <a:latin typeface="Malgun Gothic"/>
                <a:ea typeface="Malgun Gothic"/>
                <a:cs typeface="Malgun Gothic"/>
              </a:rPr>
              <a:t>스케일·전식이</a:t>
            </a:r>
            <a:endParaRPr lang="ko-KR" sz="13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altLang="en-US" sz="1400" b="0" dirty="0">
                <a:solidFill>
                  <a:srgbClr val="262626"/>
                </a:solidFill>
                <a:latin typeface="Malgun Gothic"/>
                <a:ea typeface="Malgun Gothic"/>
                <a:cs typeface="Malgun Gothic"/>
              </a:rPr>
              <a:t>덜함</a:t>
            </a:r>
            <a:endParaRPr lang="ko-KR" sz="1350" b="0" dirty="0">
              <a:solidFill>
                <a:srgbClr val="262626"/>
              </a:solidFill>
              <a:latin typeface="Malgun Gothic"/>
              <a:ea typeface="Malgun Gothic"/>
              <a:cs typeface="Malgun Gothic"/>
            </a:endParaRPr>
          </a:p>
        </p:txBody>
      </p:sp>
      <p:sp>
        <p:nvSpPr>
          <p:cNvPr id="19" name="Rectangle 18"/>
          <p:cNvSpPr/>
          <p:nvPr/>
        </p:nvSpPr>
        <p:spPr>
          <a:xfrm>
            <a:off x="3810000" y="3225800"/>
            <a:ext cx="38100" cy="38100"/>
          </a:xfrm>
          <a:prstGeom prst="rect">
            <a:avLst/>
          </a:prstGeom>
          <a:solidFill>
            <a:srgbClr val="65758A"/>
          </a:solidFill>
          <a:ln>
            <a:noFill/>
          </a:ln>
          <a:effectLst/>
        </p:spPr>
        <p:txBody>
          <a:bodyPr rtlCol="0" anchor="ctr"/>
          <a:lstStyle/>
          <a:p>
            <a:pPr algn="ctr"/>
            <a:endParaRPr/>
          </a:p>
        </p:txBody>
      </p:sp>
      <p:sp>
        <p:nvSpPr>
          <p:cNvPr id="20" name="TextBox 19"/>
          <p:cNvSpPr txBox="1"/>
          <p:nvPr/>
        </p:nvSpPr>
        <p:spPr>
          <a:xfrm>
            <a:off x="4000500" y="3136900"/>
            <a:ext cx="4762500" cy="622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플래시탱크 연계: </a:t>
            </a:r>
            <a:r>
              <a:rPr lang="ko-KR" sz="1400" b="0" dirty="0" err="1">
                <a:solidFill>
                  <a:srgbClr val="262626"/>
                </a:solidFill>
                <a:latin typeface="Malgun Gothic"/>
                <a:ea typeface="Malgun Gothic"/>
                <a:cs typeface="Malgun Gothic"/>
              </a:rPr>
              <a:t>가열수·증기를</a:t>
            </a:r>
            <a:r>
              <a:rPr lang="ko-KR" sz="1400" b="0" dirty="0">
                <a:solidFill>
                  <a:srgbClr val="262626"/>
                </a:solidFill>
                <a:latin typeface="Malgun Gothic"/>
                <a:ea typeface="Malgun Gothic"/>
                <a:cs typeface="Malgun Gothic"/>
              </a:rPr>
              <a:t> 보내 </a:t>
            </a:r>
            <a:r>
              <a:rPr lang="ko-KR" sz="1400" b="0" dirty="0" err="1">
                <a:solidFill>
                  <a:srgbClr val="262626"/>
                </a:solidFill>
                <a:latin typeface="Malgun Gothic"/>
                <a:ea typeface="Malgun Gothic"/>
                <a:cs typeface="Malgun Gothic"/>
              </a:rPr>
              <a:t>상분리</a:t>
            </a:r>
            <a:r>
              <a:rPr lang="ko-KR" altLang="ko-KR" sz="1400" b="0" dirty="0">
                <a:solidFill>
                  <a:srgbClr val="262626"/>
                </a:solidFill>
                <a:latin typeface="Malgun Gothic"/>
                <a:ea typeface="Malgun Gothic"/>
                <a:cs typeface="Malgun Gothic"/>
              </a:rPr>
              <a:t> </a:t>
            </a: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대용량</a:t>
            </a:r>
            <a:r>
              <a:rPr lang="ko-KR" altLang="ko-KR" sz="140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산업용에 적합</a:t>
            </a:r>
            <a:r>
              <a:rPr lang="ko-KR" altLang="en-US" sz="1400" dirty="0">
                <a:solidFill>
                  <a:srgbClr val="262626"/>
                </a:solidFill>
                <a:latin typeface="Malgun Gothic"/>
                <a:ea typeface="Malgun Gothic"/>
                <a:cs typeface="Malgun Gothic"/>
              </a:rPr>
              <a:t>한 구성</a:t>
            </a:r>
            <a:endParaRPr lang="ko-KR" sz="1350" b="0" dirty="0">
              <a:solidFill>
                <a:srgbClr val="262626"/>
              </a:solidFill>
              <a:latin typeface="Malgun Gothic"/>
              <a:ea typeface="Malgun Gothic"/>
              <a:cs typeface="Malgun Gothic"/>
            </a:endParaRPr>
          </a:p>
        </p:txBody>
      </p:sp>
      <p:sp>
        <p:nvSpPr>
          <p:cNvPr id="21" name="Rectangle 20"/>
          <p:cNvSpPr/>
          <p:nvPr/>
        </p:nvSpPr>
        <p:spPr>
          <a:xfrm>
            <a:off x="3810000" y="4013200"/>
            <a:ext cx="38100" cy="38100"/>
          </a:xfrm>
          <a:prstGeom prst="rect">
            <a:avLst/>
          </a:prstGeom>
          <a:solidFill>
            <a:srgbClr val="65758A"/>
          </a:solidFill>
          <a:ln>
            <a:noFill/>
          </a:ln>
          <a:effectLst/>
        </p:spPr>
        <p:txBody>
          <a:bodyPr rtlCol="0" anchor="ctr"/>
          <a:lstStyle/>
          <a:p>
            <a:pPr algn="ctr"/>
            <a:endParaRPr/>
          </a:p>
        </p:txBody>
      </p:sp>
      <p:sp>
        <p:nvSpPr>
          <p:cNvPr id="22" name="TextBox 21"/>
          <p:cNvSpPr txBox="1"/>
          <p:nvPr/>
        </p:nvSpPr>
        <p:spPr>
          <a:xfrm>
            <a:off x="4000500" y="3924300"/>
            <a:ext cx="4762500" cy="622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이중 용기: 고전압 내조와 외조 사이 절연 공간을</a:t>
            </a:r>
            <a:r>
              <a:rPr lang="ko-KR" altLang="ko-KR" sz="140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두어</a:t>
            </a:r>
            <a:endParaRPr lang="en-US" altLang="ko-KR" sz="13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누설전류·감전</a:t>
            </a:r>
            <a:r>
              <a:rPr lang="ko-KR" sz="1400" b="0" dirty="0">
                <a:solidFill>
                  <a:srgbClr val="262626"/>
                </a:solidFill>
                <a:latin typeface="Malgun Gothic"/>
                <a:ea typeface="Malgun Gothic"/>
                <a:cs typeface="Malgun Gothic"/>
              </a:rPr>
              <a:t> 방지</a:t>
            </a:r>
          </a:p>
        </p:txBody>
      </p:sp>
      <p:graphicFrame>
        <p:nvGraphicFramePr>
          <p:cNvPr id="23" name="Table 22"/>
          <p:cNvGraphicFramePr>
            <a:graphicFrameLocks noGrp="1"/>
          </p:cNvGraphicFramePr>
          <p:nvPr>
            <p:extLst>
              <p:ext uri="{D42A27DB-BD31-4B8C-83A1-F6EECF244321}">
                <p14:modId xmlns:p14="http://schemas.microsoft.com/office/powerpoint/2010/main" val="1667580903"/>
              </p:ext>
            </p:extLst>
          </p:nvPr>
        </p:nvGraphicFramePr>
        <p:xfrm>
          <a:off x="381000" y="4876800"/>
          <a:ext cx="8382000" cy="1473200"/>
        </p:xfrm>
        <a:graphic>
          <a:graphicData uri="http://schemas.openxmlformats.org/drawingml/2006/table">
            <a:tbl>
              <a:tblPr>
                <a:tableStyleId>{5C22544A-7EE6-4342-B048-85BDC9FD1C3A}</a:tableStyleId>
              </a:tblPr>
              <a:tblGrid>
                <a:gridCol w="2117103">
                  <a:extLst>
                    <a:ext uri="{9D8B030D-6E8A-4147-A177-3AD203B41FA5}">
                      <a16:colId xmlns:a16="http://schemas.microsoft.com/office/drawing/2014/main" val="20000"/>
                    </a:ext>
                  </a:extLst>
                </a:gridCol>
                <a:gridCol w="3132448">
                  <a:extLst>
                    <a:ext uri="{9D8B030D-6E8A-4147-A177-3AD203B41FA5}">
                      <a16:colId xmlns:a16="http://schemas.microsoft.com/office/drawing/2014/main" val="20001"/>
                    </a:ext>
                  </a:extLst>
                </a:gridCol>
                <a:gridCol w="3132449">
                  <a:extLst>
                    <a:ext uri="{9D8B030D-6E8A-4147-A177-3AD203B41FA5}">
                      <a16:colId xmlns:a16="http://schemas.microsoft.com/office/drawing/2014/main" val="20002"/>
                    </a:ext>
                  </a:extLst>
                </a:gridCol>
              </a:tblGrid>
              <a:tr h="29464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구분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기존 고정 구조</a:t>
                      </a:r>
                      <a:endParaRPr lang="ko-KR" sz="1200" b="1" dirty="0">
                        <a:solidFill>
                          <a:srgbClr val="1F497D"/>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케이지형 구조</a:t>
                      </a:r>
                      <a:endParaRPr lang="ko-KR" sz="1200" b="1" dirty="0">
                        <a:solidFill>
                          <a:srgbClr val="1F497D"/>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29464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전극 상태</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물속 고정 침지</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상부 </a:t>
                      </a:r>
                      <a:r>
                        <a:rPr lang="ko-KR" altLang="en-US" sz="1200" b="0" dirty="0">
                          <a:solidFill>
                            <a:srgbClr val="262626"/>
                          </a:solidFill>
                          <a:latin typeface="Malgun Gothic"/>
                          <a:ea typeface="Malgun Gothic"/>
                          <a:cs typeface="Malgun Gothic"/>
                        </a:rPr>
                        <a:t>케이지형 구조</a:t>
                      </a:r>
                      <a:r>
                        <a:rPr lang="ko-KR" altLang="ko-KR" sz="1200" b="0" dirty="0">
                          <a:solidFill>
                            <a:srgbClr val="262626"/>
                          </a:solidFill>
                          <a:latin typeface="Malgun Gothic"/>
                          <a:ea typeface="Malgun Gothic"/>
                          <a:cs typeface="Malgun Gothic"/>
                        </a:rPr>
                        <a:t>, </a:t>
                      </a:r>
                      <a:r>
                        <a:rPr lang="ko-KR" altLang="en-US" sz="1200" b="0" dirty="0">
                          <a:solidFill>
                            <a:srgbClr val="262626"/>
                          </a:solidFill>
                          <a:latin typeface="Malgun Gothic"/>
                          <a:ea typeface="Malgun Gothic"/>
                          <a:cs typeface="Malgun Gothic"/>
                        </a:rPr>
                        <a:t>분사형</a:t>
                      </a:r>
                      <a:endParaRPr lang="ko-KR" sz="12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464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출력 제어</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marL="0" marR="0" lvl="0" indent="0" algn="l" defTabSz="457200" rtl="0" eaLnBrk="0" fontAlgn="auto" latinLnBrk="0" hangingPunct="1">
                        <a:lnSpc>
                          <a:spcPct val="115000"/>
                        </a:lnSpc>
                        <a:spcBef>
                          <a:spcPts val="0"/>
                        </a:spcBef>
                        <a:spcAft>
                          <a:spcPts val="0"/>
                        </a:spcAft>
                        <a:buClrTx/>
                        <a:buSzTx/>
                        <a:buFontTx/>
                        <a:buNone/>
                        <a:tabLst/>
                        <a:defRPr sz="1200">
                          <a:latin typeface="Malgun Gothic"/>
                        </a:defRPr>
                      </a:pPr>
                      <a:r>
                        <a:rPr lang="ko-KR" altLang="ko-KR" sz="1200" b="0" dirty="0">
                          <a:solidFill>
                            <a:srgbClr val="262626"/>
                          </a:solidFill>
                          <a:latin typeface="Malgun Gothic"/>
                          <a:ea typeface="Malgun Gothic"/>
                          <a:cs typeface="Malgun Gothic"/>
                        </a:rPr>
                        <a:t>침수 깊이 조절</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marL="0" marR="0" lvl="0" indent="0" algn="l" defTabSz="457200" rtl="0" eaLnBrk="0" fontAlgn="auto" latinLnBrk="0" hangingPunct="1">
                        <a:lnSpc>
                          <a:spcPct val="115000"/>
                        </a:lnSpc>
                        <a:spcBef>
                          <a:spcPts val="0"/>
                        </a:spcBef>
                        <a:spcAft>
                          <a:spcPts val="0"/>
                        </a:spcAft>
                        <a:buClrTx/>
                        <a:buSzTx/>
                        <a:buFontTx/>
                        <a:buNone/>
                        <a:tabLst/>
                        <a:defRPr sz="1200">
                          <a:latin typeface="Malgun Gothic"/>
                        </a:defRPr>
                      </a:pPr>
                      <a:r>
                        <a:rPr lang="ko-KR" altLang="ko-KR" sz="1200" b="0" dirty="0" err="1">
                          <a:solidFill>
                            <a:srgbClr val="262626"/>
                          </a:solidFill>
                          <a:latin typeface="Malgun Gothic"/>
                          <a:ea typeface="Malgun Gothic"/>
                          <a:cs typeface="Malgun Gothic"/>
                        </a:rPr>
                        <a:t>유량·분사량</a:t>
                      </a:r>
                      <a:r>
                        <a:rPr lang="ko-KR" altLang="ko-KR" sz="1200" b="0" dirty="0">
                          <a:solidFill>
                            <a:srgbClr val="262626"/>
                          </a:solidFill>
                          <a:latin typeface="Malgun Gothic"/>
                          <a:ea typeface="Malgun Gothic"/>
                          <a:cs typeface="Malgun Gothic"/>
                        </a:rPr>
                        <a:t> 조절</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371968312"/>
                  </a:ext>
                </a:extLst>
              </a:tr>
              <a:tr h="29464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a:solidFill>
                            <a:srgbClr val="1F497D"/>
                          </a:solidFill>
                          <a:latin typeface="Malgun Gothic"/>
                          <a:ea typeface="Malgun Gothic"/>
                          <a:cs typeface="Malgun Gothic"/>
                        </a:rPr>
                        <a:t>물</a:t>
                      </a:r>
                      <a:r>
                        <a:rPr lang="ko-KR" altLang="en-US" sz="1200" b="1" dirty="0">
                          <a:solidFill>
                            <a:srgbClr val="1F497D"/>
                          </a:solidFill>
                          <a:latin typeface="Malgun Gothic"/>
                          <a:ea typeface="Malgun Gothic"/>
                          <a:cs typeface="Malgun Gothic"/>
                        </a:rPr>
                        <a:t>의 상태</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탱크 전체 충수</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하단 일부 충수</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464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안전 구조</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marL="0" marR="0" lvl="0" indent="0" algn="l" defTabSz="457200" rtl="0" eaLnBrk="0" fontAlgn="auto" latinLnBrk="0" hangingPunct="1">
                        <a:lnSpc>
                          <a:spcPct val="115000"/>
                        </a:lnSpc>
                        <a:spcBef>
                          <a:spcPts val="0"/>
                        </a:spcBef>
                        <a:spcAft>
                          <a:spcPts val="0"/>
                        </a:spcAft>
                        <a:buClrTx/>
                        <a:buSzTx/>
                        <a:buFontTx/>
                        <a:buNone/>
                        <a:tabLst/>
                        <a:defRPr sz="1200">
                          <a:latin typeface="Malgun Gothic"/>
                        </a:defRPr>
                      </a:pPr>
                      <a:r>
                        <a:rPr lang="ko-KR" altLang="ko-KR" sz="1200" b="0" dirty="0">
                          <a:solidFill>
                            <a:srgbClr val="262626"/>
                          </a:solidFill>
                          <a:latin typeface="Malgun Gothic"/>
                          <a:ea typeface="Malgun Gothic"/>
                          <a:cs typeface="Malgun Gothic"/>
                        </a:rPr>
                        <a:t>동심 </a:t>
                      </a:r>
                      <a:r>
                        <a:rPr lang="ko-KR" altLang="ko-KR" sz="1200" b="0" dirty="0" err="1">
                          <a:solidFill>
                            <a:srgbClr val="262626"/>
                          </a:solidFill>
                          <a:latin typeface="Malgun Gothic"/>
                          <a:ea typeface="Malgun Gothic"/>
                          <a:cs typeface="Malgun Gothic"/>
                        </a:rPr>
                        <a:t>N상</a:t>
                      </a:r>
                      <a:r>
                        <a:rPr lang="ko-KR" altLang="ko-KR" sz="1200" b="0" dirty="0">
                          <a:solidFill>
                            <a:srgbClr val="262626"/>
                          </a:solidFill>
                          <a:latin typeface="Malgun Gothic"/>
                          <a:ea typeface="Malgun Gothic"/>
                          <a:cs typeface="Malgun Gothic"/>
                        </a:rPr>
                        <a:t> 파이프</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marL="0" marR="0" lvl="0" indent="0" algn="l" defTabSz="457200" rtl="0" eaLnBrk="0" fontAlgn="auto" latinLnBrk="0" hangingPunct="1">
                        <a:lnSpc>
                          <a:spcPct val="115000"/>
                        </a:lnSpc>
                        <a:spcBef>
                          <a:spcPts val="0"/>
                        </a:spcBef>
                        <a:spcAft>
                          <a:spcPts val="0"/>
                        </a:spcAft>
                        <a:buClrTx/>
                        <a:buSzTx/>
                        <a:buFontTx/>
                        <a:buNone/>
                        <a:tabLst/>
                        <a:defRPr sz="1200">
                          <a:latin typeface="Malgun Gothic"/>
                        </a:defRPr>
                      </a:pPr>
                      <a:r>
                        <a:rPr lang="ko-KR" altLang="ko-KR" sz="1200" b="0" dirty="0">
                          <a:solidFill>
                            <a:srgbClr val="262626"/>
                          </a:solidFill>
                          <a:latin typeface="Malgun Gothic"/>
                          <a:ea typeface="Malgun Gothic"/>
                          <a:cs typeface="Malgun Gothic"/>
                        </a:rPr>
                        <a:t>이중 용기</a:t>
                      </a:r>
                      <a:r>
                        <a:rPr lang="ko-KR" altLang="ko-KR" sz="1200" b="0" dirty="0">
                          <a:solidFill>
                            <a:srgbClr val="262626"/>
                          </a:solidFill>
                          <a:latin typeface="Malgun Gothic"/>
                          <a:ea typeface="Malgun Gothic"/>
                          <a:cs typeface="Malgun Gothic"/>
                        </a:rPr>
                        <a:t>(</a:t>
                      </a:r>
                      <a:r>
                        <a:rPr lang="ko-KR" altLang="ko-KR" sz="1200" b="0" dirty="0">
                          <a:solidFill>
                            <a:srgbClr val="262626"/>
                          </a:solidFill>
                          <a:latin typeface="Malgun Gothic"/>
                          <a:ea typeface="Malgun Gothic"/>
                          <a:cs typeface="Malgun Gothic"/>
                        </a:rPr>
                        <a:t>내/외조</a:t>
                      </a:r>
                      <a:r>
                        <a:rPr lang="ko-KR" altLang="ko-KR" sz="1200" b="0" dirty="0">
                          <a:solidFill>
                            <a:srgbClr val="262626"/>
                          </a:solidFill>
                          <a:latin typeface="Malgun Gothic"/>
                          <a:ea typeface="Malgun Gothic"/>
                          <a:cs typeface="Malgun Gothic"/>
                        </a:rPr>
                        <a:t>)</a:t>
                      </a:r>
                      <a:endParaRPr lang="ko-KR" altLang="ko-KR" sz="1200" b="0" dirty="0">
                        <a:solidFill>
                          <a:srgbClr val="262626"/>
                        </a:solidFill>
                        <a:latin typeface="+mn-lt"/>
                        <a:ea typeface="Malgun Gothic"/>
                        <a:cs typeface="+mn-cs"/>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262940276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보일러수 순환과 전도도</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29</a:t>
            </a:r>
          </a:p>
        </p:txBody>
      </p:sp>
      <p:sp>
        <p:nvSpPr>
          <p:cNvPr id="23" name="Image area"/>
          <p:cNvSpPr/>
          <p:nvPr/>
        </p:nvSpPr>
        <p:spPr>
          <a:xfrm>
            <a:off x="381000" y="1066800"/>
            <a:ext cx="5143500" cy="2895600"/>
          </a:xfrm>
          <a:prstGeom prst="rect">
            <a:avLst/>
          </a:prstGeom>
          <a:solidFill>
            <a:srgbClr val="F5F6F8"/>
          </a:solidFill>
          <a:ln>
            <a:noFill/>
          </a:ln>
        </p:spPr>
        <p:txBody>
          <a:bodyPr rtlCol="0" anchor="ctr"/>
          <a:lstStyle/>
          <a:p>
            <a:pPr algn="ctr"/>
          </a:p>
        </p:txBody>
      </p:sp>
      <p:pic>
        <p:nvPicPr>
          <p:cNvPr id="11" name="Picture 10" descr="p31_0.jpeg"/>
          <p:cNvPicPr>
            <a:picLocks noChangeAspect="1"/>
          </p:cNvPicPr>
          <p:nvPr/>
        </p:nvPicPr>
        <p:blipFill>
          <a:blip r:embed="rId4"/>
          <a:stretch>
            <a:fillRect/>
          </a:stretch>
        </p:blipFill>
        <p:spPr>
          <a:xfrm>
            <a:off x="381000" y="1082839"/>
            <a:ext cx="5143500" cy="2863520"/>
          </a:xfrm>
          <a:prstGeom prst="rect">
            <a:avLst/>
          </a:prstGeom>
          <a:effectLst/>
        </p:spPr>
      </p:pic>
      <p:sp>
        <p:nvSpPr>
          <p:cNvPr id="12" name="Rectangle 11"/>
          <p:cNvSpPr/>
          <p:nvPr/>
        </p:nvSpPr>
        <p:spPr>
          <a:xfrm>
            <a:off x="5753100" y="1066800"/>
            <a:ext cx="3009900" cy="13335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5753100" y="1066800"/>
            <a:ext cx="24371" cy="13335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5905500" y="1206500"/>
            <a:ext cx="2705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순환 목적 ①</a:t>
            </a:r>
          </a:p>
        </p:txBody>
      </p:sp>
      <p:sp>
        <p:nvSpPr>
          <p:cNvPr id="15" name="TextBox 14"/>
          <p:cNvSpPr txBox="1"/>
          <p:nvPr/>
        </p:nvSpPr>
        <p:spPr>
          <a:xfrm>
            <a:off x="5905500" y="1676400"/>
            <a:ext cx="2705100" cy="6477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물속 염분을 고르게 </a:t>
            </a:r>
            <a:r>
              <a:rPr lang="ko-KR" sz="1400" b="0" dirty="0" err="1">
                <a:solidFill>
                  <a:srgbClr val="262626"/>
                </a:solidFill>
                <a:latin typeface="Malgun Gothic"/>
                <a:ea typeface="Malgun Gothic"/>
                <a:cs typeface="Malgun Gothic"/>
              </a:rPr>
              <a:t>분포시켜</a:t>
            </a:r>
            <a:endParaRPr lang="ko-KR" sz="150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증기 생산에 필요한</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물의 전도성을 높임</a:t>
            </a:r>
          </a:p>
        </p:txBody>
      </p:sp>
      <p:sp>
        <p:nvSpPr>
          <p:cNvPr id="16" name="Rectangle 15"/>
          <p:cNvSpPr/>
          <p:nvPr/>
        </p:nvSpPr>
        <p:spPr>
          <a:xfrm>
            <a:off x="5753100" y="2628900"/>
            <a:ext cx="3009900" cy="1333500"/>
          </a:xfrm>
          <a:prstGeom prst="rect">
            <a:avLst/>
          </a:prstGeom>
          <a:solidFill>
            <a:srgbClr val="FFFFFF"/>
          </a:solidFill>
          <a:ln w="7620">
            <a:solidFill>
              <a:srgbClr val="DEE3E8"/>
            </a:solidFill>
          </a:ln>
          <a:effectLst/>
        </p:spPr>
        <p:txBody>
          <a:bodyPr rtlCol="0" anchor="ctr"/>
          <a:lstStyle/>
          <a:p>
            <a:pPr algn="ctr"/>
            <a:endParaRPr/>
          </a:p>
        </p:txBody>
      </p:sp>
      <p:sp>
        <p:nvSpPr>
          <p:cNvPr id="17" name="Rectangle 16"/>
          <p:cNvSpPr/>
          <p:nvPr/>
        </p:nvSpPr>
        <p:spPr>
          <a:xfrm>
            <a:off x="5753100" y="2628900"/>
            <a:ext cx="24371" cy="13335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5905500" y="2781300"/>
            <a:ext cx="2705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순환 목적 ②</a:t>
            </a:r>
          </a:p>
        </p:txBody>
      </p:sp>
      <p:sp>
        <p:nvSpPr>
          <p:cNvPr id="19" name="TextBox 18"/>
          <p:cNvSpPr txBox="1"/>
          <p:nvPr/>
        </p:nvSpPr>
        <p:spPr>
          <a:xfrm>
            <a:off x="5905500" y="3251200"/>
            <a:ext cx="2705100" cy="622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전극의 증기 기포를 제거하여</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전극의 작동조건을 개선</a:t>
            </a:r>
          </a:p>
        </p:txBody>
      </p:sp>
      <p:sp>
        <p:nvSpPr>
          <p:cNvPr id="20" name="Rectangle 19"/>
          <p:cNvSpPr/>
          <p:nvPr/>
        </p:nvSpPr>
        <p:spPr>
          <a:xfrm>
            <a:off x="381000" y="4699000"/>
            <a:ext cx="8382000" cy="1498600"/>
          </a:xfrm>
          <a:prstGeom prst="rect">
            <a:avLst/>
          </a:prstGeom>
          <a:solidFill>
            <a:srgbClr val="F3F5F7"/>
          </a:solidFill>
          <a:ln>
            <a:noFill/>
          </a:ln>
          <a:effectLst/>
        </p:spPr>
        <p:txBody>
          <a:bodyPr rtlCol="0" anchor="ctr"/>
          <a:lstStyle/>
          <a:p>
            <a:pPr algn="ctr"/>
            <a:endParaRPr/>
          </a:p>
        </p:txBody>
      </p:sp>
      <p:sp>
        <p:nvSpPr>
          <p:cNvPr id="21" name="Rectangle 20"/>
          <p:cNvSpPr/>
          <p:nvPr/>
        </p:nvSpPr>
        <p:spPr>
          <a:xfrm>
            <a:off x="381000" y="4699000"/>
            <a:ext cx="25400" cy="1498600"/>
          </a:xfrm>
          <a:prstGeom prst="rect">
            <a:avLst/>
          </a:prstGeom>
          <a:solidFill>
            <a:srgbClr val="65758A"/>
          </a:solidFill>
          <a:ln>
            <a:noFill/>
          </a:ln>
          <a:effectLst/>
        </p:spPr>
        <p:txBody>
          <a:bodyPr rtlCol="0" anchor="ctr"/>
          <a:lstStyle/>
          <a:p>
            <a:pPr algn="ctr"/>
            <a:endParaRPr/>
          </a:p>
        </p:txBody>
      </p:sp>
      <p:sp>
        <p:nvSpPr>
          <p:cNvPr id="22" name="TextBox 21"/>
          <p:cNvSpPr txBox="1"/>
          <p:nvPr/>
        </p:nvSpPr>
        <p:spPr>
          <a:xfrm>
            <a:off x="546100" y="4889500"/>
            <a:ext cx="8051800" cy="11176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1F497D"/>
                </a:solidFill>
                <a:latin typeface="Malgun Gothic"/>
                <a:ea typeface="Malgun Gothic"/>
                <a:cs typeface="Malgun Gothic"/>
              </a:rPr>
              <a:t>보일러 출력은 내실의 수위와 물의 전도도에 따라 달라</a:t>
            </a:r>
            <a:r>
              <a:rPr lang="ko-KR" altLang="en-US" sz="1400" b="0" dirty="0">
                <a:solidFill>
                  <a:srgbClr val="1F497D"/>
                </a:solidFill>
                <a:latin typeface="Malgun Gothic"/>
                <a:ea typeface="Malgun Gothic"/>
                <a:cs typeface="Malgun Gothic"/>
              </a:rPr>
              <a:t>짐</a:t>
            </a:r>
            <a:endParaRPr lang="ko-KR" sz="1600" b="0" dirty="0">
              <a:solidFill>
                <a:srgbClr val="1F497D"/>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1F497D"/>
                </a:solidFill>
                <a:latin typeface="Malgun Gothic"/>
                <a:ea typeface="Malgun Gothic"/>
                <a:cs typeface="Malgun Gothic"/>
              </a:rPr>
              <a:t>전도도는 염분 함량과 관련됨</a:t>
            </a:r>
            <a:endParaRPr lang="en-US" altLang="ko-KR" sz="1600" b="0" dirty="0">
              <a:solidFill>
                <a:srgbClr val="1F497D"/>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altLang="en-US" sz="1400" b="0" dirty="0">
                <a:solidFill>
                  <a:srgbClr val="1F497D"/>
                </a:solidFill>
                <a:latin typeface="Malgun Gothic"/>
                <a:ea typeface="Malgun Gothic"/>
                <a:cs typeface="Malgun Gothic"/>
              </a:rPr>
              <a:t>보일러수의 염분 함량을 높이려면 화학 약품을 첨가하여 염분 함량을 높임</a:t>
            </a:r>
            <a:endParaRPr lang="en-US" altLang="ko-KR" sz="1600" b="0" dirty="0">
              <a:solidFill>
                <a:srgbClr val="1F497D"/>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endParaRPr lang="ko-KR" sz="1600" b="0" dirty="0">
              <a:solidFill>
                <a:srgbClr val="1F497D"/>
              </a:solidFill>
              <a:latin typeface="Malgun Gothic"/>
              <a:ea typeface="Malgun Gothic"/>
              <a:cs typeface="Malgun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플래시탱크 </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30</a:t>
            </a:r>
          </a:p>
        </p:txBody>
      </p:sp>
      <p:sp>
        <p:nvSpPr>
          <p:cNvPr id="19" name="Image area"/>
          <p:cNvSpPr/>
          <p:nvPr/>
        </p:nvSpPr>
        <p:spPr>
          <a:xfrm>
            <a:off x="1092200" y="1066800"/>
            <a:ext cx="6959600" cy="3810000"/>
          </a:xfrm>
          <a:prstGeom prst="rect">
            <a:avLst/>
          </a:prstGeom>
          <a:solidFill>
            <a:srgbClr val="F5F6F8"/>
          </a:solidFill>
          <a:ln>
            <a:noFill/>
          </a:ln>
        </p:spPr>
        <p:txBody>
          <a:bodyPr rtlCol="0" anchor="ctr"/>
          <a:lstStyle/>
          <a:p>
            <a:pPr algn="ctr"/>
          </a:p>
        </p:txBody>
      </p:sp>
      <p:pic>
        <p:nvPicPr>
          <p:cNvPr id="11" name="Picture 10" descr="p32_0.jpeg"/>
          <p:cNvPicPr>
            <a:picLocks noChangeAspect="1"/>
          </p:cNvPicPr>
          <p:nvPr/>
        </p:nvPicPr>
        <p:blipFill>
          <a:blip r:embed="rId4"/>
          <a:stretch>
            <a:fillRect/>
          </a:stretch>
        </p:blipFill>
        <p:spPr>
          <a:xfrm>
            <a:off x="1103770" y="1066800"/>
            <a:ext cx="6936459" cy="3810000"/>
          </a:xfrm>
          <a:prstGeom prst="rect">
            <a:avLst/>
          </a:prstGeom>
          <a:effectLst/>
        </p:spPr>
      </p:pic>
      <p:sp>
        <p:nvSpPr>
          <p:cNvPr id="16" name="Rectangle 15"/>
          <p:cNvSpPr/>
          <p:nvPr/>
        </p:nvSpPr>
        <p:spPr>
          <a:xfrm>
            <a:off x="381000" y="5118100"/>
            <a:ext cx="8382000" cy="1117600"/>
          </a:xfrm>
          <a:prstGeom prst="rect">
            <a:avLst/>
          </a:prstGeom>
          <a:solidFill>
            <a:srgbClr val="F3F5F7"/>
          </a:solidFill>
          <a:ln>
            <a:noFill/>
          </a:ln>
          <a:effectLst/>
        </p:spPr>
        <p:txBody>
          <a:bodyPr rtlCol="0" anchor="ctr"/>
          <a:lstStyle/>
          <a:p>
            <a:pPr algn="ctr"/>
            <a:endParaRPr/>
          </a:p>
        </p:txBody>
      </p:sp>
      <p:sp>
        <p:nvSpPr>
          <p:cNvPr id="17" name="Rectangle 16"/>
          <p:cNvSpPr/>
          <p:nvPr/>
        </p:nvSpPr>
        <p:spPr>
          <a:xfrm>
            <a:off x="381000" y="5118100"/>
            <a:ext cx="25400" cy="11176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546100" y="5359400"/>
            <a:ext cx="8051800" cy="6350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1F497D"/>
                </a:solidFill>
                <a:latin typeface="Malgun Gothic"/>
                <a:ea typeface="Malgun Gothic"/>
                <a:cs typeface="Malgun Gothic"/>
              </a:rPr>
              <a:t>내부 용기의 내용물을 플래시탱크로 보내고</a:t>
            </a:r>
            <a:r>
              <a:rPr lang="ko-KR" altLang="ko-KR" sz="1400" b="0" dirty="0">
                <a:solidFill>
                  <a:srgbClr val="1F497D"/>
                </a:solidFill>
                <a:latin typeface="Malgun Gothic"/>
                <a:ea typeface="Malgun Gothic"/>
                <a:cs typeface="Malgun Gothic"/>
              </a:rPr>
              <a:t>,</a:t>
            </a:r>
            <a:endParaRPr lang="ko-KR" sz="1600" b="0" dirty="0">
              <a:solidFill>
                <a:srgbClr val="1F497D"/>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1F497D"/>
                </a:solidFill>
                <a:latin typeface="Malgun Gothic"/>
                <a:ea typeface="Malgun Gothic"/>
                <a:cs typeface="Malgun Gothic"/>
              </a:rPr>
              <a:t>플래시탱크에서 증기와 물을 분리한다.</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출력 증가 · 내실 수위 상승</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31</a:t>
            </a:r>
          </a:p>
        </p:txBody>
      </p:sp>
      <p:sp>
        <p:nvSpPr>
          <p:cNvPr id="30" name="Image area"/>
          <p:cNvSpPr/>
          <p:nvPr/>
        </p:nvSpPr>
        <p:spPr>
          <a:xfrm>
            <a:off x="1092200" y="1066800"/>
            <a:ext cx="6959600" cy="3810000"/>
          </a:xfrm>
          <a:prstGeom prst="rect">
            <a:avLst/>
          </a:prstGeom>
          <a:solidFill>
            <a:srgbClr val="F5F6F8"/>
          </a:solidFill>
          <a:ln>
            <a:noFill/>
          </a:ln>
        </p:spPr>
        <p:txBody>
          <a:bodyPr rtlCol="0" anchor="ctr"/>
          <a:lstStyle/>
          <a:p>
            <a:pPr algn="ctr"/>
          </a:p>
        </p:txBody>
      </p:sp>
      <p:pic>
        <p:nvPicPr>
          <p:cNvPr id="11" name="Picture 10" descr="p33_0.jpeg"/>
          <p:cNvPicPr>
            <a:picLocks noChangeAspect="1"/>
          </p:cNvPicPr>
          <p:nvPr/>
        </p:nvPicPr>
        <p:blipFill>
          <a:blip r:embed="rId4"/>
          <a:stretch>
            <a:fillRect/>
          </a:stretch>
        </p:blipFill>
        <p:spPr>
          <a:xfrm>
            <a:off x="1092644" y="1066800"/>
            <a:ext cx="6958711" cy="3810000"/>
          </a:xfrm>
          <a:prstGeom prst="rect">
            <a:avLst/>
          </a:prstGeom>
          <a:effectLst/>
        </p:spPr>
      </p:pic>
      <p:sp>
        <p:nvSpPr>
          <p:cNvPr id="20" name="Rectangle 19"/>
          <p:cNvSpPr/>
          <p:nvPr/>
        </p:nvSpPr>
        <p:spPr>
          <a:xfrm>
            <a:off x="381000" y="5118100"/>
            <a:ext cx="2633133" cy="1117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1" name="TextBox 20"/>
          <p:cNvSpPr txBox="1"/>
          <p:nvPr/>
        </p:nvSpPr>
        <p:spPr>
          <a:xfrm>
            <a:off x="482600" y="52578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밸브 동시 조작</a:t>
            </a:r>
          </a:p>
        </p:txBody>
      </p:sp>
      <p:sp>
        <p:nvSpPr>
          <p:cNvPr id="22" name="TextBox 21"/>
          <p:cNvSpPr txBox="1"/>
          <p:nvPr/>
        </p:nvSpPr>
        <p:spPr>
          <a:xfrm>
            <a:off x="482600" y="5753100"/>
            <a:ext cx="2429933" cy="3683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순환 쪽 열기 / </a:t>
            </a:r>
            <a:r>
              <a:rPr lang="ko-KR" altLang="en-US" sz="1400" b="0" dirty="0">
                <a:solidFill>
                  <a:srgbClr val="262626"/>
                </a:solidFill>
                <a:latin typeface="Malgun Gothic"/>
                <a:ea typeface="Malgun Gothic"/>
                <a:cs typeface="Malgun Gothic"/>
              </a:rPr>
              <a:t>용기 </a:t>
            </a:r>
            <a:r>
              <a:rPr lang="ko-KR" sz="1400" b="0" dirty="0">
                <a:solidFill>
                  <a:srgbClr val="262626"/>
                </a:solidFill>
                <a:latin typeface="Malgun Gothic"/>
                <a:ea typeface="Malgun Gothic"/>
                <a:cs typeface="Malgun Gothic"/>
              </a:rPr>
              <a:t>하단 닫기</a:t>
            </a:r>
          </a:p>
        </p:txBody>
      </p:sp>
      <p:sp>
        <p:nvSpPr>
          <p:cNvPr id="23" name="TextBox 22"/>
          <p:cNvSpPr txBox="1"/>
          <p:nvPr/>
        </p:nvSpPr>
        <p:spPr>
          <a:xfrm>
            <a:off x="3014133" y="54483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4" name="Rectangle 23"/>
          <p:cNvSpPr/>
          <p:nvPr/>
        </p:nvSpPr>
        <p:spPr>
          <a:xfrm>
            <a:off x="3255433" y="5118100"/>
            <a:ext cx="2633133" cy="1117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5" name="TextBox 24"/>
          <p:cNvSpPr txBox="1"/>
          <p:nvPr/>
        </p:nvSpPr>
        <p:spPr>
          <a:xfrm>
            <a:off x="3357033" y="52578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내실 수위 상승</a:t>
            </a:r>
          </a:p>
        </p:txBody>
      </p:sp>
      <p:sp>
        <p:nvSpPr>
          <p:cNvPr id="26" name="TextBox 25"/>
          <p:cNvSpPr txBox="1"/>
          <p:nvPr/>
        </p:nvSpPr>
        <p:spPr>
          <a:xfrm>
            <a:off x="3357033" y="5753100"/>
            <a:ext cx="2429933" cy="3683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전극의 </a:t>
            </a:r>
            <a:r>
              <a:rPr lang="ko-KR" sz="1400" b="0" dirty="0" err="1">
                <a:solidFill>
                  <a:srgbClr val="262626"/>
                </a:solidFill>
                <a:latin typeface="Malgun Gothic"/>
                <a:ea typeface="Malgun Gothic"/>
                <a:cs typeface="Malgun Gothic"/>
              </a:rPr>
              <a:t>침수량</a:t>
            </a:r>
            <a:r>
              <a:rPr lang="ko-KR" sz="1400" b="0" dirty="0">
                <a:solidFill>
                  <a:srgbClr val="262626"/>
                </a:solidFill>
                <a:latin typeface="Malgun Gothic"/>
                <a:ea typeface="Malgun Gothic"/>
                <a:cs typeface="Malgun Gothic"/>
              </a:rPr>
              <a:t> 증가</a:t>
            </a:r>
          </a:p>
        </p:txBody>
      </p:sp>
      <p:sp>
        <p:nvSpPr>
          <p:cNvPr id="27" name="TextBox 26"/>
          <p:cNvSpPr txBox="1"/>
          <p:nvPr/>
        </p:nvSpPr>
        <p:spPr>
          <a:xfrm>
            <a:off x="5888566" y="54483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8" name="Rectangle 27"/>
          <p:cNvSpPr/>
          <p:nvPr/>
        </p:nvSpPr>
        <p:spPr>
          <a:xfrm>
            <a:off x="6129866" y="5118100"/>
            <a:ext cx="2633133" cy="1117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9" name="TextBox 28"/>
          <p:cNvSpPr txBox="1"/>
          <p:nvPr/>
        </p:nvSpPr>
        <p:spPr>
          <a:xfrm>
            <a:off x="6231466" y="52578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출력 증가</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출력 감소 · 내실 수위 하강</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32</a:t>
            </a:r>
          </a:p>
        </p:txBody>
      </p:sp>
      <p:sp>
        <p:nvSpPr>
          <p:cNvPr id="41" name="Image area"/>
          <p:cNvSpPr/>
          <p:nvPr/>
        </p:nvSpPr>
        <p:spPr>
          <a:xfrm>
            <a:off x="1092200" y="1066800"/>
            <a:ext cx="6959600" cy="3810000"/>
          </a:xfrm>
          <a:prstGeom prst="rect">
            <a:avLst/>
          </a:prstGeom>
          <a:solidFill>
            <a:srgbClr val="F5F6F8"/>
          </a:solidFill>
          <a:ln>
            <a:noFill/>
          </a:ln>
        </p:spPr>
        <p:txBody>
          <a:bodyPr rtlCol="0" anchor="ctr"/>
          <a:lstStyle/>
          <a:p>
            <a:pPr algn="ctr"/>
          </a:p>
        </p:txBody>
      </p:sp>
      <p:pic>
        <p:nvPicPr>
          <p:cNvPr id="11" name="Picture 10" descr="p34_0.jpeg"/>
          <p:cNvPicPr>
            <a:picLocks noChangeAspect="1"/>
          </p:cNvPicPr>
          <p:nvPr/>
        </p:nvPicPr>
        <p:blipFill>
          <a:blip r:embed="rId4"/>
          <a:stretch>
            <a:fillRect/>
          </a:stretch>
        </p:blipFill>
        <p:spPr>
          <a:xfrm>
            <a:off x="1092200" y="1073727"/>
            <a:ext cx="6959600" cy="3796144"/>
          </a:xfrm>
          <a:prstGeom prst="rect">
            <a:avLst/>
          </a:prstGeom>
          <a:effectLst/>
        </p:spPr>
      </p:pic>
      <p:sp>
        <p:nvSpPr>
          <p:cNvPr id="31" name="Rectangle 19">
            <a:extLst>
              <a:ext uri="{FF2B5EF4-FFF2-40B4-BE49-F238E27FC236}">
                <a16:creationId xmlns:a16="http://schemas.microsoft.com/office/drawing/2014/main" id="{7D4816D5-44D3-46FD-BCFE-ADD14E40ADD1}"/>
              </a:ext>
            </a:extLst>
          </p:cNvPr>
          <p:cNvSpPr/>
          <p:nvPr/>
        </p:nvSpPr>
        <p:spPr>
          <a:xfrm>
            <a:off x="381000" y="5118100"/>
            <a:ext cx="2633133" cy="1117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32" name="TextBox 31">
            <a:extLst>
              <a:ext uri="{FF2B5EF4-FFF2-40B4-BE49-F238E27FC236}">
                <a16:creationId xmlns:a16="http://schemas.microsoft.com/office/drawing/2014/main" id="{80C1ADDF-C928-4534-B8C2-78BEE940BB05}"/>
              </a:ext>
            </a:extLst>
          </p:cNvPr>
          <p:cNvSpPr txBox="1"/>
          <p:nvPr/>
        </p:nvSpPr>
        <p:spPr>
          <a:xfrm>
            <a:off x="482600" y="52578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밸브 동시 조작</a:t>
            </a:r>
          </a:p>
        </p:txBody>
      </p:sp>
      <p:sp>
        <p:nvSpPr>
          <p:cNvPr id="33" name="TextBox 32">
            <a:extLst>
              <a:ext uri="{FF2B5EF4-FFF2-40B4-BE49-F238E27FC236}">
                <a16:creationId xmlns:a16="http://schemas.microsoft.com/office/drawing/2014/main" id="{9C2AF388-2BCB-453C-A644-9A332DCE7362}"/>
              </a:ext>
            </a:extLst>
          </p:cNvPr>
          <p:cNvSpPr txBox="1"/>
          <p:nvPr/>
        </p:nvSpPr>
        <p:spPr>
          <a:xfrm>
            <a:off x="482600" y="5753100"/>
            <a:ext cx="2429933" cy="3683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순환</a:t>
            </a:r>
            <a:r>
              <a:rPr lang="ko-KR"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쪽</a:t>
            </a:r>
            <a:r>
              <a:rPr 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닫</a:t>
            </a:r>
            <a:r>
              <a:rPr lang="ko-KR" sz="1400" b="0" dirty="0">
                <a:solidFill>
                  <a:srgbClr val="262626"/>
                </a:solidFill>
                <a:latin typeface="Malgun Gothic"/>
                <a:ea typeface="Malgun Gothic"/>
                <a:cs typeface="Malgun Gothic"/>
              </a:rPr>
              <a:t>기 / </a:t>
            </a:r>
            <a:r>
              <a:rPr lang="ko-KR" altLang="en-US" sz="1400" b="0" dirty="0">
                <a:solidFill>
                  <a:srgbClr val="262626"/>
                </a:solidFill>
                <a:latin typeface="Malgun Gothic"/>
                <a:ea typeface="Malgun Gothic"/>
                <a:cs typeface="Malgun Gothic"/>
              </a:rPr>
              <a:t>용기 </a:t>
            </a:r>
            <a:r>
              <a:rPr lang="ko-KR" sz="1400" b="0" dirty="0">
                <a:solidFill>
                  <a:srgbClr val="262626"/>
                </a:solidFill>
                <a:latin typeface="Malgun Gothic"/>
                <a:ea typeface="Malgun Gothic"/>
                <a:cs typeface="Malgun Gothic"/>
              </a:rPr>
              <a:t>하단 </a:t>
            </a:r>
            <a:r>
              <a:rPr lang="ko-KR" altLang="en-US" sz="1400" b="0" dirty="0">
                <a:solidFill>
                  <a:srgbClr val="262626"/>
                </a:solidFill>
                <a:latin typeface="Malgun Gothic"/>
                <a:ea typeface="Malgun Gothic"/>
                <a:cs typeface="Malgun Gothic"/>
              </a:rPr>
              <a:t>열</a:t>
            </a:r>
            <a:r>
              <a:rPr lang="ko-KR" sz="1400" b="0" dirty="0">
                <a:solidFill>
                  <a:srgbClr val="262626"/>
                </a:solidFill>
                <a:latin typeface="Malgun Gothic"/>
                <a:ea typeface="Malgun Gothic"/>
                <a:cs typeface="Malgun Gothic"/>
              </a:rPr>
              <a:t>기</a:t>
            </a:r>
          </a:p>
        </p:txBody>
      </p:sp>
      <p:sp>
        <p:nvSpPr>
          <p:cNvPr id="34" name="TextBox 33">
            <a:extLst>
              <a:ext uri="{FF2B5EF4-FFF2-40B4-BE49-F238E27FC236}">
                <a16:creationId xmlns:a16="http://schemas.microsoft.com/office/drawing/2014/main" id="{8DD96772-E518-45B5-832B-064ADB26FCF7}"/>
              </a:ext>
            </a:extLst>
          </p:cNvPr>
          <p:cNvSpPr txBox="1"/>
          <p:nvPr/>
        </p:nvSpPr>
        <p:spPr>
          <a:xfrm>
            <a:off x="3014133" y="54483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35" name="Rectangle 23">
            <a:extLst>
              <a:ext uri="{FF2B5EF4-FFF2-40B4-BE49-F238E27FC236}">
                <a16:creationId xmlns:a16="http://schemas.microsoft.com/office/drawing/2014/main" id="{18E5443B-C8B7-49F0-A61C-38F2399299C1}"/>
              </a:ext>
            </a:extLst>
          </p:cNvPr>
          <p:cNvSpPr/>
          <p:nvPr/>
        </p:nvSpPr>
        <p:spPr>
          <a:xfrm>
            <a:off x="3255433" y="5118100"/>
            <a:ext cx="2633133" cy="1117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36" name="TextBox 35">
            <a:extLst>
              <a:ext uri="{FF2B5EF4-FFF2-40B4-BE49-F238E27FC236}">
                <a16:creationId xmlns:a16="http://schemas.microsoft.com/office/drawing/2014/main" id="{16E5EC81-8B5F-48E5-92DF-7F1B80DAEBEB}"/>
              </a:ext>
            </a:extLst>
          </p:cNvPr>
          <p:cNvSpPr txBox="1"/>
          <p:nvPr/>
        </p:nvSpPr>
        <p:spPr>
          <a:xfrm>
            <a:off x="3357033" y="52578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i="0">
                <a:solidFill>
                  <a:srgbClr val="1F497D"/>
                </a:solidFill>
                <a:latin typeface="Malgun Gothic"/>
                <a:ea typeface="Malgun Gothic"/>
                <a:cs typeface="Malgun Gothic"/>
              </a:rPr>
              <a:t>내실 수위 하강</a:t>
            </a:r>
          </a:p>
        </p:txBody>
      </p:sp>
      <p:sp>
        <p:nvSpPr>
          <p:cNvPr id="37" name="TextBox 36">
            <a:extLst>
              <a:ext uri="{FF2B5EF4-FFF2-40B4-BE49-F238E27FC236}">
                <a16:creationId xmlns:a16="http://schemas.microsoft.com/office/drawing/2014/main" id="{63457A4E-23EF-4D54-9553-99AD0790CC96}"/>
              </a:ext>
            </a:extLst>
          </p:cNvPr>
          <p:cNvSpPr txBox="1"/>
          <p:nvPr/>
        </p:nvSpPr>
        <p:spPr>
          <a:xfrm>
            <a:off x="3357033" y="5753100"/>
            <a:ext cx="2429933" cy="3683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전극의 </a:t>
            </a:r>
            <a:r>
              <a:rPr lang="ko-KR" sz="1400" b="0" dirty="0" err="1">
                <a:solidFill>
                  <a:srgbClr val="262626"/>
                </a:solidFill>
                <a:latin typeface="Malgun Gothic"/>
                <a:ea typeface="Malgun Gothic"/>
                <a:cs typeface="Malgun Gothic"/>
              </a:rPr>
              <a:t>침수량</a:t>
            </a:r>
            <a:r>
              <a:rPr lang="ko-KR" sz="1400" b="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감소</a:t>
            </a:r>
            <a:endParaRPr lang="ko-KR" sz="1300" b="0" dirty="0">
              <a:solidFill>
                <a:srgbClr val="262626"/>
              </a:solidFill>
              <a:latin typeface="Malgun Gothic"/>
              <a:ea typeface="Malgun Gothic"/>
              <a:cs typeface="Malgun Gothic"/>
            </a:endParaRPr>
          </a:p>
        </p:txBody>
      </p:sp>
      <p:sp>
        <p:nvSpPr>
          <p:cNvPr id="38" name="TextBox 37">
            <a:extLst>
              <a:ext uri="{FF2B5EF4-FFF2-40B4-BE49-F238E27FC236}">
                <a16:creationId xmlns:a16="http://schemas.microsoft.com/office/drawing/2014/main" id="{F69C038C-9E3F-4A0E-9475-0CAB067D5C11}"/>
              </a:ext>
            </a:extLst>
          </p:cNvPr>
          <p:cNvSpPr txBox="1"/>
          <p:nvPr/>
        </p:nvSpPr>
        <p:spPr>
          <a:xfrm>
            <a:off x="5888566" y="54483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39" name="Rectangle 27">
            <a:extLst>
              <a:ext uri="{FF2B5EF4-FFF2-40B4-BE49-F238E27FC236}">
                <a16:creationId xmlns:a16="http://schemas.microsoft.com/office/drawing/2014/main" id="{2127FEEA-DC34-47EA-8D16-0D86B8913FE1}"/>
              </a:ext>
            </a:extLst>
          </p:cNvPr>
          <p:cNvSpPr/>
          <p:nvPr/>
        </p:nvSpPr>
        <p:spPr>
          <a:xfrm>
            <a:off x="6129866" y="5118100"/>
            <a:ext cx="2633133" cy="1117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40" name="TextBox 39">
            <a:extLst>
              <a:ext uri="{FF2B5EF4-FFF2-40B4-BE49-F238E27FC236}">
                <a16:creationId xmlns:a16="http://schemas.microsoft.com/office/drawing/2014/main" id="{FA8E48C1-C8D5-4DC4-9C55-17C3E87C74FD}"/>
              </a:ext>
            </a:extLst>
          </p:cNvPr>
          <p:cNvSpPr txBox="1"/>
          <p:nvPr/>
        </p:nvSpPr>
        <p:spPr>
          <a:xfrm>
            <a:off x="6231466" y="52578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출력 </a:t>
            </a:r>
            <a:r>
              <a:rPr lang="ko-KR" altLang="en-US" sz="1800" b="1" dirty="0">
                <a:solidFill>
                  <a:srgbClr val="1F497D"/>
                </a:solidFill>
                <a:latin typeface="Malgun Gothic"/>
                <a:ea typeface="Malgun Gothic"/>
                <a:cs typeface="Malgun Gothic"/>
              </a:rPr>
              <a:t>감소</a:t>
            </a:r>
            <a:endParaRPr lang="ko-KR" sz="1600" b="1" dirty="0">
              <a:solidFill>
                <a:srgbClr val="1F497D"/>
              </a:solidFill>
              <a:latin typeface="Malgun Gothic"/>
              <a:ea typeface="Malgun Gothic"/>
              <a:cs typeface="Malgun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증기 </a:t>
            </a:r>
            <a:r>
              <a:rPr lang="ko-KR" altLang="en-US" sz="2500" b="1" dirty="0">
                <a:solidFill>
                  <a:srgbClr val="1F497D"/>
                </a:solidFill>
                <a:latin typeface="Malgun Gothic"/>
                <a:ea typeface="Malgun Gothic"/>
                <a:cs typeface="Malgun Gothic"/>
              </a:rPr>
              <a:t>건도</a:t>
            </a:r>
            <a:endParaRPr lang="ko-KR" sz="2500" b="1" dirty="0">
              <a:solidFill>
                <a:srgbClr val="1F497D"/>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33</a:t>
            </a:r>
          </a:p>
        </p:txBody>
      </p:sp>
      <p:sp>
        <p:nvSpPr>
          <p:cNvPr id="22"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35_1.jpeg"/>
          <p:cNvPicPr>
            <a:picLocks noChangeAspect="1"/>
          </p:cNvPicPr>
          <p:nvPr/>
        </p:nvPicPr>
        <p:blipFill>
          <a:blip r:embed="rId4"/>
          <a:stretch>
            <a:fillRect/>
          </a:stretch>
        </p:blipFill>
        <p:spPr>
          <a:xfrm>
            <a:off x="381000" y="1146838"/>
            <a:ext cx="4102100" cy="2151322"/>
          </a:xfrm>
          <a:prstGeom prst="rect">
            <a:avLst/>
          </a:prstGeom>
          <a:effectLst/>
        </p:spPr>
      </p:pic>
      <p:sp>
        <p:nvSpPr>
          <p:cNvPr id="12" name="TextBox 11"/>
          <p:cNvSpPr txBox="1"/>
          <p:nvPr/>
        </p:nvSpPr>
        <p:spPr>
          <a:xfrm>
            <a:off x="4660900" y="10668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증기 건도 </a:t>
            </a:r>
          </a:p>
        </p:txBody>
      </p:sp>
      <p:sp>
        <p:nvSpPr>
          <p:cNvPr id="13" name="TextBox 12"/>
          <p:cNvSpPr txBox="1"/>
          <p:nvPr/>
        </p:nvSpPr>
        <p:spPr>
          <a:xfrm>
            <a:off x="4660900" y="1536700"/>
            <a:ext cx="4102100" cy="5842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포화증기 중 기체 상태 증기의 질량 비율</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일부 </a:t>
            </a:r>
            <a:r>
              <a:rPr lang="ko-KR" sz="1400" b="0" dirty="0" err="1">
                <a:solidFill>
                  <a:srgbClr val="262626"/>
                </a:solidFill>
                <a:latin typeface="Malgun Gothic"/>
                <a:ea typeface="Malgun Gothic"/>
                <a:cs typeface="Malgun Gothic"/>
              </a:rPr>
              <a:t>액적</a:t>
            </a:r>
            <a:r>
              <a:rPr lang="ko-KR" sz="1400" b="0" dirty="0">
                <a:solidFill>
                  <a:srgbClr val="262626"/>
                </a:solidFill>
                <a:latin typeface="Malgun Gothic"/>
                <a:ea typeface="Malgun Gothic"/>
                <a:cs typeface="Malgun Gothic"/>
              </a:rPr>
              <a:t>(물방울)이 섞여 있을 수 있음</a:t>
            </a:r>
          </a:p>
        </p:txBody>
      </p:sp>
      <p:sp>
        <p:nvSpPr>
          <p:cNvPr id="14" name="Rectangle 13"/>
          <p:cNvSpPr/>
          <p:nvPr/>
        </p:nvSpPr>
        <p:spPr>
          <a:xfrm>
            <a:off x="4660900" y="2260600"/>
            <a:ext cx="4102100" cy="457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5" name="TextBox 14"/>
          <p:cNvSpPr txBox="1"/>
          <p:nvPr/>
        </p:nvSpPr>
        <p:spPr>
          <a:xfrm>
            <a:off x="4787900" y="2349500"/>
            <a:ext cx="3848100" cy="2921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1">
                <a:solidFill>
                  <a:srgbClr val="1F497D"/>
                </a:solidFill>
                <a:latin typeface="Malgun Gothic"/>
                <a:ea typeface="Malgun Gothic"/>
                <a:cs typeface="Malgun Gothic"/>
              </a:rPr>
              <a:t>x = 증기 질량 / (증기 질량 + 물방울 질량)</a:t>
            </a:r>
          </a:p>
        </p:txBody>
      </p:sp>
      <p:sp>
        <p:nvSpPr>
          <p:cNvPr id="16" name="TextBox 15"/>
          <p:cNvSpPr txBox="1"/>
          <p:nvPr/>
        </p:nvSpPr>
        <p:spPr>
          <a:xfrm>
            <a:off x="4660900" y="2819400"/>
            <a:ext cx="4102100" cy="558800"/>
          </a:xfrm>
          <a:prstGeom prst="rect">
            <a:avLst/>
          </a:prstGeom>
          <a:noFill/>
          <a:effectLst/>
        </p:spPr>
        <p:txBody>
          <a:bodyPr wrap="square" lIns="0" tIns="0" rIns="0" bIns="0" anchor="t">
            <a:noAutofit/>
          </a:bodyPr>
          <a:lstStyle/>
          <a:p>
            <a:pPr>
              <a:lnSpc>
                <a:spcPct val="115000"/>
              </a:lnSpc>
              <a:spcBef>
                <a:spcPts val="0"/>
              </a:spcBef>
              <a:spcAft>
                <a:spcPts val="0"/>
              </a:spcAft>
              <a:defRPr sz="1400">
                <a:latin typeface="Malgun Gothic"/>
              </a:defRPr>
            </a:pPr>
            <a:r>
              <a:rPr sz="1400" lang="ko-KR">
                <a:latin typeface="Malgun Gothic"/>
                <a:ea typeface="Malgun Gothic"/>
                <a:cs typeface="Malgun Gothic"/>
              </a:rPr>
              <a:t>x = 1.0 : 완전 건포화증기</a:t>
            </a:r>
          </a:p>
          <a:p>
            <a:pPr>
              <a:lnSpc>
                <a:spcPct val="115000"/>
              </a:lnSpc>
              <a:spcBef>
                <a:spcPts val="0"/>
              </a:spcBef>
              <a:spcAft>
                <a:spcPts val="0"/>
              </a:spcAft>
              <a:defRPr sz="1400">
                <a:latin typeface="Malgun Gothic"/>
              </a:defRPr>
            </a:pPr>
            <a:r>
              <a:rPr sz="1400" lang="ko-KR">
                <a:latin typeface="Malgun Gothic"/>
                <a:ea typeface="Malgun Gothic"/>
                <a:cs typeface="Malgun Gothic"/>
              </a:rPr>
              <a:t>x = 0.95 : 증기 95%, 물 5%</a:t>
            </a:r>
          </a:p>
        </p:txBody>
      </p:sp>
      <p:graphicFrame>
        <p:nvGraphicFramePr>
          <p:cNvPr id="20" name="Table 19"/>
          <p:cNvGraphicFramePr>
            <a:graphicFrameLocks noGrp="1"/>
          </p:cNvGraphicFramePr>
          <p:nvPr>
            <p:extLst>
              <p:ext uri="{D42A27DB-BD31-4B8C-83A1-F6EECF244321}">
                <p14:modId xmlns:p14="http://schemas.microsoft.com/office/powerpoint/2010/main" val="129433107"/>
              </p:ext>
            </p:extLst>
          </p:nvPr>
        </p:nvGraphicFramePr>
        <p:xfrm>
          <a:off x="381000" y="3594100"/>
          <a:ext cx="8382000" cy="1574800"/>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31496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영향 항목</a:t>
                      </a:r>
                      <a:endParaRPr lang="ko-KR" sz="118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건도 저하 시 영향</a:t>
                      </a:r>
                      <a:endParaRPr lang="ko-KR" sz="1180" b="1" dirty="0">
                        <a:solidFill>
                          <a:srgbClr val="1F497D"/>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1496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a:solidFill>
                            <a:srgbClr val="1F497D"/>
                          </a:solidFill>
                          <a:latin typeface="Malgun Gothic"/>
                          <a:ea typeface="Malgun Gothic"/>
                          <a:cs typeface="Malgun Gothic"/>
                        </a:rPr>
                        <a:t>열전달 효율</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err="1">
                          <a:solidFill>
                            <a:srgbClr val="262626"/>
                          </a:solidFill>
                          <a:latin typeface="Malgun Gothic"/>
                          <a:ea typeface="Malgun Gothic"/>
                          <a:cs typeface="Malgun Gothic"/>
                        </a:rPr>
                        <a:t>물방울 함량이 높으면 실제 사용 가능한 잠열 감소</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496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터빈 블레이드</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err="1">
                          <a:solidFill>
                            <a:srgbClr val="262626"/>
                          </a:solidFill>
                          <a:latin typeface="Malgun Gothic"/>
                          <a:ea typeface="Malgun Gothic"/>
                          <a:cs typeface="Malgun Gothic"/>
                        </a:rPr>
                        <a:t>물방울의 충돌로 터빈 블레이드 침식 유발</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496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공정 품질</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err="1">
                          <a:solidFill>
                            <a:srgbClr val="262626"/>
                          </a:solidFill>
                          <a:latin typeface="Malgun Gothic"/>
                          <a:ea typeface="Malgun Gothic"/>
                          <a:cs typeface="Malgun Gothic"/>
                        </a:rPr>
                        <a:t>제지·섬유·식품</a:t>
                      </a:r>
                      <a:r>
                        <a:rPr lang="ko-KR" sz="1200" b="0" dirty="0">
                          <a:solidFill>
                            <a:srgbClr val="262626"/>
                          </a:solidFill>
                          <a:latin typeface="Malgun Gothic"/>
                          <a:ea typeface="Malgun Gothic"/>
                          <a:cs typeface="Malgun Gothic"/>
                        </a:rPr>
                        <a:t> 등에서 제품 </a:t>
                      </a:r>
                      <a:r>
                        <a:rPr lang="ko-KR" sz="1200" b="0" dirty="0" err="1">
                          <a:solidFill>
                            <a:srgbClr val="262626"/>
                          </a:solidFill>
                          <a:latin typeface="Malgun Gothic"/>
                          <a:ea typeface="Malgun Gothic"/>
                          <a:cs typeface="Malgun Gothic"/>
                        </a:rPr>
                        <a:t>오염·불균일한</a:t>
                      </a:r>
                      <a:r>
                        <a:rPr lang="ko-KR" sz="1200" b="0" dirty="0">
                          <a:solidFill>
                            <a:srgbClr val="262626"/>
                          </a:solidFill>
                          <a:latin typeface="Malgun Gothic"/>
                          <a:ea typeface="Malgun Gothic"/>
                          <a:cs typeface="Malgun Gothic"/>
                        </a:rPr>
                        <a:t> 열처리 원인</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496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배관 수격현상</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과도한 수분 → 응축수 축적 → 수격현상 위험 증가</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1" name="TextBox 20"/>
          <p:cNvSpPr txBox="1"/>
          <p:nvPr/>
        </p:nvSpPr>
        <p:spPr>
          <a:xfrm>
            <a:off x="381000" y="5257800"/>
            <a:ext cx="8382000" cy="1143000"/>
          </a:xfrm>
          <a:prstGeom prst="rect">
            <a:avLst/>
          </a:prstGeom>
          <a:noFill/>
          <a:effectLst/>
        </p:spPr>
        <p:txBody>
          <a:bodyPr wrap="square" lIns="0" tIns="0" rIns="0" bIns="0" anchor="t">
            <a:noAutofit/>
          </a:bodyPr>
          <a:lstStyle/>
          <a:p>
            <a:pPr algn="l" eaLnBrk="0" latinLnBrk="0">
              <a:lnSpc>
                <a:spcPct val="115000"/>
              </a:lnSpc>
              <a:spcBef>
                <a:spcPts val="0"/>
              </a:spcBef>
              <a:spcAft>
                <a:spcPts val="400"/>
              </a:spcAft>
              <a:defRPr sz="1800">
                <a:latin typeface="Malgun Gothic"/>
              </a:defRPr>
            </a:pPr>
            <a:r>
              <a:rPr lang="ko-KR" b="1" dirty="0" sz="1800">
                <a:solidFill>
                  <a:schemeClr val="tx2"/>
                </a:solidFill>
                <a:latin typeface="Malgun Gothic"/>
                <a:ea typeface="Malgun Gothic"/>
                <a:cs typeface="Malgun Gothic"/>
              </a:rPr>
              <a:t>건도 저하 원인</a:t>
            </a:r>
            <a:endParaRPr lang="en-US" altLang="ko-KR" b="1" dirty="0">
              <a:solidFill>
                <a:schemeClr val="tx2"/>
              </a:solidFill>
              <a:latin typeface="Malgun Gothic"/>
              <a:ea typeface="Malgun Gothic"/>
              <a:cs typeface="Malgun Gothic"/>
            </a:endParaRPr>
          </a:p>
          <a:p>
            <a:pPr algn="l" eaLnBrk="0" latinLnBrk="0">
              <a:lnSpc>
                <a:spcPct val="115000"/>
              </a:lnSpc>
              <a:spcBef>
                <a:spcPts val="0"/>
              </a:spcBef>
              <a:spcAft>
                <a:spcPts val="0"/>
              </a:spcAft>
              <a:defRPr sz="1300">
                <a:latin typeface="Malgun Gothic"/>
              </a:defRPr>
            </a:pPr>
            <a:r>
              <a:rPr lang="ko-KR" altLang="ko-KR" sz="1300" b="0" dirty="0">
                <a:solidFill>
                  <a:srgbClr val="262626"/>
                </a:solidFill>
                <a:latin typeface="Malgun Gothic"/>
                <a:ea typeface="Malgun Gothic"/>
                <a:cs typeface="Malgun Gothic"/>
              </a:rPr>
              <a:t>- </a:t>
            </a:r>
            <a:r>
              <a:rPr lang="ko-KR" altLang="ko-KR" sz="1300" dirty="0">
                <a:solidFill>
                  <a:srgbClr val="262626"/>
                </a:solidFill>
                <a:latin typeface="Malgun Gothic"/>
                <a:ea typeface="Malgun Gothic"/>
                <a:cs typeface="Malgun Gothic"/>
              </a:rPr>
              <a:t>Carryover: </a:t>
            </a:r>
            <a:r>
              <a:rPr lang="ko-KR" altLang="en-US" sz="1300" dirty="0">
                <a:solidFill>
                  <a:srgbClr val="262626"/>
                </a:solidFill>
                <a:latin typeface="Malgun Gothic"/>
                <a:ea typeface="Malgun Gothic"/>
                <a:cs typeface="Malgun Gothic"/>
              </a:rPr>
              <a:t>드럼 내 수위가 너무 높거나 </a:t>
            </a:r>
            <a:r>
              <a:rPr lang="ko-KR" altLang="ko-KR" sz="1300" dirty="0">
                <a:solidFill>
                  <a:srgbClr val="262626"/>
                </a:solidFill>
                <a:latin typeface="Malgun Gothic"/>
                <a:ea typeface="Malgun Gothic"/>
                <a:cs typeface="Malgun Gothic"/>
              </a:rPr>
              <a:t>TDS</a:t>
            </a:r>
            <a:r>
              <a:rPr lang="ko-KR" altLang="en-US" sz="1300" dirty="0">
                <a:solidFill>
                  <a:srgbClr val="262626"/>
                </a:solidFill>
                <a:latin typeface="Malgun Gothic"/>
                <a:ea typeface="Malgun Gothic"/>
                <a:cs typeface="Malgun Gothic"/>
              </a:rPr>
              <a:t>가 과다할 때</a:t>
            </a:r>
            <a:r>
              <a:rPr lang="ko-KR" altLang="ko-KR" sz="1300" dirty="0">
                <a:solidFill>
                  <a:srgbClr val="262626"/>
                </a:solidFill>
                <a:latin typeface="Malgun Gothic"/>
                <a:ea typeface="Malgun Gothic"/>
                <a:cs typeface="Malgun Gothic"/>
              </a:rPr>
              <a:t>, </a:t>
            </a:r>
            <a:r>
              <a:rPr lang="ko-KR" altLang="en-US" sz="1300" dirty="0">
                <a:solidFill>
                  <a:srgbClr val="262626"/>
                </a:solidFill>
                <a:latin typeface="Malgun Gothic"/>
                <a:ea typeface="Malgun Gothic"/>
                <a:cs typeface="Malgun Gothic"/>
              </a:rPr>
              <a:t>물방울이 증기와 함께 배관으로 유입</a:t>
            </a:r>
            <a:endParaRPr lang="en-US" altLang="ko-KR" sz="13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300">
                <a:latin typeface="Malgun Gothic"/>
              </a:defRPr>
            </a:pPr>
            <a:r>
              <a:rPr lang="ko-KR" altLang="ko-KR" sz="1300" dirty="0">
                <a:solidFill>
                  <a:srgbClr val="262626"/>
                </a:solidFill>
                <a:latin typeface="Malgun Gothic"/>
                <a:ea typeface="Malgun Gothic"/>
                <a:cs typeface="Malgun Gothic"/>
              </a:rPr>
              <a:t>-</a:t>
            </a:r>
            <a:r>
              <a:rPr lang="ko-KR" sz="1300" b="0" dirty="0">
                <a:solidFill>
                  <a:srgbClr val="262626"/>
                </a:solidFill>
                <a:latin typeface="Malgun Gothic"/>
                <a:ea typeface="Malgun Gothic"/>
                <a:cs typeface="Malgun Gothic"/>
              </a:rPr>
              <a:t> </a:t>
            </a:r>
            <a:r>
              <a:rPr lang="ko-KR" altLang="ko-KR" sz="1300" b="0" dirty="0">
                <a:solidFill>
                  <a:srgbClr val="262626"/>
                </a:solidFill>
                <a:latin typeface="Malgun Gothic"/>
                <a:ea typeface="Malgun Gothic"/>
                <a:cs typeface="Malgun Gothic"/>
              </a:rPr>
              <a:t>Priming: </a:t>
            </a:r>
            <a:r>
              <a:rPr lang="ko-KR" altLang="en-US" sz="1300" b="0" dirty="0">
                <a:solidFill>
                  <a:srgbClr val="262626"/>
                </a:solidFill>
                <a:latin typeface="Malgun Gothic"/>
                <a:ea typeface="Malgun Gothic"/>
                <a:cs typeface="Malgun Gothic"/>
              </a:rPr>
              <a:t>격렬한 비등으로 물이 증기와 함께 튀어 나감</a:t>
            </a:r>
            <a:endParaRPr lang="ko-KR" sz="13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300">
                <a:latin typeface="Malgun Gothic"/>
              </a:defRPr>
            </a:pPr>
            <a:r>
              <a:rPr lang="ko-KR" altLang="ko-KR" sz="1300" b="0" dirty="0">
                <a:solidFill>
                  <a:srgbClr val="262626"/>
                </a:solidFill>
                <a:latin typeface="Malgun Gothic"/>
                <a:ea typeface="Malgun Gothic"/>
                <a:cs typeface="Malgun Gothic"/>
              </a:rPr>
              <a:t>- </a:t>
            </a:r>
            <a:r>
              <a:rPr lang="ko-KR" altLang="en-US" sz="1300" dirty="0">
                <a:solidFill>
                  <a:srgbClr val="262626"/>
                </a:solidFill>
                <a:latin typeface="Malgun Gothic"/>
                <a:ea typeface="Malgun Gothic"/>
                <a:cs typeface="Malgun Gothic"/>
              </a:rPr>
              <a:t>배관 방열 손실</a:t>
            </a:r>
            <a:r>
              <a:rPr lang="ko-KR" altLang="ko-KR" sz="1300" dirty="0">
                <a:solidFill>
                  <a:srgbClr val="262626"/>
                </a:solidFill>
                <a:latin typeface="Malgun Gothic"/>
                <a:ea typeface="Malgun Gothic"/>
                <a:cs typeface="Malgun Gothic"/>
              </a:rPr>
              <a:t>: </a:t>
            </a:r>
            <a:r>
              <a:rPr lang="ko-KR" altLang="en-US" sz="1300" dirty="0">
                <a:solidFill>
                  <a:srgbClr val="262626"/>
                </a:solidFill>
                <a:latin typeface="Malgun Gothic"/>
                <a:ea typeface="Malgun Gothic"/>
                <a:cs typeface="Malgun Gothic"/>
              </a:rPr>
              <a:t>포화증기가 배관을 따라 이동하며 열손실로 일부 </a:t>
            </a:r>
            <a:r>
              <a:rPr lang="ko-KR" altLang="en-US" sz="1300" dirty="0" err="1">
                <a:solidFill>
                  <a:srgbClr val="262626"/>
                </a:solidFill>
                <a:latin typeface="Malgun Gothic"/>
                <a:ea typeface="Malgun Gothic"/>
                <a:cs typeface="Malgun Gothic"/>
              </a:rPr>
              <a:t>재응축</a:t>
            </a:r>
            <a:endParaRPr lang="ko-KR" sz="1350" b="0" dirty="0">
              <a:solidFill>
                <a:srgbClr val="262626"/>
              </a:solidFill>
              <a:latin typeface="Malgun Gothic"/>
              <a:ea typeface="Malgun Gothic"/>
              <a:cs typeface="Malgun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고전압 설계에서 전극 간 거리가 큰 이유</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34</a:t>
            </a:r>
          </a:p>
        </p:txBody>
      </p:sp>
      <p:sp>
        <p:nvSpPr>
          <p:cNvPr id="25"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35_1.jpeg"/>
          <p:cNvPicPr>
            <a:picLocks noChangeAspect="1"/>
          </p:cNvPicPr>
          <p:nvPr/>
        </p:nvPicPr>
        <p:blipFill>
          <a:blip r:embed="rId4"/>
          <a:stretch>
            <a:fillRect/>
          </a:stretch>
        </p:blipFill>
        <p:spPr>
          <a:xfrm>
            <a:off x="381000" y="1146838"/>
            <a:ext cx="4102100" cy="2151323"/>
          </a:xfrm>
          <a:prstGeom prst="rect">
            <a:avLst/>
          </a:prstGeom>
          <a:effectLst/>
        </p:spPr>
      </p:pic>
      <p:sp>
        <p:nvSpPr>
          <p:cNvPr id="12" name="Rectangle 11"/>
          <p:cNvSpPr/>
          <p:nvPr/>
        </p:nvSpPr>
        <p:spPr>
          <a:xfrm>
            <a:off x="4660900" y="1066800"/>
            <a:ext cx="4102100" cy="673100"/>
          </a:xfrm>
          <a:prstGeom prst="rect">
            <a:avLst/>
          </a:prstGeom>
          <a:solidFill>
            <a:srgbClr val="E8EDF2"/>
          </a:solidFill>
          <a:ln>
            <a:solidFill>
              <a:schemeClr val="accent1">
                <a:lumMod val="60000"/>
                <a:lumOff val="40000"/>
              </a:schemeClr>
            </a:solidFill>
          </a:ln>
          <a:effectLst/>
        </p:spPr>
        <p:txBody>
          <a:bodyPr rtlCol="0" anchor="ctr"/>
          <a:lstStyle/>
          <a:p>
            <a:pPr algn="ctr"/>
            <a:endParaRPr/>
          </a:p>
        </p:txBody>
      </p:sp>
      <p:sp>
        <p:nvSpPr>
          <p:cNvPr id="13" name="TextBox 12"/>
          <p:cNvSpPr txBox="1"/>
          <p:nvPr/>
        </p:nvSpPr>
        <p:spPr>
          <a:xfrm>
            <a:off x="4813300" y="1219200"/>
            <a:ext cx="3797300" cy="3683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1" dirty="0" err="1">
                <a:solidFill>
                  <a:srgbClr val="1F497D"/>
                </a:solidFill>
                <a:latin typeface="Malgun Gothic"/>
                <a:ea typeface="Malgun Gothic"/>
                <a:cs typeface="Malgun Gothic"/>
              </a:rPr>
              <a:t>R</a:t>
            </a:r>
            <a:r>
              <a:rPr lang="ko-KR" sz="1400" b="1" dirty="0">
                <a:solidFill>
                  <a:srgbClr val="1F497D"/>
                </a:solidFill>
                <a:latin typeface="Malgun Gothic"/>
                <a:ea typeface="Malgun Gothic"/>
                <a:cs typeface="Malgun Gothic"/>
              </a:rPr>
              <a:t> = </a:t>
            </a:r>
            <a:r>
              <a:rPr lang="ko-KR" sz="1400" b="1" i="1" dirty="0" err="1">
                <a:solidFill>
                  <a:srgbClr val="1F497D"/>
                </a:solidFill>
                <a:latin typeface="Malgun Gothic"/>
                <a:ea typeface="Malgun Gothic"/>
                <a:cs typeface="Malgun Gothic"/>
              </a:rPr>
              <a:t>ρ</a:t>
            </a:r>
            <a:r>
              <a:rPr lang="ko-KR" sz="1400" b="1" dirty="0">
                <a:solidFill>
                  <a:srgbClr val="1F497D"/>
                </a:solidFill>
                <a:latin typeface="Malgun Gothic"/>
                <a:ea typeface="Malgun Gothic"/>
                <a:cs typeface="Malgun Gothic"/>
              </a:rPr>
              <a:t> × (</a:t>
            </a:r>
            <a:r>
              <a:rPr lang="ko-KR" sz="1400" b="1" dirty="0" err="1">
                <a:solidFill>
                  <a:srgbClr val="1F497D"/>
                </a:solidFill>
                <a:latin typeface="Malgun Gothic"/>
                <a:ea typeface="Malgun Gothic"/>
                <a:cs typeface="Malgun Gothic"/>
              </a:rPr>
              <a:t>L</a:t>
            </a:r>
            <a:r>
              <a:rPr lang="ko-KR" sz="1400" b="1" dirty="0">
                <a:solidFill>
                  <a:srgbClr val="1F497D"/>
                </a:solidFill>
                <a:latin typeface="Malgun Gothic"/>
                <a:ea typeface="Malgun Gothic"/>
                <a:cs typeface="Malgun Gothic"/>
              </a:rPr>
              <a:t> / </a:t>
            </a:r>
            <a:r>
              <a:rPr lang="ko-KR" sz="1400" b="1" dirty="0" err="1">
                <a:solidFill>
                  <a:srgbClr val="1F497D"/>
                </a:solidFill>
                <a:latin typeface="Malgun Gothic"/>
                <a:ea typeface="Malgun Gothic"/>
                <a:cs typeface="Malgun Gothic"/>
              </a:rPr>
              <a:t>A</a:t>
            </a:r>
            <a:r>
              <a:rPr lang="ko-KR" sz="1400" b="1" dirty="0">
                <a:solidFill>
                  <a:srgbClr val="1F497D"/>
                </a:solidFill>
                <a:latin typeface="Malgun Gothic"/>
                <a:ea typeface="Malgun Gothic"/>
                <a:cs typeface="Malgun Gothic"/>
              </a:rPr>
              <a:t>)</a:t>
            </a:r>
            <a:r>
              <a:rPr lang="ko-KR" altLang="ko-KR" sz="1400" b="1" dirty="0">
                <a:solidFill>
                  <a:srgbClr val="1F497D"/>
                </a:solidFill>
                <a:latin typeface="Malgun Gothic"/>
                <a:ea typeface="Malgun Gothic"/>
                <a:cs typeface="Malgun Gothic"/>
              </a:rPr>
              <a:t>,</a:t>
            </a:r>
            <a:r>
              <a:rPr lang="ko-KR" sz="1400" b="1" dirty="0">
                <a:solidFill>
                  <a:srgbClr val="1F497D"/>
                </a:solidFill>
                <a:latin typeface="Malgun Gothic"/>
                <a:ea typeface="Malgun Gothic"/>
                <a:cs typeface="Malgun Gothic"/>
              </a:rPr>
              <a:t> </a:t>
            </a:r>
            <a:r>
              <a:rPr lang="ko-KR" sz="1400" b="1" dirty="0" err="1">
                <a:solidFill>
                  <a:srgbClr val="1F497D"/>
                </a:solidFill>
                <a:latin typeface="Malgun Gothic"/>
                <a:ea typeface="Malgun Gothic"/>
                <a:cs typeface="Malgun Gothic"/>
              </a:rPr>
              <a:t>P</a:t>
            </a:r>
            <a:r>
              <a:rPr lang="ko-KR" sz="1400" b="1" dirty="0">
                <a:solidFill>
                  <a:srgbClr val="1F497D"/>
                </a:solidFill>
                <a:latin typeface="Malgun Gothic"/>
                <a:ea typeface="Malgun Gothic"/>
                <a:cs typeface="Malgun Gothic"/>
              </a:rPr>
              <a:t> = V² / </a:t>
            </a:r>
            <a:r>
              <a:rPr lang="ko-KR" sz="1400" b="1" dirty="0" err="1">
                <a:solidFill>
                  <a:srgbClr val="1F497D"/>
                </a:solidFill>
                <a:latin typeface="Malgun Gothic"/>
                <a:ea typeface="Malgun Gothic"/>
                <a:cs typeface="Malgun Gothic"/>
              </a:rPr>
              <a:t>R</a:t>
            </a:r>
            <a:endParaRPr lang="ko-KR" sz="2000" b="1" dirty="0">
              <a:solidFill>
                <a:srgbClr val="1F497D"/>
              </a:solidFill>
              <a:latin typeface="Malgun Gothic"/>
              <a:ea typeface="Malgun Gothic"/>
              <a:cs typeface="Malgun Gothic"/>
            </a:endParaRPr>
          </a:p>
        </p:txBody>
      </p:sp>
      <p:sp>
        <p:nvSpPr>
          <p:cNvPr id="14" name="TextBox 13"/>
          <p:cNvSpPr txBox="1"/>
          <p:nvPr/>
        </p:nvSpPr>
        <p:spPr>
          <a:xfrm>
            <a:off x="4660900" y="1968500"/>
            <a:ext cx="4102100" cy="12700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6~15 </a:t>
            </a:r>
            <a:r>
              <a:rPr lang="ko-KR" sz="1400" b="0" dirty="0" err="1">
                <a:solidFill>
                  <a:srgbClr val="262626"/>
                </a:solidFill>
                <a:latin typeface="Malgun Gothic"/>
                <a:ea typeface="Malgun Gothic"/>
                <a:cs typeface="Malgun Gothic"/>
              </a:rPr>
              <a:t>kV의</a:t>
            </a:r>
            <a:r>
              <a:rPr lang="ko-KR" sz="1400" b="0" dirty="0">
                <a:solidFill>
                  <a:srgbClr val="262626"/>
                </a:solidFill>
                <a:latin typeface="Malgun Gothic"/>
                <a:ea typeface="Malgun Gothic"/>
                <a:cs typeface="Malgun Gothic"/>
              </a:rPr>
              <a:t> 높은 전압에서 거리가 너무 짧으면</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저항 </a:t>
            </a:r>
            <a:r>
              <a:rPr lang="ko-KR" sz="1400" b="0" dirty="0" err="1">
                <a:solidFill>
                  <a:srgbClr val="262626"/>
                </a:solidFill>
                <a:latin typeface="Malgun Gothic"/>
                <a:ea typeface="Malgun Gothic"/>
                <a:cs typeface="Malgun Gothic"/>
              </a:rPr>
              <a:t>R이</a:t>
            </a:r>
            <a:r>
              <a:rPr lang="ko-KR" sz="1400" b="0" dirty="0">
                <a:solidFill>
                  <a:srgbClr val="262626"/>
                </a:solidFill>
                <a:latin typeface="Malgun Gothic"/>
                <a:ea typeface="Malgun Gothic"/>
                <a:cs typeface="Malgun Gothic"/>
              </a:rPr>
              <a:t> 작아져</a:t>
            </a:r>
            <a:endParaRPr lang="en-US" altLang="ko-KR" sz="140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P</a:t>
            </a:r>
            <a:r>
              <a:rPr lang="ko-KR" sz="1400" b="0" dirty="0">
                <a:solidFill>
                  <a:srgbClr val="262626"/>
                </a:solidFill>
                <a:latin typeface="Malgun Gothic"/>
                <a:ea typeface="Malgun Gothic"/>
                <a:cs typeface="Malgun Gothic"/>
              </a:rPr>
              <a:t> = V²/</a:t>
            </a:r>
            <a:r>
              <a:rPr lang="ko-KR" sz="1400" b="0" dirty="0" err="1">
                <a:solidFill>
                  <a:srgbClr val="262626"/>
                </a:solidFill>
                <a:latin typeface="Malgun Gothic"/>
                <a:ea typeface="Malgun Gothic"/>
                <a:cs typeface="Malgun Gothic"/>
              </a:rPr>
              <a:t>R에</a:t>
            </a:r>
            <a:r>
              <a:rPr lang="ko-KR" sz="1400" b="0" dirty="0">
                <a:solidFill>
                  <a:srgbClr val="262626"/>
                </a:solidFill>
                <a:latin typeface="Malgun Gothic"/>
                <a:ea typeface="Malgun Gothic"/>
                <a:cs typeface="Malgun Gothic"/>
              </a:rPr>
              <a:t> 따라 </a:t>
            </a:r>
            <a:r>
              <a:rPr lang="ko-KR" sz="1400" b="0" dirty="0" err="1">
                <a:solidFill>
                  <a:srgbClr val="262626"/>
                </a:solidFill>
                <a:latin typeface="Malgun Gothic"/>
                <a:ea typeface="Malgun Gothic"/>
                <a:cs typeface="Malgun Gothic"/>
              </a:rPr>
              <a:t>전류·전력이</a:t>
            </a:r>
            <a:r>
              <a:rPr lang="ko-KR" altLang="ko-KR" sz="140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커짐</a:t>
            </a:r>
            <a:endParaRPr lang="ko-KR" sz="1400" b="0" dirty="0">
              <a:solidFill>
                <a:srgbClr val="262626"/>
              </a:solidFill>
              <a:latin typeface="Malgun Gothic"/>
              <a:ea typeface="Malgun Gothic"/>
              <a:cs typeface="Malgun Gothic"/>
            </a:endParaRPr>
          </a:p>
        </p:txBody>
      </p:sp>
      <p:graphicFrame>
        <p:nvGraphicFramePr>
          <p:cNvPr id="15" name="Table 14"/>
          <p:cNvGraphicFramePr>
            <a:graphicFrameLocks noGrp="1"/>
          </p:cNvGraphicFramePr>
          <p:nvPr>
            <p:extLst>
              <p:ext uri="{D42A27DB-BD31-4B8C-83A1-F6EECF244321}">
                <p14:modId xmlns:p14="http://schemas.microsoft.com/office/powerpoint/2010/main" val="1370412044"/>
              </p:ext>
            </p:extLst>
          </p:nvPr>
        </p:nvGraphicFramePr>
        <p:xfrm>
          <a:off x="381000" y="3594100"/>
          <a:ext cx="8382000" cy="1422400"/>
        </p:xfrm>
        <a:graphic>
          <a:graphicData uri="http://schemas.openxmlformats.org/drawingml/2006/table">
            <a:tbl>
              <a:tblPr>
                <a:tableStyleId>{5C22544A-7EE6-4342-B048-85BDC9FD1C3A}</a:tableStyleId>
              </a:tblPr>
              <a:tblGrid>
                <a:gridCol w="18923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3365500">
                  <a:extLst>
                    <a:ext uri="{9D8B030D-6E8A-4147-A177-3AD203B41FA5}">
                      <a16:colId xmlns:a16="http://schemas.microsoft.com/office/drawing/2014/main" val="20003"/>
                    </a:ext>
                  </a:extLst>
                </a:gridCol>
              </a:tblGrid>
              <a:tr h="35560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구분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전압</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전극 간 거리</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이유</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53340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err="1">
                          <a:solidFill>
                            <a:srgbClr val="1F497D"/>
                          </a:solidFill>
                          <a:latin typeface="Malgun Gothic"/>
                          <a:ea typeface="Malgun Gothic"/>
                          <a:cs typeface="Malgun Gothic"/>
                        </a:rPr>
                        <a:t>가정용·저전압</a:t>
                      </a:r>
                      <a:endParaRPr lang="en-US" altLang="ko-KR" sz="1200" b="1" dirty="0">
                        <a:solidFill>
                          <a:srgbClr val="1F497D"/>
                        </a:solidFill>
                        <a:latin typeface="Malgun Gothic"/>
                        <a:ea typeface="Malgun Gothic"/>
                        <a:cs typeface="Malgun Gothic"/>
                      </a:endParaRPr>
                    </a:p>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전극보일러</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200">
                          <a:latin typeface="Malgun Gothic"/>
                        </a:defRPr>
                      </a:pPr>
                      <a:r>
                        <a:rPr lang="ko-KR" sz="1200" b="0">
                          <a:solidFill>
                            <a:srgbClr val="262626"/>
                          </a:solidFill>
                          <a:latin typeface="Malgun Gothic"/>
                          <a:ea typeface="Malgun Gothic"/>
                          <a:cs typeface="Malgun Gothic"/>
                        </a:rPr>
                        <a:t>220~690 V</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algn="l" eaLnBrk="0" latinLnBrk="0">
                        <a:lnSpc>
                          <a:spcPct val="115000"/>
                        </a:lnSpc>
                        <a:spcBef>
                          <a:spcPts val="0"/>
                        </a:spcBef>
                        <a:spcAft>
                          <a:spcPts val="0"/>
                        </a:spcAft>
                        <a:defRPr sz="1200">
                          <a:latin typeface="Malgun Gothic"/>
                        </a:defRPr>
                      </a:pPr>
                      <a:r>
                        <a:rPr lang="ko-KR" sz="1200" b="0">
                          <a:solidFill>
                            <a:srgbClr val="262626"/>
                          </a:solidFill>
                          <a:latin typeface="Malgun Gothic"/>
                          <a:ea typeface="Malgun Gothic"/>
                          <a:cs typeface="Malgun Gothic"/>
                        </a:rPr>
                        <a:t>매우 가까움 (수 cm)</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algn="l" eaLnBrk="0" latinLnBrk="0">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충분한 전류를 얻기 위해</a:t>
                      </a:r>
                    </a:p>
                    <a:p>
                      <a:pPr algn="l" eaLnBrk="0" latinLnBrk="0">
                        <a:lnSpc>
                          <a:spcPct val="115000"/>
                        </a:lnSpc>
                        <a:spcBef>
                          <a:spcPts val="0"/>
                        </a:spcBef>
                        <a:spcAft>
                          <a:spcPts val="0"/>
                        </a:spcAft>
                        <a:defRPr sz="1200">
                          <a:latin typeface="Malgun Gothic"/>
                        </a:defRPr>
                      </a:pPr>
                      <a:r>
                        <a:rPr lang="ko-KR" sz="1200" b="0" dirty="0" err="1">
                          <a:solidFill>
                            <a:srgbClr val="262626"/>
                          </a:solidFill>
                          <a:latin typeface="Malgun Gothic"/>
                          <a:ea typeface="Malgun Gothic"/>
                          <a:cs typeface="Malgun Gothic"/>
                        </a:rPr>
                        <a:t>거리·저항을</a:t>
                      </a:r>
                      <a:r>
                        <a:rPr lang="ko-KR" sz="1200" b="0" dirty="0">
                          <a:solidFill>
                            <a:srgbClr val="262626"/>
                          </a:solidFill>
                          <a:latin typeface="Malgun Gothic"/>
                          <a:ea typeface="Malgun Gothic"/>
                          <a:cs typeface="Malgun Gothic"/>
                        </a:rPr>
                        <a:t> 작게</a:t>
                      </a:r>
                      <a:r>
                        <a:rPr lang="ko-KR" altLang="ko-KR" sz="1200" b="0" dirty="0">
                          <a:solidFill>
                            <a:srgbClr val="262626"/>
                          </a:solidFill>
                          <a:latin typeface="Malgun Gothic"/>
                          <a:ea typeface="Malgun Gothic"/>
                          <a:cs typeface="Malgun Gothic"/>
                        </a:rPr>
                        <a:t> </a:t>
                      </a:r>
                      <a:r>
                        <a:rPr lang="ko-KR" altLang="en-US" sz="1200" b="0" dirty="0">
                          <a:solidFill>
                            <a:srgbClr val="262626"/>
                          </a:solidFill>
                          <a:latin typeface="Malgun Gothic"/>
                          <a:ea typeface="Malgun Gothic"/>
                          <a:cs typeface="Malgun Gothic"/>
                        </a:rPr>
                        <a:t>해야 함</a:t>
                      </a:r>
                      <a:endParaRPr lang="ko-KR" sz="12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340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Elpanneteknik</a:t>
                      </a:r>
                    </a:p>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고전압 보일러</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6~1</a:t>
                      </a:r>
                      <a:r>
                        <a:rPr lang="ko-KR" altLang="ko-KR" sz="1200" b="0" dirty="0">
                          <a:solidFill>
                            <a:srgbClr val="262626"/>
                          </a:solidFill>
                          <a:latin typeface="Malgun Gothic"/>
                          <a:ea typeface="Malgun Gothic"/>
                          <a:cs typeface="Malgun Gothic"/>
                        </a:rPr>
                        <a:t>5 k</a:t>
                      </a:r>
                      <a:r>
                        <a:rPr lang="ko-KR" sz="1200" b="0" dirty="0" err="1">
                          <a:solidFill>
                            <a:srgbClr val="262626"/>
                          </a:solidFill>
                          <a:latin typeface="Malgun Gothic"/>
                          <a:ea typeface="Malgun Gothic"/>
                          <a:cs typeface="Malgun Gothic"/>
                        </a:rPr>
                        <a:t>V</a:t>
                      </a:r>
                      <a:endParaRPr lang="ko-KR" sz="12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algn="l" eaLnBrk="0" latinLnBrk="0">
                        <a:lnSpc>
                          <a:spcPct val="115000"/>
                        </a:lnSpc>
                        <a:spcBef>
                          <a:spcPts val="0"/>
                        </a:spcBef>
                        <a:spcAft>
                          <a:spcPts val="0"/>
                        </a:spcAft>
                        <a:defRPr sz="1200">
                          <a:latin typeface="Malgun Gothic"/>
                        </a:defRPr>
                      </a:pPr>
                      <a:r>
                        <a:rPr lang="ko-KR" sz="1200" b="0">
                          <a:solidFill>
                            <a:srgbClr val="262626"/>
                          </a:solidFill>
                          <a:latin typeface="Malgun Gothic"/>
                          <a:ea typeface="Malgun Gothic"/>
                          <a:cs typeface="Malgun Gothic"/>
                        </a:rPr>
                        <a:t>상대적으로 멂</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algn="l" eaLnBrk="0" latinLnBrk="0">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저항을 키워 전류를</a:t>
                      </a:r>
                    </a:p>
                    <a:p>
                      <a:pPr algn="l" eaLnBrk="0" latinLnBrk="0">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적정 </a:t>
                      </a:r>
                      <a:r>
                        <a:rPr lang="ko-KR" altLang="en-US" sz="1200" b="0" dirty="0">
                          <a:solidFill>
                            <a:srgbClr val="262626"/>
                          </a:solidFill>
                          <a:latin typeface="Malgun Gothic"/>
                          <a:ea typeface="Malgun Gothic"/>
                          <a:cs typeface="Malgun Gothic"/>
                        </a:rPr>
                        <a:t>수준</a:t>
                      </a:r>
                      <a:r>
                        <a:rPr lang="ko-KR" sz="1200" b="0" dirty="0">
                          <a:solidFill>
                            <a:srgbClr val="262626"/>
                          </a:solidFill>
                          <a:latin typeface="Malgun Gothic"/>
                          <a:ea typeface="Malgun Gothic"/>
                          <a:cs typeface="Malgun Gothic"/>
                        </a:rPr>
                        <a:t>으로 맞춤</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6" name="TextBox 15"/>
          <p:cNvSpPr txBox="1"/>
          <p:nvPr/>
        </p:nvSpPr>
        <p:spPr>
          <a:xfrm>
            <a:off x="381000" y="51943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거리가 너무 가까울 때</a:t>
            </a:r>
          </a:p>
        </p:txBody>
      </p:sp>
      <p:sp>
        <p:nvSpPr>
          <p:cNvPr id="17" name="Rectangle 16"/>
          <p:cNvSpPr/>
          <p:nvPr/>
        </p:nvSpPr>
        <p:spPr>
          <a:xfrm>
            <a:off x="381000" y="5702300"/>
            <a:ext cx="38100" cy="381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571500" y="5638800"/>
            <a:ext cx="3911600" cy="241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과전류 발생</a:t>
            </a:r>
          </a:p>
        </p:txBody>
      </p:sp>
      <p:sp>
        <p:nvSpPr>
          <p:cNvPr id="19" name="Rectangle 18"/>
          <p:cNvSpPr/>
          <p:nvPr/>
        </p:nvSpPr>
        <p:spPr>
          <a:xfrm>
            <a:off x="381000" y="5969000"/>
            <a:ext cx="38100" cy="38100"/>
          </a:xfrm>
          <a:prstGeom prst="rect">
            <a:avLst/>
          </a:prstGeom>
          <a:solidFill>
            <a:srgbClr val="65758A"/>
          </a:solidFill>
          <a:ln>
            <a:noFill/>
          </a:ln>
          <a:effectLst/>
        </p:spPr>
        <p:txBody>
          <a:bodyPr rtlCol="0" anchor="ctr"/>
          <a:lstStyle/>
          <a:p>
            <a:pPr algn="ctr"/>
            <a:endParaRPr/>
          </a:p>
        </p:txBody>
      </p:sp>
      <p:sp>
        <p:nvSpPr>
          <p:cNvPr id="20" name="TextBox 19"/>
          <p:cNvSpPr txBox="1"/>
          <p:nvPr/>
        </p:nvSpPr>
        <p:spPr>
          <a:xfrm>
            <a:off x="571500" y="5905500"/>
            <a:ext cx="3911600" cy="241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국부 전류밀도</a:t>
            </a:r>
            <a:r>
              <a:rPr lang="ko-KR" altLang="en-US" sz="1250" b="0" dirty="0">
                <a:solidFill>
                  <a:srgbClr val="262626"/>
                </a:solidFill>
                <a:latin typeface="Malgun Gothic"/>
                <a:ea typeface="Malgun Gothic"/>
                <a:cs typeface="Malgun Gothic"/>
              </a:rPr>
              <a:t>가 높아져 아크</a:t>
            </a:r>
            <a:r>
              <a:rPr lang="ko-KR" sz="1250" b="0" dirty="0">
                <a:solidFill>
                  <a:srgbClr val="262626"/>
                </a:solidFill>
                <a:latin typeface="Malgun Gothic"/>
                <a:ea typeface="Malgun Gothic"/>
                <a:cs typeface="Malgun Gothic"/>
              </a:rPr>
              <a:t> 위험</a:t>
            </a:r>
          </a:p>
        </p:txBody>
      </p:sp>
      <p:sp>
        <p:nvSpPr>
          <p:cNvPr id="21" name="Rectangle 20"/>
          <p:cNvSpPr/>
          <p:nvPr/>
        </p:nvSpPr>
        <p:spPr>
          <a:xfrm>
            <a:off x="381000" y="6235700"/>
            <a:ext cx="38100" cy="38100"/>
          </a:xfrm>
          <a:prstGeom prst="rect">
            <a:avLst/>
          </a:prstGeom>
          <a:solidFill>
            <a:srgbClr val="65758A"/>
          </a:solidFill>
          <a:ln>
            <a:noFill/>
          </a:ln>
          <a:effectLst/>
        </p:spPr>
        <p:txBody>
          <a:bodyPr rtlCol="0" anchor="ctr"/>
          <a:lstStyle/>
          <a:p>
            <a:pPr algn="ctr"/>
            <a:endParaRPr/>
          </a:p>
        </p:txBody>
      </p:sp>
      <p:sp>
        <p:nvSpPr>
          <p:cNvPr id="22" name="TextBox 21"/>
          <p:cNvSpPr txBox="1"/>
          <p:nvPr/>
        </p:nvSpPr>
        <p:spPr>
          <a:xfrm>
            <a:off x="571500" y="6172200"/>
            <a:ext cx="3911600" cy="241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순간적인 큰 전류로 전극·변압기 손상</a:t>
            </a:r>
          </a:p>
        </p:txBody>
      </p:sp>
      <p:sp>
        <p:nvSpPr>
          <p:cNvPr id="23" name="TextBox 22"/>
          <p:cNvSpPr txBox="1"/>
          <p:nvPr/>
        </p:nvSpPr>
        <p:spPr>
          <a:xfrm>
            <a:off x="4660900" y="51943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설계 </a:t>
            </a:r>
            <a:r>
              <a:rPr lang="ko-KR" altLang="en-US" sz="1800" b="1" dirty="0">
                <a:solidFill>
                  <a:srgbClr val="1F497D"/>
                </a:solidFill>
                <a:latin typeface="Malgun Gothic"/>
                <a:ea typeface="Malgun Gothic"/>
                <a:cs typeface="Malgun Gothic"/>
              </a:rPr>
              <a:t>시 주의</a:t>
            </a:r>
            <a:endParaRPr lang="ko-KR" sz="1600" b="1" dirty="0">
              <a:solidFill>
                <a:srgbClr val="1F497D"/>
              </a:solidFill>
              <a:latin typeface="Malgun Gothic"/>
              <a:ea typeface="Malgun Gothic"/>
              <a:cs typeface="Malgun Gothic"/>
            </a:endParaRPr>
          </a:p>
        </p:txBody>
      </p:sp>
      <p:sp>
        <p:nvSpPr>
          <p:cNvPr id="24" name="TextBox 23"/>
          <p:cNvSpPr txBox="1"/>
          <p:nvPr/>
        </p:nvSpPr>
        <p:spPr>
          <a:xfrm>
            <a:off x="4660900" y="5702300"/>
            <a:ext cx="4102100" cy="6477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altLang="en-US" sz="1400" b="0" dirty="0">
                <a:solidFill>
                  <a:srgbClr val="262626"/>
                </a:solidFill>
                <a:latin typeface="Malgun Gothic"/>
                <a:ea typeface="Malgun Gothic"/>
                <a:cs typeface="Malgun Gothic"/>
              </a:rPr>
              <a:t>고전압에 맞춰 </a:t>
            </a:r>
            <a:r>
              <a:rPr lang="ko-KR" altLang="en-US" sz="1400" b="0" dirty="0" err="1">
                <a:solidFill>
                  <a:srgbClr val="262626"/>
                </a:solidFill>
                <a:latin typeface="Malgun Gothic"/>
                <a:ea typeface="Malgun Gothic"/>
                <a:cs typeface="Malgun Gothic"/>
              </a:rPr>
              <a:t>저항값을</a:t>
            </a:r>
            <a:r>
              <a:rPr lang="ko-KR" altLang="en-US" sz="1400" b="0" dirty="0">
                <a:solidFill>
                  <a:srgbClr val="262626"/>
                </a:solidFill>
                <a:latin typeface="Malgun Gothic"/>
                <a:ea typeface="Malgun Gothic"/>
                <a:cs typeface="Malgun Gothic"/>
              </a:rPr>
              <a:t> 적절한 수준으로 맞춰야 하므로</a:t>
            </a:r>
            <a:endParaRPr lang="en-US" altLang="ko-KR" sz="1250" dirty="0">
              <a:solidFill>
                <a:srgbClr val="262626"/>
              </a:solidFill>
              <a:latin typeface="Malgun Gothic"/>
              <a:ea typeface="Malgun Gothic"/>
              <a:cs typeface="Malgun Gothic"/>
            </a:endParaRPr>
          </a:p>
          <a:p>
            <a:pPr eaLnBrk="0">
              <a:lnSpc>
                <a:spcPct val="115000"/>
              </a:lnSpc>
              <a:spcBef>
                <a:spcPts val="0"/>
              </a:spcBef>
              <a:spcAft>
                <a:spcPts val="0"/>
              </a:spcAft>
              <a:defRPr sz="1400">
                <a:latin typeface="Malgun Gothic"/>
              </a:defRPr>
            </a:pPr>
            <a:r>
              <a:rPr lang="ko-KR" altLang="en-US" sz="1400" dirty="0" err="1">
                <a:solidFill>
                  <a:srgbClr val="262626"/>
                </a:solidFill>
                <a:latin typeface="Malgun Gothic"/>
                <a:ea typeface="Malgun Gothic"/>
                <a:cs typeface="Malgun Gothic"/>
              </a:rPr>
              <a:t>전압∙거리∙전도도∙접촉</a:t>
            </a:r>
            <a:r>
              <a:rPr lang="ko-KR" altLang="en-US" sz="1400" dirty="0">
                <a:solidFill>
                  <a:srgbClr val="262626"/>
                </a:solidFill>
                <a:latin typeface="Malgun Gothic"/>
                <a:ea typeface="Malgun Gothic"/>
                <a:cs typeface="Malgun Gothic"/>
              </a:rPr>
              <a:t> 면적 </a:t>
            </a:r>
            <a:r>
              <a:rPr lang="ko-KR" altLang="ko-KR" sz="1400" dirty="0">
                <a:solidFill>
                  <a:srgbClr val="262626"/>
                </a:solidFill>
                <a:latin typeface="Malgun Gothic"/>
                <a:ea typeface="Malgun Gothic"/>
                <a:cs typeface="Malgun Gothic"/>
              </a:rPr>
              <a:t>4</a:t>
            </a:r>
            <a:r>
              <a:rPr lang="ko-KR" altLang="en-US" sz="1400" dirty="0">
                <a:solidFill>
                  <a:srgbClr val="262626"/>
                </a:solidFill>
                <a:latin typeface="Malgun Gothic"/>
                <a:ea typeface="Malgun Gothic"/>
                <a:cs typeface="Malgun Gothic"/>
              </a:rPr>
              <a:t>가지 고려</a:t>
            </a:r>
            <a:endParaRPr lang="ko-KR" sz="1250" b="0" dirty="0">
              <a:solidFill>
                <a:srgbClr val="262626"/>
              </a:solidFill>
              <a:latin typeface="Malgun Gothic"/>
              <a:ea typeface="Malgun Gothic"/>
              <a:cs typeface="Malgun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VAPEC · 중전압 분사형 전극보일러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35</a:t>
            </a:r>
          </a:p>
        </p:txBody>
      </p:sp>
      <p:sp>
        <p:nvSpPr>
          <p:cNvPr id="17" name="Image area"/>
          <p:cNvSpPr/>
          <p:nvPr/>
        </p:nvSpPr>
        <p:spPr>
          <a:xfrm>
            <a:off x="381000" y="1066800"/>
            <a:ext cx="2463800" cy="1117600"/>
          </a:xfrm>
          <a:prstGeom prst="rect">
            <a:avLst/>
          </a:prstGeom>
          <a:solidFill>
            <a:srgbClr val="F5F6F8"/>
          </a:solidFill>
          <a:ln>
            <a:noFill/>
          </a:ln>
        </p:spPr>
        <p:txBody>
          <a:bodyPr rtlCol="0" anchor="ctr"/>
          <a:lstStyle/>
          <a:p>
            <a:pPr algn="ctr"/>
          </a:p>
        </p:txBody>
      </p:sp>
      <p:pic>
        <p:nvPicPr>
          <p:cNvPr id="11" name="Picture 10" descr="p37_0.jpeg"/>
          <p:cNvPicPr>
            <a:picLocks noChangeAspect="1"/>
          </p:cNvPicPr>
          <p:nvPr/>
        </p:nvPicPr>
        <p:blipFill>
          <a:blip r:embed="rId4"/>
          <a:stretch>
            <a:fillRect/>
          </a:stretch>
        </p:blipFill>
        <p:spPr>
          <a:xfrm>
            <a:off x="381000" y="1068311"/>
            <a:ext cx="2463800" cy="1114576"/>
          </a:xfrm>
          <a:prstGeom prst="rect">
            <a:avLst/>
          </a:prstGeom>
          <a:effectLst/>
        </p:spPr>
      </p:pic>
      <p:sp>
        <p:nvSpPr>
          <p:cNvPr id="13" name="TextBox 12"/>
          <p:cNvSpPr txBox="1"/>
          <p:nvPr/>
        </p:nvSpPr>
        <p:spPr>
          <a:xfrm>
            <a:off x="3225800" y="1219200"/>
            <a:ext cx="5537200" cy="8890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b="0" dirty="0" sz="1400">
                <a:solidFill>
                  <a:srgbClr val="262626"/>
                </a:solidFill>
                <a:latin typeface="Malgun Gothic"/>
                <a:ea typeface="Malgun Gothic"/>
                <a:cs typeface="Malgun Gothic"/>
              </a:rPr>
              <a:t>CO₂</a:t>
            </a:r>
            <a:r>
              <a:rPr lang="ko-KR" altLang="ko-KR" b="0" dirty="0" sz="1400">
                <a:solidFill>
                  <a:srgbClr val="262626"/>
                </a:solidFill>
                <a:latin typeface="Malgun Gothic"/>
                <a:ea typeface="Malgun Gothic"/>
                <a:cs typeface="Malgun Gothic"/>
              </a:rPr>
              <a:t> </a:t>
            </a:r>
            <a:r>
              <a:rPr lang="ko-KR" altLang="en-US" b="0" dirty="0" err="1" sz="1400">
                <a:solidFill>
                  <a:srgbClr val="262626"/>
                </a:solidFill>
                <a:latin typeface="Malgun Gothic"/>
                <a:ea typeface="Malgun Gothic"/>
                <a:cs typeface="Malgun Gothic"/>
              </a:rPr>
              <a:t>무배출</a:t>
            </a:r>
            <a:r>
              <a:rPr lang="ko-KR" altLang="en-US" b="0" dirty="0" sz="1400">
                <a:solidFill>
                  <a:srgbClr val="262626"/>
                </a:solidFill>
                <a:latin typeface="Malgun Gothic"/>
                <a:ea typeface="Malgun Gothic"/>
                <a:cs typeface="Malgun Gothic"/>
              </a:rPr>
              <a:t> 증기 생산용 </a:t>
            </a:r>
            <a:r>
              <a:rPr lang="ko-KR" altLang="en-US" b="0" dirty="0" err="1" sz="1400">
                <a:solidFill>
                  <a:srgbClr val="262626"/>
                </a:solidFill>
                <a:latin typeface="Malgun Gothic"/>
                <a:ea typeface="Malgun Gothic"/>
                <a:cs typeface="Malgun Gothic"/>
              </a:rPr>
              <a:t>중전압</a:t>
            </a:r>
            <a:r>
              <a:rPr lang="ko-KR" altLang="en-US" b="0" dirty="0" sz="1400">
                <a:solidFill>
                  <a:srgbClr val="262626"/>
                </a:solidFill>
                <a:latin typeface="Malgun Gothic"/>
                <a:ea typeface="Malgun Gothic"/>
                <a:cs typeface="Malgun Gothic"/>
              </a:rPr>
              <a:t> 분사형 </a:t>
            </a:r>
            <a:r>
              <a:rPr lang="ko-KR" altLang="ko-KR" b="0" dirty="0" sz="1400">
                <a:solidFill>
                  <a:srgbClr val="262626"/>
                </a:solidFill>
                <a:latin typeface="Malgun Gothic"/>
                <a:ea typeface="Malgun Gothic"/>
                <a:cs typeface="Malgun Gothic"/>
              </a:rPr>
              <a:t>VAPEC </a:t>
            </a:r>
            <a:r>
              <a:rPr lang="ko-KR" altLang="en-US" b="0" dirty="0" sz="1400">
                <a:solidFill>
                  <a:srgbClr val="262626"/>
                </a:solidFill>
                <a:latin typeface="Malgun Gothic"/>
                <a:ea typeface="Malgun Gothic"/>
                <a:cs typeface="Malgun Gothic"/>
              </a:rPr>
              <a:t>전극보일러</a:t>
            </a:r>
            <a:endParaRPr lang="en-US" altLang="ko-KR"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altLang="en-US" dirty="0" sz="1400">
                <a:solidFill>
                  <a:srgbClr val="262626"/>
                </a:solidFill>
                <a:latin typeface="Malgun Gothic"/>
                <a:ea typeface="Malgun Gothic"/>
                <a:cs typeface="Malgun Gothic"/>
              </a:rPr>
              <a:t>대당 최대 출력 </a:t>
            </a:r>
            <a:r>
              <a:rPr lang="ko-KR" altLang="ko-KR" dirty="0" sz="1400">
                <a:solidFill>
                  <a:srgbClr val="262626"/>
                </a:solidFill>
                <a:latin typeface="Malgun Gothic"/>
                <a:ea typeface="Malgun Gothic"/>
                <a:cs typeface="Malgun Gothic"/>
              </a:rPr>
              <a:t>60MW</a:t>
            </a:r>
            <a:endParaRPr lang="ko-KR" b="0" dirty="0">
              <a:solidFill>
                <a:srgbClr val="262626"/>
              </a:solidFill>
              <a:latin typeface="Malgun Gothic"/>
              <a:ea typeface="Malgun Gothic"/>
              <a:cs typeface="Malgun Gothic"/>
            </a:endParaRPr>
          </a:p>
        </p:txBody>
      </p:sp>
      <p:sp>
        <p:nvSpPr>
          <p:cNvPr id="18" name="Image area"/>
          <p:cNvSpPr/>
          <p:nvPr/>
        </p:nvSpPr>
        <p:spPr>
          <a:xfrm>
            <a:off x="381000" y="2565400"/>
            <a:ext cx="4102100" cy="3556000"/>
          </a:xfrm>
          <a:prstGeom prst="rect">
            <a:avLst/>
          </a:prstGeom>
          <a:solidFill>
            <a:srgbClr val="F5F6F8"/>
          </a:solidFill>
          <a:ln>
            <a:noFill/>
          </a:ln>
        </p:spPr>
        <p:txBody>
          <a:bodyPr rtlCol="0" anchor="ctr"/>
          <a:lstStyle/>
          <a:p>
            <a:pPr algn="ctr"/>
          </a:p>
        </p:txBody>
      </p:sp>
      <p:pic>
        <p:nvPicPr>
          <p:cNvPr id="14" name="Picture 13" descr="p37_1.jpeg"/>
          <p:cNvPicPr>
            <a:picLocks noChangeAspect="1"/>
          </p:cNvPicPr>
          <p:nvPr/>
        </p:nvPicPr>
        <p:blipFill>
          <a:blip r:embed="rId5"/>
          <a:stretch>
            <a:fillRect/>
          </a:stretch>
        </p:blipFill>
        <p:spPr>
          <a:xfrm>
            <a:off x="1331074" y="2565400"/>
            <a:ext cx="2201950" cy="3556000"/>
          </a:xfrm>
          <a:prstGeom prst="rect">
            <a:avLst/>
          </a:prstGeom>
          <a:effectLst/>
        </p:spPr>
      </p:pic>
      <p:sp>
        <p:nvSpPr>
          <p:cNvPr id="19" name="Image area"/>
          <p:cNvSpPr/>
          <p:nvPr/>
        </p:nvSpPr>
        <p:spPr>
          <a:xfrm>
            <a:off x="4660900" y="2565400"/>
            <a:ext cx="4102100" cy="3556000"/>
          </a:xfrm>
          <a:prstGeom prst="rect">
            <a:avLst/>
          </a:prstGeom>
          <a:solidFill>
            <a:srgbClr val="F5F6F8"/>
          </a:solidFill>
          <a:ln>
            <a:noFill/>
          </a:ln>
        </p:spPr>
        <p:txBody>
          <a:bodyPr rtlCol="0" anchor="ctr"/>
          <a:lstStyle/>
          <a:p>
            <a:pPr algn="ctr"/>
          </a:p>
        </p:txBody>
      </p:sp>
      <p:pic>
        <p:nvPicPr>
          <p:cNvPr id="15" name="Picture 14" descr="p37_2.jpeg"/>
          <p:cNvPicPr>
            <a:picLocks noChangeAspect="1"/>
          </p:cNvPicPr>
          <p:nvPr/>
        </p:nvPicPr>
        <p:blipFill>
          <a:blip r:embed="rId6"/>
          <a:stretch>
            <a:fillRect/>
          </a:stretch>
        </p:blipFill>
        <p:spPr>
          <a:xfrm>
            <a:off x="5228294" y="2565400"/>
            <a:ext cx="2967310" cy="3556000"/>
          </a:xfrm>
          <a:prstGeom prst="rect">
            <a:avLst/>
          </a:prstGeom>
          <a:effectLst/>
        </p:spPr>
      </p:pic>
      <p:sp>
        <p:nvSpPr>
          <p:cNvPr id="16" name="TextBox 15"/>
          <p:cNvSpPr txBox="1"/>
          <p:nvPr/>
        </p:nvSpPr>
        <p:spPr>
          <a:xfrm>
            <a:off x="1270000" y="6565900"/>
            <a:ext cx="6731000" cy="203200"/>
          </a:xfrm>
          <a:prstGeom prst="rect">
            <a:avLst/>
          </a:prstGeom>
          <a:noFill/>
        </p:spPr>
        <p:txBody>
          <a:bodyPr wrap="square" lIns="0" tIns="0" rIns="0" bIns="0" anchor="t">
            <a:noAutofit/>
          </a:bodyPr>
          <a:lstStyle/>
          <a:p>
            <a:pPr algn="l" eaLnBrk="0" latinLnBrk="0">
              <a:lnSpc>
                <a:spcPct val="115000"/>
              </a:lnSpc>
              <a:spcBef>
                <a:spcPts val="0"/>
              </a:spcBef>
              <a:spcAft>
                <a:spcPts val="0"/>
              </a:spcAft>
              <a:defRPr sz="1000">
                <a:latin typeface="Malgun Gothic"/>
              </a:defRPr>
            </a:pPr>
            <a:r>
              <a:rPr lang="ko-KR" sz="1000" b="0" i="1" u="none">
                <a:solidFill>
                  <a:srgbClr val="707B87"/>
                </a:solidFill>
                <a:latin typeface="Malgun Gothic"/>
                <a:ea typeface="Malgun Gothic"/>
                <a:cs typeface="Malgun Gothic"/>
                <a:hlinkClick r:id="rId7"/>
              </a:rPr>
              <a:t>출처: https://www.youtube.com/watch?v=ZrSNmCcJCUI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07B87"/>
      </a:hlink>
      <a:folHlink>
        <a:srgbClr val="707B87"/>
      </a:folHlink>
    </a:clrScheme>
    <a:fontScheme name="Office">
      <a:majorFont>
        <a:latin typeface="Malgun Gothic"/>
        <a:ea typeface="Malgun Gothic"/>
        <a:cs typeface="Malgun Gothic"/>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algun Gothic"/>
        <a:ea typeface="Malgun Gothic"/>
        <a:cs typeface="Malgun Gothic"/>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707B87"/>
      </a:hlink>
      <a:folHlink>
        <a:srgbClr val="707B87"/>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1881</TotalTime>
  <Words>7304</Words>
  <Application>Microsoft Office PowerPoint</Application>
  <PresentationFormat>화면 슬라이드 쇼(4:3)</PresentationFormat>
  <Paragraphs>1342</Paragraphs>
  <Slides>35</Slides>
  <Notes>35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Arial</vt:lpstr>
      <vt:lpstr>맑은 고딕</vt:lpstr>
      <vt:lpstr>맑은 고딕</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KITECH Boiler — aligned layout and black table borders</dc:title>
  <dc:subject>35-slide recovered deck: consistent layout; 18 pt subheadings and 10–14 pt body from slide 18; black table borders</dc:subject>
  <dc:creator>생기원</dc:creator>
  <cp:keywords>KITECH, 전극보일러, 디자인 수정, 4:3, 맑은 고딕</cp:keywords>
  <dc:description>generated using python-pptx</dc:description>
  <cp:lastModifiedBy>전다영</cp:lastModifiedBy>
  <cp:revision>71</cp:revision>
  <dcterms:created xsi:type="dcterms:W3CDTF">2013-01-27T09:14:16Z</dcterms:created>
  <dcterms:modified xsi:type="dcterms:W3CDTF">2026-10-22T06:44:13Z</dcterms:modified>
  <cp:category/>
</cp:coreProperties>
</file>